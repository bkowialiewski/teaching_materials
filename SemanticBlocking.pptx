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5"/>
  </p:notesMasterIdLst>
  <p:sldIdLst>
    <p:sldId id="256" r:id="rId2"/>
    <p:sldId id="257" r:id="rId3"/>
    <p:sldId id="287" r:id="rId4"/>
    <p:sldId id="327" r:id="rId5"/>
    <p:sldId id="269" r:id="rId6"/>
    <p:sldId id="288" r:id="rId7"/>
    <p:sldId id="289" r:id="rId8"/>
    <p:sldId id="316" r:id="rId9"/>
    <p:sldId id="317" r:id="rId10"/>
    <p:sldId id="290" r:id="rId11"/>
    <p:sldId id="291" r:id="rId12"/>
    <p:sldId id="292" r:id="rId13"/>
    <p:sldId id="293" r:id="rId14"/>
    <p:sldId id="294" r:id="rId15"/>
    <p:sldId id="299" r:id="rId16"/>
    <p:sldId id="295" r:id="rId17"/>
    <p:sldId id="296" r:id="rId18"/>
    <p:sldId id="297" r:id="rId19"/>
    <p:sldId id="298" r:id="rId20"/>
    <p:sldId id="300" r:id="rId21"/>
    <p:sldId id="301" r:id="rId22"/>
    <p:sldId id="302" r:id="rId23"/>
    <p:sldId id="303" r:id="rId24"/>
    <p:sldId id="304" r:id="rId25"/>
    <p:sldId id="328" r:id="rId26"/>
    <p:sldId id="305" r:id="rId27"/>
    <p:sldId id="307" r:id="rId28"/>
    <p:sldId id="306" r:id="rId29"/>
    <p:sldId id="309" r:id="rId30"/>
    <p:sldId id="310" r:id="rId31"/>
    <p:sldId id="313" r:id="rId32"/>
    <p:sldId id="314" r:id="rId33"/>
    <p:sldId id="315" r:id="rId34"/>
    <p:sldId id="318" r:id="rId35"/>
    <p:sldId id="319" r:id="rId36"/>
    <p:sldId id="320" r:id="rId37"/>
    <p:sldId id="321" r:id="rId38"/>
    <p:sldId id="322" r:id="rId39"/>
    <p:sldId id="323" r:id="rId40"/>
    <p:sldId id="324" r:id="rId41"/>
    <p:sldId id="325" r:id="rId42"/>
    <p:sldId id="326" r:id="rId43"/>
    <p:sldId id="286" r:id="rId44"/>
  </p:sldIdLst>
  <p:sldSz cx="12192000" cy="6858000"/>
  <p:notesSz cx="6400800" cy="8686800"/>
  <p:defaultTextStyle>
    <a:defPPr>
      <a:defRPr lang="de-CH"/>
    </a:defPPr>
    <a:lvl1pPr algn="l" rtl="0" fontAlgn="base">
      <a:spcBef>
        <a:spcPct val="0"/>
      </a:spcBef>
      <a:spcAft>
        <a:spcPct val="0"/>
      </a:spcAft>
      <a:defRPr sz="1700" kern="1200">
        <a:solidFill>
          <a:schemeClr val="tx1"/>
        </a:solidFill>
        <a:latin typeface="Arial" charset="0"/>
        <a:ea typeface="ＭＳ Ｐゴシック" charset="0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sz="1700" kern="1200">
        <a:solidFill>
          <a:schemeClr val="tx1"/>
        </a:solidFill>
        <a:latin typeface="Arial" charset="0"/>
        <a:ea typeface="ＭＳ Ｐゴシック" charset="0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sz="1700" kern="1200">
        <a:solidFill>
          <a:schemeClr val="tx1"/>
        </a:solidFill>
        <a:latin typeface="Arial" charset="0"/>
        <a:ea typeface="ＭＳ Ｐゴシック" charset="0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sz="1700" kern="1200">
        <a:solidFill>
          <a:schemeClr val="tx1"/>
        </a:solidFill>
        <a:latin typeface="Arial" charset="0"/>
        <a:ea typeface="ＭＳ Ｐゴシック" charset="0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sz="1700" kern="1200">
        <a:solidFill>
          <a:schemeClr val="tx1"/>
        </a:solidFill>
        <a:latin typeface="Arial" charset="0"/>
        <a:ea typeface="ＭＳ Ｐゴシック" charset="0"/>
        <a:cs typeface="Arial" charset="0"/>
      </a:defRPr>
    </a:lvl5pPr>
    <a:lvl6pPr marL="2286000" algn="l" defTabSz="457200" rtl="0" eaLnBrk="1" latinLnBrk="0" hangingPunct="1">
      <a:defRPr sz="1700" kern="1200">
        <a:solidFill>
          <a:schemeClr val="tx1"/>
        </a:solidFill>
        <a:latin typeface="Arial" charset="0"/>
        <a:ea typeface="ＭＳ Ｐゴシック" charset="0"/>
        <a:cs typeface="Arial" charset="0"/>
      </a:defRPr>
    </a:lvl6pPr>
    <a:lvl7pPr marL="2743200" algn="l" defTabSz="457200" rtl="0" eaLnBrk="1" latinLnBrk="0" hangingPunct="1">
      <a:defRPr sz="1700" kern="1200">
        <a:solidFill>
          <a:schemeClr val="tx1"/>
        </a:solidFill>
        <a:latin typeface="Arial" charset="0"/>
        <a:ea typeface="ＭＳ Ｐゴシック" charset="0"/>
        <a:cs typeface="Arial" charset="0"/>
      </a:defRPr>
    </a:lvl7pPr>
    <a:lvl8pPr marL="3200400" algn="l" defTabSz="457200" rtl="0" eaLnBrk="1" latinLnBrk="0" hangingPunct="1">
      <a:defRPr sz="1700" kern="1200">
        <a:solidFill>
          <a:schemeClr val="tx1"/>
        </a:solidFill>
        <a:latin typeface="Arial" charset="0"/>
        <a:ea typeface="ＭＳ Ｐゴシック" charset="0"/>
        <a:cs typeface="Arial" charset="0"/>
      </a:defRPr>
    </a:lvl8pPr>
    <a:lvl9pPr marL="3657600" algn="l" defTabSz="457200" rtl="0" eaLnBrk="1" latinLnBrk="0" hangingPunct="1">
      <a:defRPr sz="1700" kern="1200">
        <a:solidFill>
          <a:schemeClr val="tx1"/>
        </a:solidFill>
        <a:latin typeface="Arial" charset="0"/>
        <a:ea typeface="ＭＳ Ｐゴシック" charset="0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709" userDrawn="1">
          <p15:clr>
            <a:srgbClr val="A4A3A4"/>
          </p15:clr>
        </p15:guide>
        <p15:guide id="2" orient="horz" pos="1389" userDrawn="1">
          <p15:clr>
            <a:srgbClr val="A4A3A4"/>
          </p15:clr>
        </p15:guide>
        <p15:guide id="3" orient="horz" pos="3838" userDrawn="1">
          <p15:clr>
            <a:srgbClr val="A4A3A4"/>
          </p15:clr>
        </p15:guide>
        <p15:guide id="5" pos="3840" userDrawn="1">
          <p15:clr>
            <a:srgbClr val="A4A3A4"/>
          </p15:clr>
        </p15:guide>
        <p15:guide id="6" pos="3727" userDrawn="1">
          <p15:clr>
            <a:srgbClr val="A4A3A4"/>
          </p15:clr>
        </p15:guide>
        <p15:guide id="7" pos="3931" userDrawn="1">
          <p15:clr>
            <a:srgbClr val="A4A3A4"/>
          </p15:clr>
        </p15:guide>
        <p15:guide id="8" pos="4861" userDrawn="1">
          <p15:clr>
            <a:srgbClr val="A4A3A4"/>
          </p15:clr>
        </p15:guide>
        <p15:guide id="9" pos="5065" userDrawn="1">
          <p15:clr>
            <a:srgbClr val="A4A3A4"/>
          </p15:clr>
        </p15:guide>
        <p15:guide id="10" pos="7106" userDrawn="1">
          <p15:clr>
            <a:srgbClr val="A4A3A4"/>
          </p15:clr>
        </p15:guide>
        <p15:guide id="11" pos="2819" userDrawn="1">
          <p15:clr>
            <a:srgbClr val="A4A3A4"/>
          </p15:clr>
        </p15:guide>
        <p15:guide id="12" pos="2615" userDrawn="1">
          <p15:clr>
            <a:srgbClr val="A4A3A4"/>
          </p15:clr>
        </p15:guide>
        <p15:guide id="13" pos="574" userDrawn="1">
          <p15:clr>
            <a:srgbClr val="A4A3A4"/>
          </p15:clr>
        </p15:guide>
        <p15:guide id="14" orient="horz" pos="799" userDrawn="1">
          <p15:clr>
            <a:srgbClr val="A4A3A4"/>
          </p15:clr>
        </p15:guide>
        <p15:guide id="15" orient="horz" pos="75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3AD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55" autoAdjust="0"/>
    <p:restoredTop sz="94660"/>
  </p:normalViewPr>
  <p:slideViewPr>
    <p:cSldViewPr snapToObjects="1">
      <p:cViewPr varScale="1">
        <p:scale>
          <a:sx n="58" d="100"/>
          <a:sy n="58" d="100"/>
        </p:scale>
        <p:origin x="1024" y="52"/>
      </p:cViewPr>
      <p:guideLst>
        <p:guide orient="horz" pos="709"/>
        <p:guide orient="horz" pos="1389"/>
        <p:guide orient="horz" pos="3838"/>
        <p:guide pos="3840"/>
        <p:guide pos="3727"/>
        <p:guide pos="3931"/>
        <p:guide pos="4861"/>
        <p:guide pos="5065"/>
        <p:guide pos="7106"/>
        <p:guide pos="2819"/>
        <p:guide pos="2615"/>
        <p:guide pos="574"/>
        <p:guide orient="horz" pos="799"/>
        <p:guide orient="horz" pos="75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773363" cy="433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86211" tIns="43106" rIns="86211" bIns="43106" numCol="1" anchor="t" anchorCtr="0" compatLnSpc="1">
            <a:prstTxWarp prst="textNoShape">
              <a:avLst/>
            </a:prstTxWarp>
          </a:bodyPr>
          <a:lstStyle>
            <a:lvl1pPr defTabSz="862013">
              <a:defRPr sz="1100"/>
            </a:lvl1pPr>
          </a:lstStyle>
          <a:p>
            <a:endParaRPr lang="de-CH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625850" y="0"/>
            <a:ext cx="2773363" cy="433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86211" tIns="43106" rIns="86211" bIns="43106" numCol="1" anchor="t" anchorCtr="0" compatLnSpc="1">
            <a:prstTxWarp prst="textNoShape">
              <a:avLst/>
            </a:prstTxWarp>
          </a:bodyPr>
          <a:lstStyle>
            <a:lvl1pPr algn="r" defTabSz="862013">
              <a:defRPr sz="1100"/>
            </a:lvl1pPr>
          </a:lstStyle>
          <a:p>
            <a:endParaRPr lang="de-CH"/>
          </a:p>
        </p:txBody>
      </p:sp>
      <p:sp>
        <p:nvSpPr>
          <p:cNvPr id="51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07975" y="652463"/>
            <a:ext cx="5786438" cy="325596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53640926-AAD7-44d8-BBD7-CCE9431645EC}">
              <a14:shadowObscured xmlns="" xmlns:a14="http://schemas.microsoft.com/office/drawing/2010/main" val="1"/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39763" y="4125913"/>
            <a:ext cx="5121275" cy="3908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86211" tIns="43106" rIns="86211" bIns="4310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CH"/>
              <a:t>Textmasterformate durch Klicken bearbeiten</a:t>
            </a:r>
          </a:p>
          <a:p>
            <a:pPr lvl="1"/>
            <a:r>
              <a:rPr lang="de-CH"/>
              <a:t>Zweite Ebene</a:t>
            </a:r>
          </a:p>
          <a:p>
            <a:pPr lvl="2"/>
            <a:r>
              <a:rPr lang="de-CH"/>
              <a:t>Dritte Ebene</a:t>
            </a:r>
          </a:p>
          <a:p>
            <a:pPr lvl="3"/>
            <a:r>
              <a:rPr lang="de-CH"/>
              <a:t>Vierte Ebene</a:t>
            </a:r>
          </a:p>
          <a:p>
            <a:pPr lvl="4"/>
            <a:r>
              <a:rPr lang="de-CH"/>
              <a:t>Fünfte Ebene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251825"/>
            <a:ext cx="2773363" cy="433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86211" tIns="43106" rIns="86211" bIns="43106" numCol="1" anchor="b" anchorCtr="0" compatLnSpc="1">
            <a:prstTxWarp prst="textNoShape">
              <a:avLst/>
            </a:prstTxWarp>
          </a:bodyPr>
          <a:lstStyle>
            <a:lvl1pPr defTabSz="862013">
              <a:defRPr sz="1100"/>
            </a:lvl1pPr>
          </a:lstStyle>
          <a:p>
            <a:endParaRPr lang="de-CH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625850" y="8251825"/>
            <a:ext cx="2773363" cy="433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86211" tIns="43106" rIns="86211" bIns="43106" numCol="1" anchor="b" anchorCtr="0" compatLnSpc="1">
            <a:prstTxWarp prst="textNoShape">
              <a:avLst/>
            </a:prstTxWarp>
          </a:bodyPr>
          <a:lstStyle>
            <a:lvl1pPr algn="r" defTabSz="862013">
              <a:defRPr sz="1100"/>
            </a:lvl1pPr>
          </a:lstStyle>
          <a:p>
            <a:fld id="{54E7F490-E965-9B42-AE49-DA4BC6E663B1}" type="slidenum">
              <a:rPr lang="de-CH"/>
              <a:pPr/>
              <a:t>‹N°›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9843891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0"/>
        <a:cs typeface="Arial" charset="0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Arial" charset="0"/>
        <a:cs typeface="Arial" charset="0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Arial" charset="0"/>
        <a:cs typeface="Arial" charset="0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Arial" charset="0"/>
        <a:cs typeface="Arial" charset="0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Arial" charset="0"/>
        <a:cs typeface="Arial" charset="0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1225" y="1989138"/>
            <a:ext cx="10369550" cy="1295400"/>
          </a:xfrm>
        </p:spPr>
        <p:txBody>
          <a:bodyPr/>
          <a:lstStyle>
            <a:lvl1pPr>
              <a:defRPr sz="3900"/>
            </a:lvl1pPr>
          </a:lstStyle>
          <a:p>
            <a:pPr lvl="0"/>
            <a:r>
              <a:rPr lang="fr-FR" noProof="0"/>
              <a:t>Modifiez le style du titre</a:t>
            </a:r>
            <a:endParaRPr lang="en-US" noProof="0" dirty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911225" y="3429000"/>
            <a:ext cx="10369550" cy="17526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fr-FR" noProof="0"/>
              <a:t>Modifiez le style des sous-titres du masque</a:t>
            </a:r>
            <a:endParaRPr lang="en-US" noProof="0" dirty="0"/>
          </a:p>
        </p:txBody>
      </p:sp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DB00D-2B0B-4FA2-A258-E1F4E7D9041F}" type="datetime1">
              <a:rPr lang="en-US" smtClean="0"/>
              <a:t>3/6/2023</a:t>
            </a:fld>
            <a:endParaRPr lang="en-US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 of the presentation, Author</a:t>
            </a:r>
            <a:endParaRPr lang="en-US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</a:t>
            </a:r>
            <a:fld id="{9D46F3A4-F478-9440-BC8E-B732027F4C86}" type="slidenum">
              <a:rPr lang="en-US" smtClean="0"/>
              <a:pPr/>
              <a:t>‹N°›</a:t>
            </a:fld>
            <a:endParaRPr 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53" userDrawn="1">
          <p15:clr>
            <a:srgbClr val="9FCC3B"/>
          </p15:clr>
        </p15:guide>
        <p15:guide id="2" orient="horz" pos="2160" userDrawn="1">
          <p15:clr>
            <a:srgbClr val="9FCC3B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/>
          <p:cNvSpPr/>
          <p:nvPr userDrawn="1"/>
        </p:nvSpPr>
        <p:spPr bwMode="white">
          <a:xfrm>
            <a:off x="0" y="1125538"/>
            <a:ext cx="12192000" cy="5732462"/>
          </a:xfrm>
          <a:prstGeom prst="rect">
            <a:avLst/>
          </a:prstGeom>
          <a:solidFill>
            <a:srgbClr val="A3ADB7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0" spcFirstLastPara="0" vertOverflow="overflow" horzOverflow="overflow" vert="horz" wrap="non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44171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111BC-6152-4315-B33F-C80A8FBDF65E}" type="datetime1">
              <a:rPr lang="en-US" smtClean="0"/>
              <a:t>3/6/2023</a:t>
            </a:fld>
            <a:endParaRPr lang="en-US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 of the presentation, Author</a:t>
            </a:r>
            <a:endParaRPr lang="en-US" dirty="0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</a:t>
            </a:r>
            <a:fld id="{9D46F3A4-F478-9440-BC8E-B732027F4C86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39434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Spal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911225" y="2205039"/>
            <a:ext cx="5005388" cy="388778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Inhaltsplatzhalter 2"/>
          <p:cNvSpPr>
            <a:spLocks noGrp="1"/>
          </p:cNvSpPr>
          <p:nvPr>
            <p:ph idx="13"/>
          </p:nvPr>
        </p:nvSpPr>
        <p:spPr>
          <a:xfrm>
            <a:off x="6291040" y="2205039"/>
            <a:ext cx="5005388" cy="388778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8" name="Datumsplatzhalter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506E3A2-04B2-4DD3-AAA1-A42AE5838B79}" type="datetime1">
              <a:rPr lang="en-US" smtClean="0"/>
              <a:t>3/6/2023</a:t>
            </a:fld>
            <a:endParaRPr lang="en-US" dirty="0"/>
          </a:p>
        </p:txBody>
      </p:sp>
      <p:sp>
        <p:nvSpPr>
          <p:cNvPr id="9" name="Fußzeilenplatzhalter 8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Title of the presentation, Author</a:t>
            </a:r>
            <a:endParaRPr lang="en-US" dirty="0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r>
              <a:rPr lang="en-US"/>
              <a:t>Page </a:t>
            </a:r>
            <a:fld id="{9D46F3A4-F478-9440-BC8E-B732027F4C86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4250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6" name="Datumsplatzhalt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2A807-0C67-4BAF-BFE8-143988B7864A}" type="datetime1">
              <a:rPr lang="en-US" smtClean="0"/>
              <a:t>3/6/2023</a:t>
            </a:fld>
            <a:endParaRPr lang="en-US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 of the presentation, Author</a:t>
            </a:r>
            <a:endParaRPr lang="en-US" dirty="0"/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</a:t>
            </a:r>
            <a:fld id="{9D46F3A4-F478-9440-BC8E-B732027F4C86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86414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/>
          <p:cNvSpPr>
            <a:spLocks noGrp="1"/>
          </p:cNvSpPr>
          <p:nvPr>
            <p:ph type="pic" sz="quarter" idx="10"/>
          </p:nvPr>
        </p:nvSpPr>
        <p:spPr>
          <a:xfrm>
            <a:off x="192089" y="188912"/>
            <a:ext cx="11807824" cy="6480175"/>
          </a:xfrm>
        </p:spPr>
        <p:txBody>
          <a:bodyPr/>
          <a:lstStyle/>
          <a:p>
            <a:r>
              <a:rPr lang="fr-FR"/>
              <a:t>Cliquez sur l'icône pour ajouter une image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12821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1" userDrawn="1">
          <p15:clr>
            <a:srgbClr val="9FCC3B"/>
          </p15:clr>
        </p15:guide>
        <p15:guide id="2" pos="7559" userDrawn="1">
          <p15:clr>
            <a:srgbClr val="9FCC3B"/>
          </p15:clr>
        </p15:guide>
        <p15:guide id="3" orient="horz" pos="119" userDrawn="1">
          <p15:clr>
            <a:srgbClr val="9FCC3B"/>
          </p15:clr>
        </p15:guide>
        <p15:guide id="4" orient="horz" pos="4201" userDrawn="1">
          <p15:clr>
            <a:srgbClr val="9FCC3B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F9531-9C51-4B7E-993F-41DB8F023600}" type="datetime1">
              <a:rPr lang="en-US" smtClean="0"/>
              <a:t>3/6/2023</a:t>
            </a:fld>
            <a:endParaRPr lang="en-US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Title of the presentation, Author</a:t>
            </a:r>
            <a:endParaRPr lang="en-US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Page </a:t>
            </a:r>
            <a:fld id="{9D46F3A4-F478-9440-BC8E-B732027F4C86}" type="slidenum">
              <a:rPr lang="en-US" smtClean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1129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3" descr="uzh_logo_e_pos_grau_1mm"/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344" y="142875"/>
            <a:ext cx="2027238" cy="684213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1225" y="1268414"/>
            <a:ext cx="10369550" cy="7924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3600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err="1"/>
              <a:t>Mastertitelformat</a:t>
            </a:r>
            <a:r>
              <a:rPr lang="en-US" dirty="0"/>
              <a:t> </a:t>
            </a:r>
            <a:r>
              <a:rPr lang="en-US" dirty="0" err="1"/>
              <a:t>bearbeiten</a:t>
            </a:r>
            <a:endParaRPr lang="en-US" dirty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1225" y="2205039"/>
            <a:ext cx="10369550" cy="3887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err="1"/>
              <a:t>Mastertextformat</a:t>
            </a:r>
            <a:r>
              <a:rPr lang="en-US" dirty="0"/>
              <a:t> </a:t>
            </a:r>
            <a:r>
              <a:rPr lang="en-US" dirty="0" err="1"/>
              <a:t>bearbeiten</a:t>
            </a:r>
            <a:endParaRPr lang="en-US" dirty="0"/>
          </a:p>
          <a:p>
            <a:pPr lvl="1"/>
            <a:r>
              <a:rPr lang="en-US" dirty="0" err="1"/>
              <a:t>Zweite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  <a:p>
            <a:pPr lvl="2"/>
            <a:r>
              <a:rPr lang="en-US" dirty="0" err="1"/>
              <a:t>Dritte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  <a:p>
            <a:pPr lvl="3"/>
            <a:r>
              <a:rPr lang="en-US" dirty="0" err="1"/>
              <a:t>Vierte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  <a:p>
            <a:pPr lvl="4"/>
            <a:r>
              <a:rPr lang="en-US" dirty="0" err="1"/>
              <a:t>Fünfte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1225" y="6524625"/>
            <a:ext cx="1246716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sz="1000"/>
            </a:lvl1pPr>
          </a:lstStyle>
          <a:p>
            <a:fld id="{A456F339-3D89-431B-B52C-DECFFB55CC5F}" type="datetime1">
              <a:rPr lang="en-US" smtClean="0"/>
              <a:t>3/6/2023</a:t>
            </a:fld>
            <a:endParaRPr lang="en-US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255308" y="6524625"/>
            <a:ext cx="7008284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sz="1000"/>
            </a:lvl1pPr>
          </a:lstStyle>
          <a:p>
            <a:r>
              <a:rPr lang="en-US"/>
              <a:t>Title of the presentation, Author</a:t>
            </a:r>
            <a:endParaRPr lang="en-US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452484" y="6524625"/>
            <a:ext cx="828291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>
              <a:defRPr sz="1000"/>
            </a:lvl1pPr>
          </a:lstStyle>
          <a:p>
            <a:r>
              <a:rPr lang="en-US" dirty="0"/>
              <a:t>Page </a:t>
            </a:r>
            <a:fld id="{9D46F3A4-F478-9440-BC8E-B732027F4C86}" type="slidenum">
              <a:rPr lang="en-US" smtClean="0"/>
              <a:pPr/>
              <a:t>‹N°›</a:t>
            </a:fld>
            <a:endParaRPr lang="en-US" dirty="0"/>
          </a:p>
        </p:txBody>
      </p:sp>
      <p:sp>
        <p:nvSpPr>
          <p:cNvPr id="1034" name="Line 10"/>
          <p:cNvSpPr>
            <a:spLocks noChangeShapeType="1"/>
          </p:cNvSpPr>
          <p:nvPr/>
        </p:nvSpPr>
        <p:spPr bwMode="auto">
          <a:xfrm>
            <a:off x="0" y="1125538"/>
            <a:ext cx="12192000" cy="0"/>
          </a:xfrm>
          <a:prstGeom prst="line">
            <a:avLst/>
          </a:prstGeom>
          <a:noFill/>
          <a:ln w="15875">
            <a:solidFill>
              <a:srgbClr val="A3ADB7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sz="1700" dirty="0"/>
          </a:p>
        </p:txBody>
      </p:sp>
      <p:sp>
        <p:nvSpPr>
          <p:cNvPr id="11" name="Text Box 9"/>
          <p:cNvSpPr txBox="1">
            <a:spLocks noChangeArrowheads="1"/>
          </p:cNvSpPr>
          <p:nvPr userDrawn="1"/>
        </p:nvSpPr>
        <p:spPr bwMode="auto">
          <a:xfrm>
            <a:off x="911225" y="852488"/>
            <a:ext cx="7332663" cy="227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0" tIns="36000" rIns="0" bIns="0"/>
          <a:lstStyle/>
          <a:p>
            <a:pPr>
              <a:spcBef>
                <a:spcPct val="50000"/>
              </a:spcBef>
            </a:pPr>
            <a:r>
              <a:rPr lang="en-US" sz="1400" b="1" dirty="0"/>
              <a:t>Cognitive psychology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6" r:id="rId2"/>
    <p:sldLayoutId id="2147483650" r:id="rId3"/>
    <p:sldLayoutId id="2147483657" r:id="rId4"/>
    <p:sldLayoutId id="2147483654" r:id="rId5"/>
    <p:sldLayoutId id="2147483658" r:id="rId6"/>
    <p:sldLayoutId id="2147483655" r:id="rId7"/>
  </p:sldLayoutIdLs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28A5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  <a:ea typeface="ＭＳ Ｐゴシック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  <a:ea typeface="ＭＳ Ｐゴシック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  <a:ea typeface="ＭＳ Ｐゴシック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  <a:ea typeface="ＭＳ Ｐゴシック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  <a:ea typeface="ＭＳ Ｐゴシック" charset="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  <a:ea typeface="ＭＳ Ｐゴシック" charset="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  <a:ea typeface="ＭＳ Ｐゴシック" charset="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2"/>
          </a:solidFill>
          <a:latin typeface="Arial" charset="0"/>
          <a:ea typeface="ＭＳ Ｐゴシック" charset="0"/>
          <a:cs typeface="Arial" charset="0"/>
        </a:defRPr>
      </a:lvl9pPr>
    </p:titleStyle>
    <p:bodyStyle>
      <a:lvl1pPr marL="342000" indent="-342000" algn="l" rtl="0" eaLnBrk="1" fontAlgn="base" hangingPunct="1">
        <a:spcBef>
          <a:spcPct val="40000"/>
        </a:spcBef>
        <a:spcAft>
          <a:spcPct val="0"/>
        </a:spcAft>
        <a:buFont typeface="Arial" panose="020B0604020202020204" pitchFamily="34" charset="0"/>
        <a:buChar char="–"/>
        <a:defRPr sz="1700">
          <a:solidFill>
            <a:schemeClr val="tx1"/>
          </a:solidFill>
          <a:latin typeface="+mn-lt"/>
          <a:ea typeface="+mn-ea"/>
          <a:cs typeface="+mn-cs"/>
        </a:defRPr>
      </a:lvl1pPr>
      <a:lvl2pPr marL="684000" indent="-342000" algn="l" rtl="0" eaLnBrk="1" fontAlgn="base" hangingPunct="1">
        <a:spcBef>
          <a:spcPct val="40000"/>
        </a:spcBef>
        <a:spcAft>
          <a:spcPct val="0"/>
        </a:spcAft>
        <a:buFont typeface="Arial" charset="0"/>
        <a:buChar char="–"/>
        <a:defRPr sz="1700">
          <a:solidFill>
            <a:schemeClr val="tx1"/>
          </a:solidFill>
          <a:latin typeface="+mn-lt"/>
          <a:ea typeface="Arial" charset="0"/>
          <a:cs typeface="+mn-cs"/>
        </a:defRPr>
      </a:lvl2pPr>
      <a:lvl3pPr marL="1026000" indent="-342000" algn="l" rtl="0" eaLnBrk="1" fontAlgn="base" hangingPunct="1">
        <a:spcBef>
          <a:spcPct val="40000"/>
        </a:spcBef>
        <a:spcAft>
          <a:spcPct val="0"/>
        </a:spcAft>
        <a:buFont typeface="Arial" charset="0"/>
        <a:buChar char="–"/>
        <a:defRPr sz="1700">
          <a:solidFill>
            <a:schemeClr val="tx1"/>
          </a:solidFill>
          <a:latin typeface="+mn-lt"/>
          <a:ea typeface="Arial" charset="0"/>
          <a:cs typeface="+mn-cs"/>
        </a:defRPr>
      </a:lvl3pPr>
      <a:lvl4pPr marL="1368000" indent="-342000" algn="l" rtl="0" eaLnBrk="1" fontAlgn="base" hangingPunct="1">
        <a:spcBef>
          <a:spcPct val="40000"/>
        </a:spcBef>
        <a:spcAft>
          <a:spcPct val="0"/>
        </a:spcAft>
        <a:buFont typeface="Arial" charset="0"/>
        <a:buChar char="–"/>
        <a:defRPr sz="1700">
          <a:solidFill>
            <a:schemeClr val="tx1"/>
          </a:solidFill>
          <a:latin typeface="+mn-lt"/>
          <a:ea typeface="Arial" charset="0"/>
          <a:cs typeface="+mn-cs"/>
        </a:defRPr>
      </a:lvl4pPr>
      <a:lvl5pPr marL="1710000" indent="-342000" algn="l" rtl="0" eaLnBrk="1" fontAlgn="base" hangingPunct="1">
        <a:spcBef>
          <a:spcPct val="40000"/>
        </a:spcBef>
        <a:spcAft>
          <a:spcPct val="0"/>
        </a:spcAft>
        <a:buFont typeface="Arial" charset="0"/>
        <a:buChar char="–"/>
        <a:defRPr sz="1700">
          <a:solidFill>
            <a:schemeClr val="tx1"/>
          </a:solidFill>
          <a:latin typeface="+mn-lt"/>
          <a:ea typeface="Arial" charset="0"/>
          <a:cs typeface="+mn-cs"/>
        </a:defRPr>
      </a:lvl5pPr>
      <a:lvl6pPr marL="1895475" indent="-366713" algn="l" rtl="0" eaLnBrk="1" fontAlgn="base" hangingPunct="1">
        <a:spcBef>
          <a:spcPct val="40000"/>
        </a:spcBef>
        <a:spcAft>
          <a:spcPct val="0"/>
        </a:spcAft>
        <a:buFont typeface="Arial" charset="0"/>
        <a:buChar char="–"/>
        <a:defRPr sz="1700">
          <a:solidFill>
            <a:schemeClr val="tx1"/>
          </a:solidFill>
          <a:latin typeface="+mn-lt"/>
          <a:ea typeface="Arial" charset="0"/>
          <a:cs typeface="+mn-cs"/>
        </a:defRPr>
      </a:lvl6pPr>
      <a:lvl7pPr marL="2352675" indent="-366713" algn="l" rtl="0" eaLnBrk="1" fontAlgn="base" hangingPunct="1">
        <a:spcBef>
          <a:spcPct val="40000"/>
        </a:spcBef>
        <a:spcAft>
          <a:spcPct val="0"/>
        </a:spcAft>
        <a:buFont typeface="Arial" charset="0"/>
        <a:buChar char="–"/>
        <a:defRPr sz="1700">
          <a:solidFill>
            <a:schemeClr val="tx1"/>
          </a:solidFill>
          <a:latin typeface="+mn-lt"/>
          <a:ea typeface="Arial" charset="0"/>
          <a:cs typeface="+mn-cs"/>
        </a:defRPr>
      </a:lvl7pPr>
      <a:lvl8pPr marL="2809875" indent="-366713" algn="l" rtl="0" eaLnBrk="1" fontAlgn="base" hangingPunct="1">
        <a:spcBef>
          <a:spcPct val="40000"/>
        </a:spcBef>
        <a:spcAft>
          <a:spcPct val="0"/>
        </a:spcAft>
        <a:buFont typeface="Arial" charset="0"/>
        <a:buChar char="–"/>
        <a:defRPr sz="1700">
          <a:solidFill>
            <a:schemeClr val="tx1"/>
          </a:solidFill>
          <a:latin typeface="+mn-lt"/>
          <a:ea typeface="Arial" charset="0"/>
          <a:cs typeface="+mn-cs"/>
        </a:defRPr>
      </a:lvl8pPr>
      <a:lvl9pPr marL="3267075" indent="-366713" algn="l" rtl="0" eaLnBrk="1" fontAlgn="base" hangingPunct="1">
        <a:spcBef>
          <a:spcPct val="40000"/>
        </a:spcBef>
        <a:spcAft>
          <a:spcPct val="0"/>
        </a:spcAft>
        <a:buFont typeface="Arial" charset="0"/>
        <a:buChar char="–"/>
        <a:defRPr sz="1700">
          <a:solidFill>
            <a:schemeClr val="tx1"/>
          </a:solidFill>
          <a:latin typeface="+mn-lt"/>
          <a:ea typeface="Arial" charset="0"/>
          <a:cs typeface="+mn-cs"/>
        </a:defRPr>
      </a:lvl9pPr>
    </p:bodyStyle>
    <p:otherStyle>
      <a:defPPr>
        <a:defRPr lang="de-D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74" userDrawn="1">
          <p15:clr>
            <a:srgbClr val="F26B43"/>
          </p15:clr>
        </p15:guide>
        <p15:guide id="2" pos="7106" userDrawn="1">
          <p15:clr>
            <a:srgbClr val="F26B43"/>
          </p15:clr>
        </p15:guide>
        <p15:guide id="3" orient="horz" pos="1389" userDrawn="1">
          <p15:clr>
            <a:srgbClr val="F26B43"/>
          </p15:clr>
        </p15:guide>
        <p15:guide id="4" orient="horz" pos="799" userDrawn="1">
          <p15:clr>
            <a:srgbClr val="F26B43"/>
          </p15:clr>
        </p15:guide>
        <p15:guide id="5" orient="horz" pos="4110" userDrawn="1">
          <p15:clr>
            <a:srgbClr val="F26B43"/>
          </p15:clr>
        </p15:guide>
        <p15:guide id="6" pos="3840" userDrawn="1">
          <p15:clr>
            <a:srgbClr val="F26B43"/>
          </p15:clr>
        </p15:guide>
        <p15:guide id="7" pos="3953" userDrawn="1">
          <p15:clr>
            <a:srgbClr val="5ACBF0"/>
          </p15:clr>
        </p15:guide>
        <p15:guide id="8" pos="3727" userDrawn="1">
          <p15:clr>
            <a:srgbClr val="5ACBF0"/>
          </p15:clr>
        </p15:guide>
        <p15:guide id="9" pos="2615" userDrawn="1">
          <p15:clr>
            <a:srgbClr val="5ACBF0"/>
          </p15:clr>
        </p15:guide>
        <p15:guide id="10" pos="2819" userDrawn="1">
          <p15:clr>
            <a:srgbClr val="5ACBF0"/>
          </p15:clr>
        </p15:guide>
        <p15:guide id="11" pos="4861" userDrawn="1">
          <p15:clr>
            <a:srgbClr val="5ACBF0"/>
          </p15:clr>
        </p15:guide>
        <p15:guide id="12" pos="5065" userDrawn="1">
          <p15:clr>
            <a:srgbClr val="5ACBF0"/>
          </p15:clr>
        </p15:guide>
        <p15:guide id="13" orient="horz" pos="709" userDrawn="1">
          <p15:clr>
            <a:srgbClr val="F26B43"/>
          </p15:clr>
        </p15:guide>
        <p15:guide id="14" orient="horz" pos="383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3" Type="http://schemas.openxmlformats.org/officeDocument/2006/relationships/image" Target="../media/image3.jpg"/><Relationship Id="rId7" Type="http://schemas.openxmlformats.org/officeDocument/2006/relationships/image" Target="../media/image7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jpg"/><Relationship Id="rId5" Type="http://schemas.openxmlformats.org/officeDocument/2006/relationships/image" Target="../media/image5.jpg"/><Relationship Id="rId4" Type="http://schemas.openxmlformats.org/officeDocument/2006/relationships/image" Target="../media/image4.jpg"/><Relationship Id="rId9" Type="http://schemas.openxmlformats.org/officeDocument/2006/relationships/image" Target="../media/image9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g"/><Relationship Id="rId3" Type="http://schemas.openxmlformats.org/officeDocument/2006/relationships/image" Target="../media/image3.jpg"/><Relationship Id="rId7" Type="http://schemas.openxmlformats.org/officeDocument/2006/relationships/image" Target="../media/image13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jpg"/><Relationship Id="rId5" Type="http://schemas.openxmlformats.org/officeDocument/2006/relationships/image" Target="../media/image5.jpg"/><Relationship Id="rId4" Type="http://schemas.openxmlformats.org/officeDocument/2006/relationships/image" Target="../media/image2.jpg"/><Relationship Id="rId9" Type="http://schemas.openxmlformats.org/officeDocument/2006/relationships/image" Target="../media/image15.jp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8.png"/><Relationship Id="rId5" Type="http://schemas.openxmlformats.org/officeDocument/2006/relationships/image" Target="../media/image5.jpg"/><Relationship Id="rId4" Type="http://schemas.openxmlformats.org/officeDocument/2006/relationships/image" Target="../media/image2.jp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g"/><Relationship Id="rId3" Type="http://schemas.openxmlformats.org/officeDocument/2006/relationships/image" Target="../media/image3.jpg"/><Relationship Id="rId7" Type="http://schemas.openxmlformats.org/officeDocument/2006/relationships/image" Target="../media/image8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jpg"/><Relationship Id="rId5" Type="http://schemas.openxmlformats.org/officeDocument/2006/relationships/image" Target="../media/image5.jpg"/><Relationship Id="rId4" Type="http://schemas.openxmlformats.org/officeDocument/2006/relationships/image" Target="../media/image2.jp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The psychology of language – E578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The semantic blocking effect</a:t>
            </a:r>
          </a:p>
          <a:p>
            <a:r>
              <a:rPr lang="en-US" dirty="0"/>
              <a:t>Dr. Benjamin Kowialiewski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 of Contents 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Presentation of the task and effect</a:t>
            </a:r>
          </a:p>
          <a:p>
            <a:r>
              <a:rPr lang="en-US" dirty="0"/>
              <a:t>A first explanation</a:t>
            </a:r>
          </a:p>
          <a:p>
            <a:r>
              <a:rPr lang="en-US" dirty="0"/>
              <a:t>Problematic results</a:t>
            </a:r>
          </a:p>
          <a:p>
            <a:r>
              <a:rPr lang="en-US" dirty="0"/>
              <a:t>Alternative interpretation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Experimental design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0CC63B97-827E-43B1-A3F2-12FD4602654C}"/>
              </a:ext>
            </a:extLst>
          </p:cNvPr>
          <p:cNvSpPr txBox="1"/>
          <p:nvPr/>
        </p:nvSpPr>
        <p:spPr>
          <a:xfrm>
            <a:off x="2397263" y="3645024"/>
            <a:ext cx="7397474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b="1" dirty="0" err="1"/>
              <a:t>Naming</a:t>
            </a:r>
            <a:r>
              <a:rPr lang="fr-BE" b="1" dirty="0"/>
              <a:t> </a:t>
            </a:r>
            <a:r>
              <a:rPr lang="fr-BE" b="1" dirty="0" err="1"/>
              <a:t>task</a:t>
            </a:r>
            <a:r>
              <a:rPr lang="fr-BE" dirty="0"/>
              <a:t>: An image </a:t>
            </a:r>
            <a:r>
              <a:rPr lang="fr-BE" dirty="0" err="1"/>
              <a:t>is</a:t>
            </a:r>
            <a:r>
              <a:rPr lang="fr-BE" dirty="0"/>
              <a:t> </a:t>
            </a:r>
            <a:r>
              <a:rPr lang="fr-BE" dirty="0" err="1"/>
              <a:t>given</a:t>
            </a:r>
            <a:r>
              <a:rPr lang="fr-BE" dirty="0"/>
              <a:t>, and people are </a:t>
            </a:r>
            <a:r>
              <a:rPr lang="fr-BE" dirty="0" err="1"/>
              <a:t>asked</a:t>
            </a:r>
            <a:r>
              <a:rPr lang="fr-BE" dirty="0"/>
              <a:t> to </a:t>
            </a:r>
            <a:r>
              <a:rPr lang="fr-BE" dirty="0" err="1"/>
              <a:t>name</a:t>
            </a:r>
            <a:r>
              <a:rPr lang="fr-BE" dirty="0"/>
              <a:t> </a:t>
            </a:r>
            <a:r>
              <a:rPr lang="fr-BE" dirty="0" err="1"/>
              <a:t>it</a:t>
            </a:r>
            <a:r>
              <a:rPr lang="fr-BE" dirty="0"/>
              <a:t>.</a:t>
            </a:r>
          </a:p>
          <a:p>
            <a:r>
              <a:rPr lang="fr-BE" dirty="0">
                <a:sym typeface="Wingdings" panose="05000000000000000000" pitchFamily="2" charset="2"/>
              </a:rPr>
              <a:t> </a:t>
            </a:r>
            <a:r>
              <a:rPr lang="fr-BE" dirty="0" err="1">
                <a:sym typeface="Wingdings" panose="05000000000000000000" pitchFamily="2" charset="2"/>
              </a:rPr>
              <a:t>We</a:t>
            </a:r>
            <a:r>
              <a:rPr lang="fr-BE" dirty="0">
                <a:sym typeface="Wingdings" panose="05000000000000000000" pitchFamily="2" charset="2"/>
              </a:rPr>
              <a:t> </a:t>
            </a:r>
            <a:r>
              <a:rPr lang="fr-BE" dirty="0" err="1">
                <a:sym typeface="Wingdings" panose="05000000000000000000" pitchFamily="2" charset="2"/>
              </a:rPr>
              <a:t>measure</a:t>
            </a:r>
            <a:r>
              <a:rPr lang="fr-BE" dirty="0">
                <a:sym typeface="Wingdings" panose="05000000000000000000" pitchFamily="2" charset="2"/>
              </a:rPr>
              <a:t> </a:t>
            </a:r>
            <a:r>
              <a:rPr lang="fr-BE" dirty="0" err="1">
                <a:sym typeface="Wingdings" panose="05000000000000000000" pitchFamily="2" charset="2"/>
              </a:rPr>
              <a:t>response</a:t>
            </a:r>
            <a:r>
              <a:rPr lang="fr-BE" dirty="0">
                <a:sym typeface="Wingdings" panose="05000000000000000000" pitchFamily="2" charset="2"/>
              </a:rPr>
              <a:t> times. </a:t>
            </a:r>
            <a:r>
              <a:rPr lang="fr-BE" dirty="0" err="1">
                <a:sym typeface="Wingdings" panose="05000000000000000000" pitchFamily="2" charset="2"/>
              </a:rPr>
              <a:t>Usually</a:t>
            </a:r>
            <a:r>
              <a:rPr lang="fr-BE" dirty="0">
                <a:sym typeface="Wingdings" panose="05000000000000000000" pitchFamily="2" charset="2"/>
              </a:rPr>
              <a:t> </a:t>
            </a:r>
            <a:r>
              <a:rPr lang="fr-BE" dirty="0" err="1">
                <a:sym typeface="Wingdings" panose="05000000000000000000" pitchFamily="2" charset="2"/>
              </a:rPr>
              <a:t>recorded</a:t>
            </a:r>
            <a:r>
              <a:rPr lang="fr-BE" dirty="0">
                <a:sym typeface="Wingdings" panose="05000000000000000000" pitchFamily="2" charset="2"/>
              </a:rPr>
              <a:t> </a:t>
            </a:r>
            <a:r>
              <a:rPr lang="fr-BE" dirty="0" err="1">
                <a:sym typeface="Wingdings" panose="05000000000000000000" pitchFamily="2" charset="2"/>
              </a:rPr>
              <a:t>using</a:t>
            </a:r>
            <a:r>
              <a:rPr lang="fr-BE" dirty="0">
                <a:sym typeface="Wingdings" panose="05000000000000000000" pitchFamily="2" charset="2"/>
              </a:rPr>
              <a:t> an </a:t>
            </a:r>
            <a:r>
              <a:rPr lang="fr-BE" dirty="0" err="1">
                <a:sym typeface="Wingdings" panose="05000000000000000000" pitchFamily="2" charset="2"/>
              </a:rPr>
              <a:t>automated</a:t>
            </a:r>
            <a:r>
              <a:rPr lang="fr-BE" dirty="0">
                <a:sym typeface="Wingdings" panose="05000000000000000000" pitchFamily="2" charset="2"/>
              </a:rPr>
              <a:t> key.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666848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Experimental design</a:t>
            </a:r>
          </a:p>
        </p:txBody>
      </p:sp>
      <p:pic>
        <p:nvPicPr>
          <p:cNvPr id="17" name="Image 16" descr="Une image contenant fruit, pomme, rouge, cerise&#10;&#10;Description générée automatiquement">
            <a:extLst>
              <a:ext uri="{FF2B5EF4-FFF2-40B4-BE49-F238E27FC236}">
                <a16:creationId xmlns:a16="http://schemas.microsoft.com/office/drawing/2014/main" id="{B17AD5B4-1065-40C8-ADCB-2A49A04C80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0056" y="2993032"/>
            <a:ext cx="1440161" cy="108012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8" name="Image 17" descr="Une image contenant fruit, banane&#10;&#10;Description générée automatiquement">
            <a:extLst>
              <a:ext uri="{FF2B5EF4-FFF2-40B4-BE49-F238E27FC236}">
                <a16:creationId xmlns:a16="http://schemas.microsoft.com/office/drawing/2014/main" id="{0FE6B651-9E21-4344-B348-9627648713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1824" y="2988976"/>
            <a:ext cx="1437344" cy="107800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9" name="Image 18" descr="Une image contenant fruit, cerise&#10;&#10;Description générée automatiquement">
            <a:extLst>
              <a:ext uri="{FF2B5EF4-FFF2-40B4-BE49-F238E27FC236}">
                <a16:creationId xmlns:a16="http://schemas.microsoft.com/office/drawing/2014/main" id="{298E1DEF-9CAE-41F1-84AB-CD69C9670A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2423591" y="2993032"/>
            <a:ext cx="1436201" cy="107715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1" name="Image 20" descr="Une image contenant poire, fruit, orange&#10;&#10;Description générée automatiquement">
            <a:extLst>
              <a:ext uri="{FF2B5EF4-FFF2-40B4-BE49-F238E27FC236}">
                <a16:creationId xmlns:a16="http://schemas.microsoft.com/office/drawing/2014/main" id="{28DD7D64-5440-4103-80D5-B6FAD95F3D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8288" y="2988975"/>
            <a:ext cx="1440161" cy="108012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2" name="Flèche : droite 21">
            <a:extLst>
              <a:ext uri="{FF2B5EF4-FFF2-40B4-BE49-F238E27FC236}">
                <a16:creationId xmlns:a16="http://schemas.microsoft.com/office/drawing/2014/main" id="{4121FDD5-0E8B-4C93-849F-3D393B994FE8}"/>
              </a:ext>
            </a:extLst>
          </p:cNvPr>
          <p:cNvSpPr/>
          <p:nvPr/>
        </p:nvSpPr>
        <p:spPr bwMode="auto">
          <a:xfrm>
            <a:off x="2423591" y="5085184"/>
            <a:ext cx="7704858" cy="360040"/>
          </a:xfrm>
          <a:prstGeom prst="rightArrow">
            <a:avLst/>
          </a:prstGeom>
          <a:solidFill>
            <a:schemeClr val="tx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2796C74E-1079-4E46-8443-F4070F699B0B}"/>
              </a:ext>
            </a:extLst>
          </p:cNvPr>
          <p:cNvSpPr txBox="1"/>
          <p:nvPr/>
        </p:nvSpPr>
        <p:spPr>
          <a:xfrm>
            <a:off x="2476822" y="4123824"/>
            <a:ext cx="1327608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BE" dirty="0"/>
              <a:t>« </a:t>
            </a:r>
            <a:r>
              <a:rPr lang="fr-BE" dirty="0" err="1"/>
              <a:t>butterfly</a:t>
            </a:r>
            <a:r>
              <a:rPr lang="fr-BE" dirty="0"/>
              <a:t> »</a:t>
            </a:r>
            <a:endParaRPr lang="de-CH" dirty="0"/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61161FEB-43A1-4BBA-8A24-89BCB068C434}"/>
              </a:ext>
            </a:extLst>
          </p:cNvPr>
          <p:cNvSpPr txBox="1"/>
          <p:nvPr/>
        </p:nvSpPr>
        <p:spPr>
          <a:xfrm>
            <a:off x="4505961" y="4149080"/>
            <a:ext cx="158088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BE" dirty="0"/>
              <a:t>« </a:t>
            </a:r>
            <a:r>
              <a:rPr lang="fr-BE" dirty="0" err="1"/>
              <a:t>cauliflower</a:t>
            </a:r>
            <a:r>
              <a:rPr lang="fr-BE" dirty="0"/>
              <a:t> »</a:t>
            </a:r>
            <a:endParaRPr lang="de-CH" dirty="0"/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FC73FDE3-83CC-4EAC-A934-A4F8F03362A6}"/>
              </a:ext>
            </a:extLst>
          </p:cNvPr>
          <p:cNvSpPr txBox="1"/>
          <p:nvPr/>
        </p:nvSpPr>
        <p:spPr>
          <a:xfrm>
            <a:off x="6901840" y="4149080"/>
            <a:ext cx="914033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BE" dirty="0"/>
              <a:t>« fork »</a:t>
            </a:r>
            <a:endParaRPr lang="de-CH" dirty="0"/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C542B6EF-993F-44F6-8002-899ACA4F255B}"/>
              </a:ext>
            </a:extLst>
          </p:cNvPr>
          <p:cNvSpPr txBox="1"/>
          <p:nvPr/>
        </p:nvSpPr>
        <p:spPr>
          <a:xfrm>
            <a:off x="8861834" y="4149080"/>
            <a:ext cx="1072731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BE" dirty="0"/>
              <a:t>« </a:t>
            </a:r>
            <a:r>
              <a:rPr lang="fr-BE" dirty="0" err="1"/>
              <a:t>glove</a:t>
            </a:r>
            <a:r>
              <a:rPr lang="fr-BE" dirty="0"/>
              <a:t> »</a:t>
            </a:r>
            <a:endParaRPr lang="de-CH" dirty="0"/>
          </a:p>
        </p:txBody>
      </p:sp>
      <p:sp>
        <p:nvSpPr>
          <p:cNvPr id="27" name="Accolade ouvrante 26">
            <a:extLst>
              <a:ext uri="{FF2B5EF4-FFF2-40B4-BE49-F238E27FC236}">
                <a16:creationId xmlns:a16="http://schemas.microsoft.com/office/drawing/2014/main" id="{7E28E5B8-3521-4E4C-B321-33C69953C142}"/>
              </a:ext>
            </a:extLst>
          </p:cNvPr>
          <p:cNvSpPr/>
          <p:nvPr/>
        </p:nvSpPr>
        <p:spPr bwMode="auto">
          <a:xfrm rot="5400000">
            <a:off x="5956424" y="-1391096"/>
            <a:ext cx="648072" cy="7839992"/>
          </a:xfrm>
          <a:prstGeom prst="lef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EE056801-613B-4253-8DD0-B31220A17B44}"/>
              </a:ext>
            </a:extLst>
          </p:cNvPr>
          <p:cNvSpPr txBox="1"/>
          <p:nvPr/>
        </p:nvSpPr>
        <p:spPr>
          <a:xfrm>
            <a:off x="5666562" y="1706905"/>
            <a:ext cx="1156086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dirty="0"/>
              <a:t>One cycle</a:t>
            </a:r>
            <a:endParaRPr lang="de-CH" dirty="0"/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91B4262C-D649-4F10-9498-45A407C64763}"/>
              </a:ext>
            </a:extLst>
          </p:cNvPr>
          <p:cNvSpPr txBox="1"/>
          <p:nvPr/>
        </p:nvSpPr>
        <p:spPr>
          <a:xfrm>
            <a:off x="222379" y="3429000"/>
            <a:ext cx="2032929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dirty="0" err="1">
                <a:solidFill>
                  <a:schemeClr val="accent5"/>
                </a:solidFill>
              </a:rPr>
              <a:t>Heterogeneous</a:t>
            </a:r>
            <a:r>
              <a:rPr lang="fr-BE" dirty="0"/>
              <a:t> set</a:t>
            </a:r>
            <a:endParaRPr lang="de-CH" dirty="0"/>
          </a:p>
        </p:txBody>
      </p:sp>
      <p:pic>
        <p:nvPicPr>
          <p:cNvPr id="6" name="Image 5" descr="Une image contenant insecte&#10;&#10;Description générée automatiquement">
            <a:extLst>
              <a:ext uri="{FF2B5EF4-FFF2-40B4-BE49-F238E27FC236}">
                <a16:creationId xmlns:a16="http://schemas.microsoft.com/office/drawing/2014/main" id="{C4B9E16F-9EFE-4C66-BB45-585D4D94117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23591" y="2993783"/>
            <a:ext cx="1435200" cy="10764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Image 8" descr="Une image contenant légume, chou-fleur, vert, frais&#10;&#10;Description générée automatiquement">
            <a:extLst>
              <a:ext uri="{FF2B5EF4-FFF2-40B4-BE49-F238E27FC236}">
                <a16:creationId xmlns:a16="http://schemas.microsoft.com/office/drawing/2014/main" id="{E8C96828-1937-491E-BAD9-56AF91923D6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16784" y="2988975"/>
            <a:ext cx="1435200" cy="10764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Image 10" descr="Une image contenant arts de la table, cuillère, fourchette&#10;&#10;Description générée automatiquement">
            <a:extLst>
              <a:ext uri="{FF2B5EF4-FFF2-40B4-BE49-F238E27FC236}">
                <a16:creationId xmlns:a16="http://schemas.microsoft.com/office/drawing/2014/main" id="{4B2ED2E8-5611-469D-8C81-2A61D6FF833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05017" y="2996753"/>
            <a:ext cx="1435200" cy="10764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Image 12" descr="Une image contenant gants, habits, noir&#10;&#10;Description générée automatiquement">
            <a:extLst>
              <a:ext uri="{FF2B5EF4-FFF2-40B4-BE49-F238E27FC236}">
                <a16:creationId xmlns:a16="http://schemas.microsoft.com/office/drawing/2014/main" id="{4AD02F68-51D3-4C40-A73B-8BA4716596D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88288" y="2988975"/>
            <a:ext cx="1435200" cy="10764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3E25FAFF-83B8-443D-9AC3-AC25943C8C95}"/>
              </a:ext>
            </a:extLst>
          </p:cNvPr>
          <p:cNvSpPr txBox="1"/>
          <p:nvPr/>
        </p:nvSpPr>
        <p:spPr>
          <a:xfrm>
            <a:off x="5879976" y="5425375"/>
            <a:ext cx="660694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dirty="0"/>
              <a:t>Time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916640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Experimental design</a:t>
            </a:r>
          </a:p>
        </p:txBody>
      </p:sp>
      <p:pic>
        <p:nvPicPr>
          <p:cNvPr id="17" name="Image 16" descr="Une image contenant fruit, pomme, rouge, cerise&#10;&#10;Description générée automatiquement">
            <a:extLst>
              <a:ext uri="{FF2B5EF4-FFF2-40B4-BE49-F238E27FC236}">
                <a16:creationId xmlns:a16="http://schemas.microsoft.com/office/drawing/2014/main" id="{B17AD5B4-1065-40C8-ADCB-2A49A04C80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0056" y="2993032"/>
            <a:ext cx="1440161" cy="108012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8" name="Image 17" descr="Une image contenant fruit, banane&#10;&#10;Description générée automatiquement">
            <a:extLst>
              <a:ext uri="{FF2B5EF4-FFF2-40B4-BE49-F238E27FC236}">
                <a16:creationId xmlns:a16="http://schemas.microsoft.com/office/drawing/2014/main" id="{0FE6B651-9E21-4344-B348-9627648713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1824" y="2988976"/>
            <a:ext cx="1437344" cy="107800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9" name="Image 18" descr="Une image contenant fruit, cerise&#10;&#10;Description générée automatiquement">
            <a:extLst>
              <a:ext uri="{FF2B5EF4-FFF2-40B4-BE49-F238E27FC236}">
                <a16:creationId xmlns:a16="http://schemas.microsoft.com/office/drawing/2014/main" id="{298E1DEF-9CAE-41F1-84AB-CD69C9670A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2423591" y="2993032"/>
            <a:ext cx="1436201" cy="107715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1" name="Image 20" descr="Une image contenant poire, fruit, orange&#10;&#10;Description générée automatiquement">
            <a:extLst>
              <a:ext uri="{FF2B5EF4-FFF2-40B4-BE49-F238E27FC236}">
                <a16:creationId xmlns:a16="http://schemas.microsoft.com/office/drawing/2014/main" id="{28DD7D64-5440-4103-80D5-B6FAD95F3D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8288" y="2988975"/>
            <a:ext cx="1440161" cy="108012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2" name="Flèche : droite 21">
            <a:extLst>
              <a:ext uri="{FF2B5EF4-FFF2-40B4-BE49-F238E27FC236}">
                <a16:creationId xmlns:a16="http://schemas.microsoft.com/office/drawing/2014/main" id="{4121FDD5-0E8B-4C93-849F-3D393B994FE8}"/>
              </a:ext>
            </a:extLst>
          </p:cNvPr>
          <p:cNvSpPr/>
          <p:nvPr/>
        </p:nvSpPr>
        <p:spPr bwMode="auto">
          <a:xfrm>
            <a:off x="2423591" y="5085184"/>
            <a:ext cx="7704858" cy="360040"/>
          </a:xfrm>
          <a:prstGeom prst="rightArrow">
            <a:avLst/>
          </a:prstGeom>
          <a:solidFill>
            <a:schemeClr val="tx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2796C74E-1079-4E46-8443-F4070F699B0B}"/>
              </a:ext>
            </a:extLst>
          </p:cNvPr>
          <p:cNvSpPr txBox="1"/>
          <p:nvPr/>
        </p:nvSpPr>
        <p:spPr>
          <a:xfrm>
            <a:off x="2562582" y="4123824"/>
            <a:ext cx="1156086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dirty="0"/>
              <a:t>« cherry »</a:t>
            </a:r>
            <a:endParaRPr lang="de-CH" dirty="0"/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61161FEB-43A1-4BBA-8A24-89BCB068C434}"/>
              </a:ext>
            </a:extLst>
          </p:cNvPr>
          <p:cNvSpPr txBox="1"/>
          <p:nvPr/>
        </p:nvSpPr>
        <p:spPr>
          <a:xfrm>
            <a:off x="4655840" y="4149080"/>
            <a:ext cx="1281120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dirty="0"/>
              <a:t>« banana »</a:t>
            </a:r>
            <a:endParaRPr lang="de-CH" dirty="0"/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FC73FDE3-83CC-4EAC-A934-A4F8F03362A6}"/>
              </a:ext>
            </a:extLst>
          </p:cNvPr>
          <p:cNvSpPr txBox="1"/>
          <p:nvPr/>
        </p:nvSpPr>
        <p:spPr>
          <a:xfrm>
            <a:off x="6816080" y="4149080"/>
            <a:ext cx="1085554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dirty="0"/>
              <a:t>« </a:t>
            </a:r>
            <a:r>
              <a:rPr lang="fr-BE" dirty="0" err="1"/>
              <a:t>apple</a:t>
            </a:r>
            <a:r>
              <a:rPr lang="fr-BE" dirty="0"/>
              <a:t> »</a:t>
            </a:r>
            <a:endParaRPr lang="de-CH" dirty="0"/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C542B6EF-993F-44F6-8002-899ACA4F255B}"/>
              </a:ext>
            </a:extLst>
          </p:cNvPr>
          <p:cNvSpPr txBox="1"/>
          <p:nvPr/>
        </p:nvSpPr>
        <p:spPr>
          <a:xfrm>
            <a:off x="8904312" y="4149080"/>
            <a:ext cx="987771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dirty="0"/>
              <a:t>« </a:t>
            </a:r>
            <a:r>
              <a:rPr lang="fr-BE" dirty="0" err="1"/>
              <a:t>pear</a:t>
            </a:r>
            <a:r>
              <a:rPr lang="fr-BE" dirty="0"/>
              <a:t> »</a:t>
            </a:r>
            <a:endParaRPr lang="de-CH" dirty="0"/>
          </a:p>
        </p:txBody>
      </p:sp>
      <p:sp>
        <p:nvSpPr>
          <p:cNvPr id="27" name="Accolade ouvrante 26">
            <a:extLst>
              <a:ext uri="{FF2B5EF4-FFF2-40B4-BE49-F238E27FC236}">
                <a16:creationId xmlns:a16="http://schemas.microsoft.com/office/drawing/2014/main" id="{7E28E5B8-3521-4E4C-B321-33C69953C142}"/>
              </a:ext>
            </a:extLst>
          </p:cNvPr>
          <p:cNvSpPr/>
          <p:nvPr/>
        </p:nvSpPr>
        <p:spPr bwMode="auto">
          <a:xfrm rot="5400000">
            <a:off x="5956424" y="-1391096"/>
            <a:ext cx="648072" cy="7839992"/>
          </a:xfrm>
          <a:prstGeom prst="lef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EE056801-613B-4253-8DD0-B31220A17B44}"/>
              </a:ext>
            </a:extLst>
          </p:cNvPr>
          <p:cNvSpPr txBox="1"/>
          <p:nvPr/>
        </p:nvSpPr>
        <p:spPr>
          <a:xfrm>
            <a:off x="5666562" y="1706905"/>
            <a:ext cx="1156086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dirty="0"/>
              <a:t>One cycle</a:t>
            </a:r>
            <a:endParaRPr lang="de-CH" dirty="0"/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91B4262C-D649-4F10-9498-45A407C64763}"/>
              </a:ext>
            </a:extLst>
          </p:cNvPr>
          <p:cNvSpPr txBox="1"/>
          <p:nvPr/>
        </p:nvSpPr>
        <p:spPr>
          <a:xfrm>
            <a:off x="296117" y="3429000"/>
            <a:ext cx="1959191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dirty="0" err="1">
                <a:solidFill>
                  <a:schemeClr val="accent1">
                    <a:lumMod val="60000"/>
                    <a:lumOff val="40000"/>
                  </a:schemeClr>
                </a:solidFill>
              </a:rPr>
              <a:t>Homogeneous</a:t>
            </a:r>
            <a:r>
              <a:rPr lang="fr-BE" dirty="0"/>
              <a:t> set</a:t>
            </a:r>
            <a:endParaRPr lang="de-CH" dirty="0"/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880ADBB1-F896-4AB5-BB3F-6F5756385775}"/>
              </a:ext>
            </a:extLst>
          </p:cNvPr>
          <p:cNvSpPr txBox="1"/>
          <p:nvPr/>
        </p:nvSpPr>
        <p:spPr>
          <a:xfrm>
            <a:off x="5879976" y="5425375"/>
            <a:ext cx="660694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dirty="0"/>
              <a:t>Time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948055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Experimental design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B4F32735-DD40-4C09-B892-07B4E357183F}"/>
              </a:ext>
            </a:extLst>
          </p:cNvPr>
          <p:cNvSpPr txBox="1"/>
          <p:nvPr/>
        </p:nvSpPr>
        <p:spPr>
          <a:xfrm>
            <a:off x="4007768" y="2204864"/>
            <a:ext cx="4009431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dirty="0"/>
              <a:t>Cycle 1 – Cycle 2 – Cycle 3 – Cycle 4…</a:t>
            </a:r>
            <a:endParaRPr lang="de-CH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926B6F0A-C626-4896-91A6-635E1735544C}"/>
              </a:ext>
            </a:extLst>
          </p:cNvPr>
          <p:cNvSpPr txBox="1"/>
          <p:nvPr/>
        </p:nvSpPr>
        <p:spPr>
          <a:xfrm>
            <a:off x="3932102" y="3573016"/>
            <a:ext cx="4252383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BE" dirty="0" err="1"/>
              <a:t>Same</a:t>
            </a:r>
            <a:r>
              <a:rPr lang="fr-BE" dirty="0"/>
              <a:t> </a:t>
            </a:r>
            <a:r>
              <a:rPr lang="fr-BE" dirty="0" err="1"/>
              <a:t>objects</a:t>
            </a:r>
            <a:r>
              <a:rPr lang="fr-BE" dirty="0"/>
              <a:t>, </a:t>
            </a:r>
            <a:r>
              <a:rPr lang="fr-BE" dirty="0" err="1"/>
              <a:t>different</a:t>
            </a:r>
            <a:r>
              <a:rPr lang="fr-BE" dirty="0"/>
              <a:t> </a:t>
            </a:r>
            <a:r>
              <a:rPr lang="fr-BE" dirty="0" err="1"/>
              <a:t>presentation</a:t>
            </a:r>
            <a:r>
              <a:rPr lang="fr-BE" dirty="0"/>
              <a:t> </a:t>
            </a:r>
            <a:r>
              <a:rPr lang="fr-BE" dirty="0" err="1"/>
              <a:t>order</a:t>
            </a:r>
            <a:endParaRPr lang="de-CH" dirty="0"/>
          </a:p>
        </p:txBody>
      </p: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7AE2B470-593E-4CBA-A483-0128842832BF}"/>
              </a:ext>
            </a:extLst>
          </p:cNvPr>
          <p:cNvCxnSpPr>
            <a:endCxn id="10" idx="0"/>
          </p:cNvCxnSpPr>
          <p:nvPr/>
        </p:nvCxnSpPr>
        <p:spPr bwMode="auto">
          <a:xfrm>
            <a:off x="4583832" y="2558807"/>
            <a:ext cx="1474462" cy="1014209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" name="Connecteur droit 30">
            <a:extLst>
              <a:ext uri="{FF2B5EF4-FFF2-40B4-BE49-F238E27FC236}">
                <a16:creationId xmlns:a16="http://schemas.microsoft.com/office/drawing/2014/main" id="{7953BCFD-B3D3-46C3-88CC-20FCFFDDC5C3}"/>
              </a:ext>
            </a:extLst>
          </p:cNvPr>
          <p:cNvCxnSpPr>
            <a:cxnSpLocks/>
            <a:endCxn id="10" idx="0"/>
          </p:cNvCxnSpPr>
          <p:nvPr/>
        </p:nvCxnSpPr>
        <p:spPr bwMode="auto">
          <a:xfrm>
            <a:off x="5447928" y="2558807"/>
            <a:ext cx="610366" cy="1014209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2" name="Connecteur droit 31">
            <a:extLst>
              <a:ext uri="{FF2B5EF4-FFF2-40B4-BE49-F238E27FC236}">
                <a16:creationId xmlns:a16="http://schemas.microsoft.com/office/drawing/2014/main" id="{D8263626-9F52-4358-A788-F4003CA3A86F}"/>
              </a:ext>
            </a:extLst>
          </p:cNvPr>
          <p:cNvCxnSpPr>
            <a:cxnSpLocks/>
            <a:endCxn id="10" idx="0"/>
          </p:cNvCxnSpPr>
          <p:nvPr/>
        </p:nvCxnSpPr>
        <p:spPr bwMode="auto">
          <a:xfrm flipH="1">
            <a:off x="6058294" y="2558807"/>
            <a:ext cx="325738" cy="1014209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3" name="Connecteur droit 32">
            <a:extLst>
              <a:ext uri="{FF2B5EF4-FFF2-40B4-BE49-F238E27FC236}">
                <a16:creationId xmlns:a16="http://schemas.microsoft.com/office/drawing/2014/main" id="{7C057D62-1555-42B4-B961-75A44C9A4862}"/>
              </a:ext>
            </a:extLst>
          </p:cNvPr>
          <p:cNvCxnSpPr>
            <a:cxnSpLocks/>
            <a:endCxn id="10" idx="0"/>
          </p:cNvCxnSpPr>
          <p:nvPr/>
        </p:nvCxnSpPr>
        <p:spPr bwMode="auto">
          <a:xfrm flipH="1">
            <a:off x="6058294" y="2564904"/>
            <a:ext cx="1117826" cy="100811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5" name="ZoneTexte 34">
            <a:extLst>
              <a:ext uri="{FF2B5EF4-FFF2-40B4-BE49-F238E27FC236}">
                <a16:creationId xmlns:a16="http://schemas.microsoft.com/office/drawing/2014/main" id="{53493EB8-D9F6-4903-9C59-76EF423F8123}"/>
              </a:ext>
            </a:extLst>
          </p:cNvPr>
          <p:cNvSpPr txBox="1"/>
          <p:nvPr/>
        </p:nvSpPr>
        <p:spPr>
          <a:xfrm>
            <a:off x="911225" y="4869160"/>
            <a:ext cx="6977488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dirty="0" err="1"/>
              <a:t>We</a:t>
            </a:r>
            <a:r>
              <a:rPr lang="fr-BE" dirty="0"/>
              <a:t> are </a:t>
            </a:r>
            <a:r>
              <a:rPr lang="fr-BE" dirty="0" err="1"/>
              <a:t>interested</a:t>
            </a:r>
            <a:r>
              <a:rPr lang="fr-BE" dirty="0"/>
              <a:t> to </a:t>
            </a:r>
            <a:r>
              <a:rPr lang="fr-BE" b="1" dirty="0"/>
              <a:t>compare</a:t>
            </a:r>
            <a:r>
              <a:rPr lang="fr-BE" dirty="0"/>
              <a:t> </a:t>
            </a:r>
            <a:r>
              <a:rPr lang="fr-BE" dirty="0" err="1"/>
              <a:t>homogeneous</a:t>
            </a:r>
            <a:r>
              <a:rPr lang="fr-BE" dirty="0"/>
              <a:t> and </a:t>
            </a:r>
            <a:r>
              <a:rPr lang="fr-BE" dirty="0" err="1"/>
              <a:t>heterogeneous</a:t>
            </a:r>
            <a:r>
              <a:rPr lang="fr-BE" dirty="0"/>
              <a:t> sets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781688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Experimental design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DFE04C02-AF54-4489-B9EF-5395751223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2812" y="2492896"/>
            <a:ext cx="6606377" cy="2955368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3F50A914-1C5F-4FA8-882F-76E0E2568210}"/>
              </a:ext>
            </a:extLst>
          </p:cNvPr>
          <p:cNvSpPr txBox="1"/>
          <p:nvPr/>
        </p:nvSpPr>
        <p:spPr>
          <a:xfrm>
            <a:off x="8544272" y="3212976"/>
            <a:ext cx="2824641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dirty="0" err="1"/>
              <a:t>Slower</a:t>
            </a:r>
            <a:r>
              <a:rPr lang="fr-BE" dirty="0"/>
              <a:t> </a:t>
            </a:r>
            <a:r>
              <a:rPr lang="fr-BE" dirty="0" err="1"/>
              <a:t>naming</a:t>
            </a:r>
            <a:r>
              <a:rPr lang="fr-BE" dirty="0"/>
              <a:t> </a:t>
            </a:r>
            <a:r>
              <a:rPr lang="fr-BE" dirty="0" err="1"/>
              <a:t>latencies</a:t>
            </a:r>
            <a:r>
              <a:rPr lang="fr-BE" dirty="0"/>
              <a:t> for </a:t>
            </a:r>
            <a:r>
              <a:rPr lang="fr-BE" dirty="0" err="1"/>
              <a:t>homogeneous</a:t>
            </a:r>
            <a:r>
              <a:rPr lang="fr-BE" dirty="0"/>
              <a:t> sets </a:t>
            </a:r>
            <a:r>
              <a:rPr lang="fr-BE" dirty="0" err="1"/>
              <a:t>from</a:t>
            </a:r>
            <a:r>
              <a:rPr lang="fr-BE" dirty="0"/>
              <a:t> cycle 2 on</a:t>
            </a:r>
          </a:p>
          <a:p>
            <a:r>
              <a:rPr lang="fr-BE" dirty="0">
                <a:sym typeface="Wingdings" panose="05000000000000000000" pitchFamily="2" charset="2"/>
              </a:rPr>
              <a:t> </a:t>
            </a:r>
            <a:r>
              <a:rPr lang="fr-BE" b="1" dirty="0">
                <a:sym typeface="Wingdings" panose="05000000000000000000" pitchFamily="2" charset="2"/>
              </a:rPr>
              <a:t>The </a:t>
            </a:r>
            <a:r>
              <a:rPr lang="fr-BE" b="1" dirty="0" err="1"/>
              <a:t>refractory</a:t>
            </a:r>
            <a:r>
              <a:rPr lang="fr-BE" b="1" dirty="0">
                <a:sym typeface="Wingdings" panose="05000000000000000000" pitchFamily="2" charset="2"/>
              </a:rPr>
              <a:t> </a:t>
            </a:r>
            <a:r>
              <a:rPr lang="fr-BE" b="1" dirty="0" err="1">
                <a:sym typeface="Wingdings" panose="05000000000000000000" pitchFamily="2" charset="2"/>
              </a:rPr>
              <a:t>effect</a:t>
            </a:r>
            <a:r>
              <a:rPr lang="fr-BE" dirty="0">
                <a:sym typeface="Wingdings" panose="05000000000000000000" pitchFamily="2" charset="2"/>
              </a:rPr>
              <a:t>.</a:t>
            </a:r>
            <a:endParaRPr lang="de-CH" dirty="0"/>
          </a:p>
        </p:txBody>
      </p:sp>
      <p:cxnSp>
        <p:nvCxnSpPr>
          <p:cNvPr id="14" name="Connecteur droit avec flèche 13">
            <a:extLst>
              <a:ext uri="{FF2B5EF4-FFF2-40B4-BE49-F238E27FC236}">
                <a16:creationId xmlns:a16="http://schemas.microsoft.com/office/drawing/2014/main" id="{8A2CD1AA-8AB9-444A-8DF0-97B98B403D4B}"/>
              </a:ext>
            </a:extLst>
          </p:cNvPr>
          <p:cNvCxnSpPr>
            <a:stCxn id="11" idx="1"/>
          </p:cNvCxnSpPr>
          <p:nvPr/>
        </p:nvCxnSpPr>
        <p:spPr bwMode="auto">
          <a:xfrm flipH="1">
            <a:off x="7752184" y="3782363"/>
            <a:ext cx="792088" cy="667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9" name="ZoneTexte 18">
            <a:extLst>
              <a:ext uri="{FF2B5EF4-FFF2-40B4-BE49-F238E27FC236}">
                <a16:creationId xmlns:a16="http://schemas.microsoft.com/office/drawing/2014/main" id="{CA233689-BCF9-4E09-BB71-182DBB63857D}"/>
              </a:ext>
            </a:extLst>
          </p:cNvPr>
          <p:cNvSpPr txBox="1"/>
          <p:nvPr/>
        </p:nvSpPr>
        <p:spPr>
          <a:xfrm>
            <a:off x="695400" y="3036004"/>
            <a:ext cx="2824641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dirty="0"/>
              <a:t>No </a:t>
            </a:r>
            <a:r>
              <a:rPr lang="fr-BE" dirty="0" err="1"/>
              <a:t>effect</a:t>
            </a:r>
            <a:r>
              <a:rPr lang="fr-BE" dirty="0"/>
              <a:t> in the first cycle</a:t>
            </a:r>
            <a:endParaRPr lang="de-CH" dirty="0"/>
          </a:p>
        </p:txBody>
      </p:sp>
      <p:cxnSp>
        <p:nvCxnSpPr>
          <p:cNvPr id="20" name="Connecteur droit avec flèche 19">
            <a:extLst>
              <a:ext uri="{FF2B5EF4-FFF2-40B4-BE49-F238E27FC236}">
                <a16:creationId xmlns:a16="http://schemas.microsoft.com/office/drawing/2014/main" id="{8BF2B481-F1CA-4948-8473-8B273C595B62}"/>
              </a:ext>
            </a:extLst>
          </p:cNvPr>
          <p:cNvCxnSpPr>
            <a:cxnSpLocks/>
            <a:stCxn id="19" idx="3"/>
          </p:cNvCxnSpPr>
          <p:nvPr/>
        </p:nvCxnSpPr>
        <p:spPr bwMode="auto">
          <a:xfrm>
            <a:off x="3520041" y="3212976"/>
            <a:ext cx="1279815" cy="17697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" name="ZoneTexte 17">
            <a:extLst>
              <a:ext uri="{FF2B5EF4-FFF2-40B4-BE49-F238E27FC236}">
                <a16:creationId xmlns:a16="http://schemas.microsoft.com/office/drawing/2014/main" id="{A3845275-5247-424A-A4DE-1A20C01E5CDD}"/>
              </a:ext>
            </a:extLst>
          </p:cNvPr>
          <p:cNvSpPr txBox="1"/>
          <p:nvPr/>
        </p:nvSpPr>
        <p:spPr>
          <a:xfrm>
            <a:off x="119336" y="6370736"/>
            <a:ext cx="28502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sz="1400" dirty="0" err="1"/>
              <a:t>Belke</a:t>
            </a:r>
            <a:r>
              <a:rPr lang="fr-BE" sz="1400" dirty="0"/>
              <a:t>, Meyer, and Damian (2005)</a:t>
            </a:r>
            <a:endParaRPr lang="de-CH" sz="1400" dirty="0"/>
          </a:p>
        </p:txBody>
      </p:sp>
    </p:spTree>
    <p:extLst>
      <p:ext uri="{BB962C8B-B14F-4D97-AF65-F5344CB8AC3E}">
        <p14:creationId xmlns:p14="http://schemas.microsoft.com/office/powerpoint/2010/main" val="3545536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8336CE5D-37BD-43D7-8649-1606D0D644F2}"/>
              </a:ext>
            </a:extLst>
          </p:cNvPr>
          <p:cNvSpPr txBox="1"/>
          <p:nvPr/>
        </p:nvSpPr>
        <p:spPr>
          <a:xfrm>
            <a:off x="4383384" y="3252029"/>
            <a:ext cx="3425233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dirty="0" err="1"/>
              <a:t>What’s</a:t>
            </a:r>
            <a:r>
              <a:rPr lang="fr-BE" dirty="0"/>
              <a:t> happening </a:t>
            </a:r>
            <a:r>
              <a:rPr lang="fr-BE" i="1" dirty="0" err="1"/>
              <a:t>inside</a:t>
            </a:r>
            <a:r>
              <a:rPr lang="fr-BE" dirty="0"/>
              <a:t> a cycle?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9871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>
            <a:extLst>
              <a:ext uri="{FF2B5EF4-FFF2-40B4-BE49-F238E27FC236}">
                <a16:creationId xmlns:a16="http://schemas.microsoft.com/office/drawing/2014/main" id="{66AB4EC7-6EBD-44EE-AF94-389883C330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1258" y="1988840"/>
            <a:ext cx="7049484" cy="3820058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097ED095-2798-4683-A3AC-E78372D09B14}"/>
              </a:ext>
            </a:extLst>
          </p:cNvPr>
          <p:cNvSpPr txBox="1"/>
          <p:nvPr/>
        </p:nvSpPr>
        <p:spPr>
          <a:xfrm>
            <a:off x="119336" y="6370736"/>
            <a:ext cx="18053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sz="1400" dirty="0"/>
              <a:t>Howard et al. (2006)</a:t>
            </a:r>
            <a:endParaRPr lang="de-CH" sz="1400" dirty="0"/>
          </a:p>
        </p:txBody>
      </p:sp>
    </p:spTree>
    <p:extLst>
      <p:ext uri="{BB962C8B-B14F-4D97-AF65-F5344CB8AC3E}">
        <p14:creationId xmlns:p14="http://schemas.microsoft.com/office/powerpoint/2010/main" val="2681303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Experimental design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A3845275-5247-424A-A4DE-1A20C01E5CDD}"/>
              </a:ext>
            </a:extLst>
          </p:cNvPr>
          <p:cNvSpPr txBox="1"/>
          <p:nvPr/>
        </p:nvSpPr>
        <p:spPr>
          <a:xfrm>
            <a:off x="119336" y="6370736"/>
            <a:ext cx="28502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sz="1400" dirty="0" err="1"/>
              <a:t>Belke</a:t>
            </a:r>
            <a:r>
              <a:rPr lang="fr-BE" sz="1400" dirty="0"/>
              <a:t>, Meyer, and Damian (2005)</a:t>
            </a:r>
            <a:endParaRPr lang="de-CH" sz="1400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0D80EA4E-D96B-43BC-B6AE-F9604FB53F9C}"/>
              </a:ext>
            </a:extLst>
          </p:cNvPr>
          <p:cNvSpPr txBox="1"/>
          <p:nvPr/>
        </p:nvSpPr>
        <p:spPr>
          <a:xfrm>
            <a:off x="2390502" y="3068960"/>
            <a:ext cx="7410996" cy="19236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dirty="0"/>
              <a:t>In </a:t>
            </a:r>
            <a:r>
              <a:rPr lang="fr-BE" dirty="0" err="1"/>
              <a:t>this</a:t>
            </a:r>
            <a:r>
              <a:rPr lang="fr-BE" dirty="0"/>
              <a:t> </a:t>
            </a:r>
            <a:r>
              <a:rPr lang="fr-BE" dirty="0" err="1"/>
              <a:t>experiment</a:t>
            </a:r>
            <a:r>
              <a:rPr lang="fr-BE" dirty="0"/>
              <a:t>, all stimuli </a:t>
            </a:r>
            <a:r>
              <a:rPr lang="fr-BE" dirty="0" err="1"/>
              <a:t>were</a:t>
            </a:r>
            <a:r>
              <a:rPr lang="fr-BE" dirty="0"/>
              <a:t> </a:t>
            </a:r>
            <a:r>
              <a:rPr lang="fr-BE" dirty="0" err="1"/>
              <a:t>kept</a:t>
            </a:r>
            <a:r>
              <a:rPr lang="fr-BE" dirty="0"/>
              <a:t> </a:t>
            </a:r>
            <a:r>
              <a:rPr lang="fr-BE" dirty="0" err="1"/>
              <a:t>identical</a:t>
            </a:r>
            <a:r>
              <a:rPr lang="fr-BE" dirty="0"/>
              <a:t> </a:t>
            </a:r>
            <a:r>
              <a:rPr lang="fr-BE" dirty="0" err="1"/>
              <a:t>throughout</a:t>
            </a:r>
            <a:r>
              <a:rPr lang="fr-BE" dirty="0"/>
              <a:t> successive </a:t>
            </a:r>
            <a:r>
              <a:rPr lang="fr-BE" dirty="0" err="1"/>
              <a:t>presentation</a:t>
            </a:r>
            <a:r>
              <a:rPr lang="fr-BE" dirty="0"/>
              <a:t> cycles.</a:t>
            </a:r>
          </a:p>
          <a:p>
            <a:pPr algn="ctr"/>
            <a:endParaRPr lang="fr-BE" dirty="0"/>
          </a:p>
          <a:p>
            <a:pPr algn="ctr"/>
            <a:r>
              <a:rPr lang="fr-BE" dirty="0"/>
              <a:t>Is the </a:t>
            </a:r>
            <a:r>
              <a:rPr lang="fr-BE" dirty="0" err="1"/>
              <a:t>effect</a:t>
            </a:r>
            <a:r>
              <a:rPr lang="fr-BE" dirty="0"/>
              <a:t> </a:t>
            </a:r>
            <a:r>
              <a:rPr lang="fr-BE" dirty="0" err="1"/>
              <a:t>specific</a:t>
            </a:r>
            <a:r>
              <a:rPr lang="fr-BE" dirty="0"/>
              <a:t> to the </a:t>
            </a:r>
            <a:r>
              <a:rPr lang="fr-BE" dirty="0" err="1"/>
              <a:t>repeated</a:t>
            </a:r>
            <a:r>
              <a:rPr lang="fr-BE" dirty="0"/>
              <a:t> items?</a:t>
            </a:r>
          </a:p>
          <a:p>
            <a:pPr algn="ctr"/>
            <a:endParaRPr lang="fr-BE" dirty="0"/>
          </a:p>
          <a:p>
            <a:pPr algn="ctr"/>
            <a:r>
              <a:rPr lang="fr-BE" b="1" dirty="0"/>
              <a:t>Solution</a:t>
            </a:r>
            <a:r>
              <a:rPr lang="fr-BE" dirty="0"/>
              <a:t>: </a:t>
            </a:r>
            <a:r>
              <a:rPr lang="fr-BE" dirty="0" err="1"/>
              <a:t>we</a:t>
            </a:r>
            <a:r>
              <a:rPr lang="fr-BE" dirty="0"/>
              <a:t> can test </a:t>
            </a:r>
            <a:r>
              <a:rPr lang="fr-BE" dirty="0" err="1"/>
              <a:t>whether</a:t>
            </a:r>
            <a:r>
              <a:rPr lang="fr-BE" dirty="0"/>
              <a:t> </a:t>
            </a:r>
            <a:r>
              <a:rPr lang="fr-BE" dirty="0" err="1"/>
              <a:t>it</a:t>
            </a:r>
            <a:r>
              <a:rPr lang="fr-BE" dirty="0"/>
              <a:t> </a:t>
            </a:r>
            <a:r>
              <a:rPr lang="fr-BE" dirty="0" err="1"/>
              <a:t>will</a:t>
            </a:r>
            <a:r>
              <a:rPr lang="fr-BE" dirty="0"/>
              <a:t> </a:t>
            </a:r>
            <a:r>
              <a:rPr lang="fr-BE" dirty="0" err="1"/>
              <a:t>generalize</a:t>
            </a:r>
            <a:r>
              <a:rPr lang="fr-BE" dirty="0"/>
              <a:t> for not-</a:t>
            </a:r>
            <a:r>
              <a:rPr lang="fr-BE" dirty="0" err="1"/>
              <a:t>yet</a:t>
            </a:r>
            <a:r>
              <a:rPr lang="fr-BE" dirty="0"/>
              <a:t>-</a:t>
            </a:r>
            <a:r>
              <a:rPr lang="fr-BE" dirty="0" err="1"/>
              <a:t>presented</a:t>
            </a:r>
            <a:r>
              <a:rPr lang="fr-BE" dirty="0"/>
              <a:t> items </a:t>
            </a:r>
            <a:r>
              <a:rPr lang="fr-BE" dirty="0" err="1"/>
              <a:t>from</a:t>
            </a:r>
            <a:r>
              <a:rPr lang="fr-BE" dirty="0"/>
              <a:t> the </a:t>
            </a:r>
            <a:r>
              <a:rPr lang="fr-BE" dirty="0" err="1"/>
              <a:t>same</a:t>
            </a:r>
            <a:r>
              <a:rPr lang="fr-BE" dirty="0"/>
              <a:t> </a:t>
            </a:r>
            <a:r>
              <a:rPr lang="fr-BE" dirty="0" err="1"/>
              <a:t>category</a:t>
            </a:r>
            <a:r>
              <a:rPr lang="fr-BE" dirty="0"/>
              <a:t>.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907766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ZoneTexte 17">
            <a:extLst>
              <a:ext uri="{FF2B5EF4-FFF2-40B4-BE49-F238E27FC236}">
                <a16:creationId xmlns:a16="http://schemas.microsoft.com/office/drawing/2014/main" id="{A3845275-5247-424A-A4DE-1A20C01E5CDD}"/>
              </a:ext>
            </a:extLst>
          </p:cNvPr>
          <p:cNvSpPr txBox="1"/>
          <p:nvPr/>
        </p:nvSpPr>
        <p:spPr>
          <a:xfrm>
            <a:off x="119336" y="6370736"/>
            <a:ext cx="28502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sz="1400" dirty="0" err="1"/>
              <a:t>Belke</a:t>
            </a:r>
            <a:r>
              <a:rPr lang="fr-BE" sz="1400" dirty="0"/>
              <a:t>, Meyer, and Damian (2005)</a:t>
            </a:r>
            <a:endParaRPr lang="de-CH" sz="1400" dirty="0"/>
          </a:p>
        </p:txBody>
      </p:sp>
      <p:pic>
        <p:nvPicPr>
          <p:cNvPr id="9" name="Image 8" descr="Une image contenant fruit, cerise&#10;&#10;Description générée automatiquement">
            <a:extLst>
              <a:ext uri="{FF2B5EF4-FFF2-40B4-BE49-F238E27FC236}">
                <a16:creationId xmlns:a16="http://schemas.microsoft.com/office/drawing/2014/main" id="{235E3D80-6B3F-47CF-A444-BA0F4DBCE0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1052621" y="2416969"/>
            <a:ext cx="1436201" cy="107715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Image 6" descr="Une image contenant fruit, banane&#10;&#10;Description générée automatiquement">
            <a:extLst>
              <a:ext uri="{FF2B5EF4-FFF2-40B4-BE49-F238E27FC236}">
                <a16:creationId xmlns:a16="http://schemas.microsoft.com/office/drawing/2014/main" id="{BAA9D26F-A6C7-4835-A725-1C693BA1E1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4710" y="2639025"/>
            <a:ext cx="1437344" cy="107800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Image 5" descr="Une image contenant fruit, pomme, rouge, cerise&#10;&#10;Description générée automatiquement">
            <a:extLst>
              <a:ext uri="{FF2B5EF4-FFF2-40B4-BE49-F238E27FC236}">
                <a16:creationId xmlns:a16="http://schemas.microsoft.com/office/drawing/2014/main" id="{FA404749-6D60-4318-BE49-8BC87A6382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1973" y="2852936"/>
            <a:ext cx="1440161" cy="108012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5" name="Accolade ouvrante 14">
            <a:extLst>
              <a:ext uri="{FF2B5EF4-FFF2-40B4-BE49-F238E27FC236}">
                <a16:creationId xmlns:a16="http://schemas.microsoft.com/office/drawing/2014/main" id="{89A3E2DF-5EA9-41CD-9611-AC0100F2858D}"/>
              </a:ext>
            </a:extLst>
          </p:cNvPr>
          <p:cNvSpPr/>
          <p:nvPr/>
        </p:nvSpPr>
        <p:spPr bwMode="auto">
          <a:xfrm rot="6121035">
            <a:off x="2694896" y="394840"/>
            <a:ext cx="648072" cy="3735536"/>
          </a:xfrm>
          <a:prstGeom prst="lef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4AB0C78B-D14B-4F25-9275-4893DB620DC7}"/>
              </a:ext>
            </a:extLst>
          </p:cNvPr>
          <p:cNvSpPr txBox="1"/>
          <p:nvPr/>
        </p:nvSpPr>
        <p:spPr>
          <a:xfrm>
            <a:off x="2639616" y="1490861"/>
            <a:ext cx="912429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BE" dirty="0"/>
              <a:t>Cycle 1</a:t>
            </a:r>
            <a:endParaRPr lang="de-CH" dirty="0"/>
          </a:p>
        </p:txBody>
      </p:sp>
      <p:pic>
        <p:nvPicPr>
          <p:cNvPr id="10" name="Image 9" descr="Une image contenant poire, fruit, orange&#10;&#10;Description générée automatiquement">
            <a:extLst>
              <a:ext uri="{FF2B5EF4-FFF2-40B4-BE49-F238E27FC236}">
                <a16:creationId xmlns:a16="http://schemas.microsoft.com/office/drawing/2014/main" id="{8664118A-D097-4C6F-BFBA-BC7F83BE5D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12862" y="3068960"/>
            <a:ext cx="1440161" cy="108012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9" name="Image 18" descr="Une image contenant fruit, cerise&#10;&#10;Description générée automatiquement">
            <a:extLst>
              <a:ext uri="{FF2B5EF4-FFF2-40B4-BE49-F238E27FC236}">
                <a16:creationId xmlns:a16="http://schemas.microsoft.com/office/drawing/2014/main" id="{ED2BDF00-99F5-4226-A2F5-865A062E9D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3935759" y="3281066"/>
            <a:ext cx="1436201" cy="107715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5" name="Image 24" descr="Une image contenant fruit, pomme, rouge, cerise&#10;&#10;Description générée automatiquement">
            <a:extLst>
              <a:ext uri="{FF2B5EF4-FFF2-40B4-BE49-F238E27FC236}">
                <a16:creationId xmlns:a16="http://schemas.microsoft.com/office/drawing/2014/main" id="{E0E0F50D-B6C5-48D7-9B8F-ED97DCC1B7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35759" y="3278096"/>
            <a:ext cx="1440161" cy="108012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0" name="Image 19" descr="Une image contenant fruit, banane&#10;&#10;Description générée automatiquement">
            <a:extLst>
              <a:ext uri="{FF2B5EF4-FFF2-40B4-BE49-F238E27FC236}">
                <a16:creationId xmlns:a16="http://schemas.microsoft.com/office/drawing/2014/main" id="{7827A0D5-F786-4FFB-ABD5-15C4D7F618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7848" y="3503122"/>
            <a:ext cx="1437344" cy="107800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1" name="Image 20" descr="Une image contenant fruit, pomme, rouge, cerise&#10;&#10;Description générée automatiquement">
            <a:extLst>
              <a:ext uri="{FF2B5EF4-FFF2-40B4-BE49-F238E27FC236}">
                <a16:creationId xmlns:a16="http://schemas.microsoft.com/office/drawing/2014/main" id="{2E6F7C1F-3552-43F6-9471-EC55EC16DA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5111" y="3717033"/>
            <a:ext cx="1440161" cy="108012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2" name="Accolade ouvrante 21">
            <a:extLst>
              <a:ext uri="{FF2B5EF4-FFF2-40B4-BE49-F238E27FC236}">
                <a16:creationId xmlns:a16="http://schemas.microsoft.com/office/drawing/2014/main" id="{38E1A482-4F7C-4CF5-83D0-7198B3D37378}"/>
              </a:ext>
            </a:extLst>
          </p:cNvPr>
          <p:cNvSpPr/>
          <p:nvPr/>
        </p:nvSpPr>
        <p:spPr bwMode="auto">
          <a:xfrm rot="6121035">
            <a:off x="5578034" y="1258937"/>
            <a:ext cx="648072" cy="3735536"/>
          </a:xfrm>
          <a:prstGeom prst="lef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267BB372-BD44-4442-8613-1BDC2AF71155}"/>
              </a:ext>
            </a:extLst>
          </p:cNvPr>
          <p:cNvSpPr txBox="1"/>
          <p:nvPr/>
        </p:nvSpPr>
        <p:spPr>
          <a:xfrm>
            <a:off x="5522754" y="2354958"/>
            <a:ext cx="912429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BE" dirty="0"/>
              <a:t>Cycle 2</a:t>
            </a:r>
            <a:endParaRPr lang="de-CH" dirty="0"/>
          </a:p>
        </p:txBody>
      </p:sp>
      <p:pic>
        <p:nvPicPr>
          <p:cNvPr id="26" name="Image 25" descr="Une image contenant fruit, cerise&#10;&#10;Description générée automatiquement">
            <a:extLst>
              <a:ext uri="{FF2B5EF4-FFF2-40B4-BE49-F238E27FC236}">
                <a16:creationId xmlns:a16="http://schemas.microsoft.com/office/drawing/2014/main" id="{0FFDF199-CF2B-4872-85CE-597118D113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5445111" y="3717033"/>
            <a:ext cx="1436201" cy="107715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4" name="Image 23" descr="Une image contenant poire, fruit, orange&#10;&#10;Description générée automatiquement">
            <a:extLst>
              <a:ext uri="{FF2B5EF4-FFF2-40B4-BE49-F238E27FC236}">
                <a16:creationId xmlns:a16="http://schemas.microsoft.com/office/drawing/2014/main" id="{0A11A850-DF93-4AAF-AE2E-C32D05B149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3933057"/>
            <a:ext cx="1440161" cy="108012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8" name="Image 27" descr="Une image contenant fruit, melon, pastèque&#10;&#10;Description générée automatiquement">
            <a:extLst>
              <a:ext uri="{FF2B5EF4-FFF2-40B4-BE49-F238E27FC236}">
                <a16:creationId xmlns:a16="http://schemas.microsoft.com/office/drawing/2014/main" id="{3270454C-C06D-4990-921F-179932496BC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4983" y="4505400"/>
            <a:ext cx="1435200" cy="10764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0" name="Image 29" descr="Une image contenant fruit&#10;&#10;Description générée automatiquement">
            <a:extLst>
              <a:ext uri="{FF2B5EF4-FFF2-40B4-BE49-F238E27FC236}">
                <a16:creationId xmlns:a16="http://schemas.microsoft.com/office/drawing/2014/main" id="{CEF8DC62-8302-4FFD-BF23-EF5FC3CFAD5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31047" y="4687280"/>
            <a:ext cx="1435200" cy="10764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2" name="Image 31" descr="Une image contenant agrume, fruit, orange&#10;&#10;Description générée automatiquement">
            <a:extLst>
              <a:ext uri="{FF2B5EF4-FFF2-40B4-BE49-F238E27FC236}">
                <a16:creationId xmlns:a16="http://schemas.microsoft.com/office/drawing/2014/main" id="{30C7A317-485D-4381-BB28-32450C20DF0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48647" y="4869160"/>
            <a:ext cx="1435200" cy="10764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4" name="Image 33" descr="Une image contenant fruit&#10;&#10;Description générée automatiquement">
            <a:extLst>
              <a:ext uri="{FF2B5EF4-FFF2-40B4-BE49-F238E27FC236}">
                <a16:creationId xmlns:a16="http://schemas.microsoft.com/office/drawing/2014/main" id="{C3E52A1C-BCB6-4856-960B-EA2BEFE92E9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12862" y="5085184"/>
            <a:ext cx="1435200" cy="10764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5" name="Accolade ouvrante 34">
            <a:extLst>
              <a:ext uri="{FF2B5EF4-FFF2-40B4-BE49-F238E27FC236}">
                <a16:creationId xmlns:a16="http://schemas.microsoft.com/office/drawing/2014/main" id="{425C441E-DAE7-4736-9018-E23EF24817AF}"/>
              </a:ext>
            </a:extLst>
          </p:cNvPr>
          <p:cNvSpPr/>
          <p:nvPr/>
        </p:nvSpPr>
        <p:spPr bwMode="auto">
          <a:xfrm rot="6121035">
            <a:off x="9610482" y="2439595"/>
            <a:ext cx="648072" cy="3735536"/>
          </a:xfrm>
          <a:prstGeom prst="leftBrac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E5270DC7-B6BA-4D31-A9C4-D554EE904B44}"/>
              </a:ext>
            </a:extLst>
          </p:cNvPr>
          <p:cNvSpPr txBox="1"/>
          <p:nvPr/>
        </p:nvSpPr>
        <p:spPr>
          <a:xfrm>
            <a:off x="9537569" y="3535616"/>
            <a:ext cx="947696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BE" dirty="0"/>
              <a:t>Cycle </a:t>
            </a:r>
            <a:r>
              <a:rPr lang="de-CH" dirty="0"/>
              <a:t>N</a:t>
            </a:r>
            <a:endParaRPr lang="fr-BE" dirty="0"/>
          </a:p>
        </p:txBody>
      </p:sp>
      <p:cxnSp>
        <p:nvCxnSpPr>
          <p:cNvPr id="3" name="Connecteur droit 2">
            <a:extLst>
              <a:ext uri="{FF2B5EF4-FFF2-40B4-BE49-F238E27FC236}">
                <a16:creationId xmlns:a16="http://schemas.microsoft.com/office/drawing/2014/main" id="{4FCF4266-1E04-4A87-B37A-BD7E781575FF}"/>
              </a:ext>
            </a:extLst>
          </p:cNvPr>
          <p:cNvCxnSpPr/>
          <p:nvPr/>
        </p:nvCxnSpPr>
        <p:spPr bwMode="auto">
          <a:xfrm>
            <a:off x="7896200" y="2564904"/>
            <a:ext cx="0" cy="352839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" name="ZoneTexte 3">
            <a:extLst>
              <a:ext uri="{FF2B5EF4-FFF2-40B4-BE49-F238E27FC236}">
                <a16:creationId xmlns:a16="http://schemas.microsoft.com/office/drawing/2014/main" id="{EB453D48-89EB-4E67-9D7E-9B875104300B}"/>
              </a:ext>
            </a:extLst>
          </p:cNvPr>
          <p:cNvSpPr txBox="1"/>
          <p:nvPr/>
        </p:nvSpPr>
        <p:spPr>
          <a:xfrm>
            <a:off x="7464152" y="1943050"/>
            <a:ext cx="1850186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dirty="0" err="1"/>
              <a:t>Category</a:t>
            </a:r>
            <a:r>
              <a:rPr lang="fr-BE" dirty="0"/>
              <a:t> change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153061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ZoneTexte 17">
            <a:extLst>
              <a:ext uri="{FF2B5EF4-FFF2-40B4-BE49-F238E27FC236}">
                <a16:creationId xmlns:a16="http://schemas.microsoft.com/office/drawing/2014/main" id="{A3845275-5247-424A-A4DE-1A20C01E5CDD}"/>
              </a:ext>
            </a:extLst>
          </p:cNvPr>
          <p:cNvSpPr txBox="1"/>
          <p:nvPr/>
        </p:nvSpPr>
        <p:spPr>
          <a:xfrm>
            <a:off x="119336" y="6370736"/>
            <a:ext cx="28502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sz="1400" dirty="0" err="1"/>
              <a:t>Belke</a:t>
            </a:r>
            <a:r>
              <a:rPr lang="fr-BE" sz="1400" dirty="0"/>
              <a:t>, Meyer, and Damian (2005)</a:t>
            </a:r>
            <a:endParaRPr lang="de-CH" sz="1400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02D8AA87-8E8C-480D-9FC5-CD7215FAA5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8098" y="1844824"/>
            <a:ext cx="5035804" cy="3320136"/>
          </a:xfrm>
          <a:prstGeom prst="rect">
            <a:avLst/>
          </a:prstGeom>
        </p:spPr>
      </p:pic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8A704AFA-DCA9-4368-827C-C771A70D6508}"/>
              </a:ext>
            </a:extLst>
          </p:cNvPr>
          <p:cNvCxnSpPr>
            <a:cxnSpLocks/>
          </p:cNvCxnSpPr>
          <p:nvPr/>
        </p:nvCxnSpPr>
        <p:spPr bwMode="auto">
          <a:xfrm flipV="1">
            <a:off x="6312024" y="1772816"/>
            <a:ext cx="0" cy="3024336"/>
          </a:xfrm>
          <a:prstGeom prst="line">
            <a:avLst/>
          </a:prstGeom>
          <a:ln>
            <a:headEnd type="none" w="med" len="med"/>
            <a:tailEnd type="none" w="med" len="med"/>
          </a:ln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1" name="ZoneTexte 10">
            <a:extLst>
              <a:ext uri="{FF2B5EF4-FFF2-40B4-BE49-F238E27FC236}">
                <a16:creationId xmlns:a16="http://schemas.microsoft.com/office/drawing/2014/main" id="{2AFB7B80-E1C2-46C6-8B4D-A3E4A47C6361}"/>
              </a:ext>
            </a:extLst>
          </p:cNvPr>
          <p:cNvSpPr txBox="1"/>
          <p:nvPr/>
        </p:nvSpPr>
        <p:spPr>
          <a:xfrm>
            <a:off x="4208205" y="5661248"/>
            <a:ext cx="4372607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dirty="0"/>
              <a:t>The </a:t>
            </a:r>
            <a:r>
              <a:rPr lang="fr-BE" dirty="0" err="1"/>
              <a:t>refractory</a:t>
            </a:r>
            <a:r>
              <a:rPr lang="fr-BE" dirty="0"/>
              <a:t> </a:t>
            </a:r>
            <a:r>
              <a:rPr lang="fr-BE" dirty="0" err="1"/>
              <a:t>effect</a:t>
            </a:r>
            <a:r>
              <a:rPr lang="fr-BE" dirty="0"/>
              <a:t> expands to new items!</a:t>
            </a:r>
            <a:endParaRPr lang="de-CH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697F0B07-1D9D-4890-B800-FD539F22B081}"/>
              </a:ext>
            </a:extLst>
          </p:cNvPr>
          <p:cNvSpPr txBox="1"/>
          <p:nvPr/>
        </p:nvSpPr>
        <p:spPr>
          <a:xfrm>
            <a:off x="5469415" y="1242737"/>
            <a:ext cx="1850186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dirty="0" err="1"/>
              <a:t>Category</a:t>
            </a:r>
            <a:r>
              <a:rPr lang="fr-BE" dirty="0"/>
              <a:t> change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666151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ZoneTexte 10">
            <a:extLst>
              <a:ext uri="{FF2B5EF4-FFF2-40B4-BE49-F238E27FC236}">
                <a16:creationId xmlns:a16="http://schemas.microsoft.com/office/drawing/2014/main" id="{2AFB7B80-E1C2-46C6-8B4D-A3E4A47C6361}"/>
              </a:ext>
            </a:extLst>
          </p:cNvPr>
          <p:cNvSpPr txBox="1"/>
          <p:nvPr/>
        </p:nvSpPr>
        <p:spPr>
          <a:xfrm>
            <a:off x="3134297" y="3429000"/>
            <a:ext cx="592341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BE" dirty="0"/>
              <a:t>How can </a:t>
            </a:r>
            <a:r>
              <a:rPr lang="fr-BE" dirty="0" err="1"/>
              <a:t>we</a:t>
            </a:r>
            <a:r>
              <a:rPr lang="fr-BE" dirty="0"/>
              <a:t> </a:t>
            </a:r>
            <a:r>
              <a:rPr lang="fr-BE" dirty="0" err="1"/>
              <a:t>explain</a:t>
            </a:r>
            <a:r>
              <a:rPr lang="fr-BE" dirty="0"/>
              <a:t> the </a:t>
            </a:r>
            <a:r>
              <a:rPr lang="fr-BE" dirty="0" err="1"/>
              <a:t>semantic</a:t>
            </a:r>
            <a:r>
              <a:rPr lang="fr-BE" dirty="0"/>
              <a:t> blocking </a:t>
            </a:r>
            <a:r>
              <a:rPr lang="fr-BE" dirty="0" err="1"/>
              <a:t>effect</a:t>
            </a:r>
            <a:r>
              <a:rPr lang="fr-BE" dirty="0"/>
              <a:t>?</a:t>
            </a:r>
          </a:p>
          <a:p>
            <a:pPr algn="ctr"/>
            <a:r>
              <a:rPr lang="fr-BE" dirty="0" err="1"/>
              <a:t>What</a:t>
            </a:r>
            <a:r>
              <a:rPr lang="fr-BE" dirty="0"/>
              <a:t> </a:t>
            </a:r>
            <a:r>
              <a:rPr lang="fr-BE" dirty="0" err="1"/>
              <a:t>does</a:t>
            </a:r>
            <a:r>
              <a:rPr lang="fr-BE" dirty="0"/>
              <a:t> </a:t>
            </a:r>
            <a:r>
              <a:rPr lang="fr-BE" dirty="0" err="1"/>
              <a:t>it</a:t>
            </a:r>
            <a:r>
              <a:rPr lang="fr-BE" dirty="0"/>
              <a:t> tell us about the </a:t>
            </a:r>
            <a:r>
              <a:rPr lang="fr-BE" dirty="0" err="1"/>
              <a:t>language</a:t>
            </a:r>
            <a:r>
              <a:rPr lang="fr-BE" dirty="0"/>
              <a:t> production system?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959742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1">
            <a:extLst>
              <a:ext uri="{FF2B5EF4-FFF2-40B4-BE49-F238E27FC236}">
                <a16:creationId xmlns:a16="http://schemas.microsoft.com/office/drawing/2014/main" id="{711F4C10-173B-40F1-BE85-AFE98D3F6846}"/>
              </a:ext>
            </a:extLst>
          </p:cNvPr>
          <p:cNvSpPr/>
          <p:nvPr/>
        </p:nvSpPr>
        <p:spPr bwMode="auto">
          <a:xfrm>
            <a:off x="3287688" y="2708920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60A023F6-EA86-4D13-9722-A2912DCEF4A7}"/>
              </a:ext>
            </a:extLst>
          </p:cNvPr>
          <p:cNvSpPr/>
          <p:nvPr/>
        </p:nvSpPr>
        <p:spPr bwMode="auto">
          <a:xfrm>
            <a:off x="3719736" y="3284984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0A8F6847-97A8-47F0-84F5-EE64EAA4025C}"/>
              </a:ext>
            </a:extLst>
          </p:cNvPr>
          <p:cNvSpPr/>
          <p:nvPr/>
        </p:nvSpPr>
        <p:spPr bwMode="auto">
          <a:xfrm>
            <a:off x="4367808" y="2528900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AB71A8C1-33EA-497E-A568-42C877929C36}"/>
              </a:ext>
            </a:extLst>
          </p:cNvPr>
          <p:cNvSpPr/>
          <p:nvPr/>
        </p:nvSpPr>
        <p:spPr bwMode="auto">
          <a:xfrm>
            <a:off x="4485556" y="3212976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8EFAF788-D7E8-4F35-84D1-08C56E7AA6B6}"/>
              </a:ext>
            </a:extLst>
          </p:cNvPr>
          <p:cNvSpPr/>
          <p:nvPr/>
        </p:nvSpPr>
        <p:spPr bwMode="auto">
          <a:xfrm>
            <a:off x="2639616" y="3392996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343C4F73-5949-48BA-83F0-C868FC22FAC9}"/>
              </a:ext>
            </a:extLst>
          </p:cNvPr>
          <p:cNvSpPr/>
          <p:nvPr/>
        </p:nvSpPr>
        <p:spPr bwMode="auto">
          <a:xfrm>
            <a:off x="3262586" y="1916832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78972C6A-1511-48BE-91B2-E7AAAF90263E}"/>
              </a:ext>
            </a:extLst>
          </p:cNvPr>
          <p:cNvSpPr/>
          <p:nvPr/>
        </p:nvSpPr>
        <p:spPr bwMode="auto">
          <a:xfrm>
            <a:off x="5447928" y="2852936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6D4A7B67-3776-4881-B95E-710968BD9FA5}"/>
              </a:ext>
            </a:extLst>
          </p:cNvPr>
          <p:cNvSpPr/>
          <p:nvPr/>
        </p:nvSpPr>
        <p:spPr bwMode="auto">
          <a:xfrm>
            <a:off x="6096000" y="1988840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AE011C1A-BF53-49C0-B903-87FF86F37029}"/>
              </a:ext>
            </a:extLst>
          </p:cNvPr>
          <p:cNvSpPr/>
          <p:nvPr/>
        </p:nvSpPr>
        <p:spPr bwMode="auto">
          <a:xfrm>
            <a:off x="6744072" y="3104964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1FB70D76-56FF-4CC9-A0F6-E07FFAD3CDD7}"/>
              </a:ext>
            </a:extLst>
          </p:cNvPr>
          <p:cNvSpPr/>
          <p:nvPr/>
        </p:nvSpPr>
        <p:spPr bwMode="auto">
          <a:xfrm>
            <a:off x="5915980" y="3717032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4AF10B54-73AD-4831-BCAF-9FA14E9DC38D}"/>
              </a:ext>
            </a:extLst>
          </p:cNvPr>
          <p:cNvSpPr/>
          <p:nvPr/>
        </p:nvSpPr>
        <p:spPr bwMode="auto">
          <a:xfrm>
            <a:off x="3467708" y="5229200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DA6D3369-733C-4FDE-AD6D-5C9AE65BA8C0}"/>
              </a:ext>
            </a:extLst>
          </p:cNvPr>
          <p:cNvSpPr/>
          <p:nvPr/>
        </p:nvSpPr>
        <p:spPr bwMode="auto">
          <a:xfrm>
            <a:off x="4187788" y="5229200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3215B85C-CFCD-4E08-8D07-B1EE130BC189}"/>
              </a:ext>
            </a:extLst>
          </p:cNvPr>
          <p:cNvSpPr/>
          <p:nvPr/>
        </p:nvSpPr>
        <p:spPr bwMode="auto">
          <a:xfrm>
            <a:off x="4943872" y="5254054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0821C9CD-58F2-4E43-B235-AE66856A8ECE}"/>
              </a:ext>
            </a:extLst>
          </p:cNvPr>
          <p:cNvSpPr/>
          <p:nvPr/>
        </p:nvSpPr>
        <p:spPr bwMode="auto">
          <a:xfrm>
            <a:off x="5714690" y="5280942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5256DBAE-2198-4549-B9E0-DD80557AB8A6}"/>
              </a:ext>
            </a:extLst>
          </p:cNvPr>
          <p:cNvSpPr/>
          <p:nvPr/>
        </p:nvSpPr>
        <p:spPr bwMode="auto">
          <a:xfrm>
            <a:off x="6456040" y="5301208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E85FD231-01EF-4C88-868F-A3496EB78F8A}"/>
              </a:ext>
            </a:extLst>
          </p:cNvPr>
          <p:cNvSpPr txBox="1"/>
          <p:nvPr/>
        </p:nvSpPr>
        <p:spPr>
          <a:xfrm>
            <a:off x="8904312" y="5321374"/>
            <a:ext cx="1616148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dirty="0"/>
              <a:t>Lexical system</a:t>
            </a:r>
            <a:endParaRPr lang="de-CH" dirty="0"/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E580B6AA-D299-484B-9CC7-825403E7EBF1}"/>
              </a:ext>
            </a:extLst>
          </p:cNvPr>
          <p:cNvSpPr txBox="1"/>
          <p:nvPr/>
        </p:nvSpPr>
        <p:spPr>
          <a:xfrm>
            <a:off x="8673480" y="2931041"/>
            <a:ext cx="1846980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dirty="0" err="1"/>
              <a:t>Semantic</a:t>
            </a:r>
            <a:r>
              <a:rPr lang="fr-BE" dirty="0"/>
              <a:t> system</a:t>
            </a:r>
            <a:endParaRPr lang="de-CH" dirty="0"/>
          </a:p>
        </p:txBody>
      </p: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77DFA180-5775-4F26-A3F1-F7BF6A367F3A}"/>
              </a:ext>
            </a:extLst>
          </p:cNvPr>
          <p:cNvCxnSpPr>
            <a:stCxn id="6" idx="4"/>
            <a:endCxn id="7" idx="0"/>
          </p:cNvCxnSpPr>
          <p:nvPr/>
        </p:nvCxnSpPr>
        <p:spPr bwMode="auto">
          <a:xfrm>
            <a:off x="4547828" y="2888940"/>
            <a:ext cx="117748" cy="32403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2E89A693-49A5-45D3-A6B2-53C0F3B7B8E7}"/>
              </a:ext>
            </a:extLst>
          </p:cNvPr>
          <p:cNvCxnSpPr>
            <a:cxnSpLocks/>
            <a:stCxn id="5" idx="0"/>
            <a:endCxn id="6" idx="3"/>
          </p:cNvCxnSpPr>
          <p:nvPr/>
        </p:nvCxnSpPr>
        <p:spPr bwMode="auto">
          <a:xfrm flipV="1">
            <a:off x="3899756" y="2836213"/>
            <a:ext cx="520779" cy="44877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" name="Connecteur droit 25">
            <a:extLst>
              <a:ext uri="{FF2B5EF4-FFF2-40B4-BE49-F238E27FC236}">
                <a16:creationId xmlns:a16="http://schemas.microsoft.com/office/drawing/2014/main" id="{8641AE00-3651-48C7-B579-1DBF357D961B}"/>
              </a:ext>
            </a:extLst>
          </p:cNvPr>
          <p:cNvCxnSpPr>
            <a:cxnSpLocks/>
            <a:stCxn id="2" idx="6"/>
            <a:endCxn id="6" idx="2"/>
          </p:cNvCxnSpPr>
          <p:nvPr/>
        </p:nvCxnSpPr>
        <p:spPr bwMode="auto">
          <a:xfrm flipV="1">
            <a:off x="3647728" y="2708920"/>
            <a:ext cx="720080" cy="18002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9" name="Connecteur droit 28">
            <a:extLst>
              <a:ext uri="{FF2B5EF4-FFF2-40B4-BE49-F238E27FC236}">
                <a16:creationId xmlns:a16="http://schemas.microsoft.com/office/drawing/2014/main" id="{7CA65CF8-AF41-43CD-B535-6C2488B753D7}"/>
              </a:ext>
            </a:extLst>
          </p:cNvPr>
          <p:cNvCxnSpPr>
            <a:cxnSpLocks/>
            <a:stCxn id="2" idx="0"/>
            <a:endCxn id="10" idx="4"/>
          </p:cNvCxnSpPr>
          <p:nvPr/>
        </p:nvCxnSpPr>
        <p:spPr bwMode="auto">
          <a:xfrm flipH="1" flipV="1">
            <a:off x="3442606" y="2276872"/>
            <a:ext cx="25102" cy="43204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2" name="Connecteur droit 31">
            <a:extLst>
              <a:ext uri="{FF2B5EF4-FFF2-40B4-BE49-F238E27FC236}">
                <a16:creationId xmlns:a16="http://schemas.microsoft.com/office/drawing/2014/main" id="{1833D6F2-23B6-4964-93A5-DAD6D0DDB1AF}"/>
              </a:ext>
            </a:extLst>
          </p:cNvPr>
          <p:cNvCxnSpPr>
            <a:cxnSpLocks/>
            <a:stCxn id="6" idx="1"/>
            <a:endCxn id="10" idx="6"/>
          </p:cNvCxnSpPr>
          <p:nvPr/>
        </p:nvCxnSpPr>
        <p:spPr bwMode="auto">
          <a:xfrm flipH="1" flipV="1">
            <a:off x="3622626" y="2096852"/>
            <a:ext cx="797909" cy="48477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" name="Connecteur droit 34">
            <a:extLst>
              <a:ext uri="{FF2B5EF4-FFF2-40B4-BE49-F238E27FC236}">
                <a16:creationId xmlns:a16="http://schemas.microsoft.com/office/drawing/2014/main" id="{21D03704-E72C-4AB7-9771-A92B6711C96D}"/>
              </a:ext>
            </a:extLst>
          </p:cNvPr>
          <p:cNvCxnSpPr>
            <a:cxnSpLocks/>
            <a:stCxn id="2" idx="4"/>
            <a:endCxn id="9" idx="7"/>
          </p:cNvCxnSpPr>
          <p:nvPr/>
        </p:nvCxnSpPr>
        <p:spPr bwMode="auto">
          <a:xfrm flipH="1">
            <a:off x="2946929" y="3068960"/>
            <a:ext cx="520779" cy="37676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" name="Connecteur droit 37">
            <a:extLst>
              <a:ext uri="{FF2B5EF4-FFF2-40B4-BE49-F238E27FC236}">
                <a16:creationId xmlns:a16="http://schemas.microsoft.com/office/drawing/2014/main" id="{52982353-0022-4189-A713-8C02E9AD3D56}"/>
              </a:ext>
            </a:extLst>
          </p:cNvPr>
          <p:cNvCxnSpPr>
            <a:cxnSpLocks/>
            <a:stCxn id="5" idx="2"/>
            <a:endCxn id="9" idx="6"/>
          </p:cNvCxnSpPr>
          <p:nvPr/>
        </p:nvCxnSpPr>
        <p:spPr bwMode="auto">
          <a:xfrm flipH="1">
            <a:off x="2999656" y="3465004"/>
            <a:ext cx="720080" cy="10801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" name="Connecteur droit 40">
            <a:extLst>
              <a:ext uri="{FF2B5EF4-FFF2-40B4-BE49-F238E27FC236}">
                <a16:creationId xmlns:a16="http://schemas.microsoft.com/office/drawing/2014/main" id="{579E41A8-95F2-4FA1-B45B-8189274F8AAB}"/>
              </a:ext>
            </a:extLst>
          </p:cNvPr>
          <p:cNvCxnSpPr>
            <a:cxnSpLocks/>
            <a:stCxn id="7" idx="2"/>
            <a:endCxn id="5" idx="6"/>
          </p:cNvCxnSpPr>
          <p:nvPr/>
        </p:nvCxnSpPr>
        <p:spPr bwMode="auto">
          <a:xfrm flipH="1">
            <a:off x="4079776" y="3392996"/>
            <a:ext cx="405780" cy="7200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E0432E9D-3A92-4A69-845C-E7B37F640F8F}"/>
              </a:ext>
            </a:extLst>
          </p:cNvPr>
          <p:cNvCxnSpPr>
            <a:cxnSpLocks/>
            <a:stCxn id="12" idx="2"/>
            <a:endCxn id="7" idx="6"/>
          </p:cNvCxnSpPr>
          <p:nvPr/>
        </p:nvCxnSpPr>
        <p:spPr bwMode="auto">
          <a:xfrm flipH="1">
            <a:off x="4845596" y="3032956"/>
            <a:ext cx="602332" cy="36004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7" name="Connecteur droit 46">
            <a:extLst>
              <a:ext uri="{FF2B5EF4-FFF2-40B4-BE49-F238E27FC236}">
                <a16:creationId xmlns:a16="http://schemas.microsoft.com/office/drawing/2014/main" id="{77C8C018-8AF7-4351-9DD2-F43C48B81845}"/>
              </a:ext>
            </a:extLst>
          </p:cNvPr>
          <p:cNvCxnSpPr>
            <a:cxnSpLocks/>
            <a:stCxn id="13" idx="4"/>
            <a:endCxn id="14" idx="1"/>
          </p:cNvCxnSpPr>
          <p:nvPr/>
        </p:nvCxnSpPr>
        <p:spPr bwMode="auto">
          <a:xfrm>
            <a:off x="6276020" y="2348880"/>
            <a:ext cx="520779" cy="80881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1" name="Connecteur droit 50">
            <a:extLst>
              <a:ext uri="{FF2B5EF4-FFF2-40B4-BE49-F238E27FC236}">
                <a16:creationId xmlns:a16="http://schemas.microsoft.com/office/drawing/2014/main" id="{58FE7180-75AD-4A48-8003-D6692D750CE9}"/>
              </a:ext>
            </a:extLst>
          </p:cNvPr>
          <p:cNvCxnSpPr>
            <a:cxnSpLocks/>
            <a:stCxn id="15" idx="2"/>
            <a:endCxn id="7" idx="5"/>
          </p:cNvCxnSpPr>
          <p:nvPr/>
        </p:nvCxnSpPr>
        <p:spPr bwMode="auto">
          <a:xfrm flipH="1" flipV="1">
            <a:off x="4792869" y="3520289"/>
            <a:ext cx="1123111" cy="37676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97D7CD0E-7DDA-4728-B7BB-35405BF58AFF}"/>
              </a:ext>
            </a:extLst>
          </p:cNvPr>
          <p:cNvCxnSpPr>
            <a:cxnSpLocks/>
            <a:stCxn id="16" idx="0"/>
            <a:endCxn id="9" idx="5"/>
          </p:cNvCxnSpPr>
          <p:nvPr/>
        </p:nvCxnSpPr>
        <p:spPr bwMode="auto">
          <a:xfrm flipH="1" flipV="1">
            <a:off x="2946929" y="3700309"/>
            <a:ext cx="700799" cy="152889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8" name="Connecteur droit 57">
            <a:extLst>
              <a:ext uri="{FF2B5EF4-FFF2-40B4-BE49-F238E27FC236}">
                <a16:creationId xmlns:a16="http://schemas.microsoft.com/office/drawing/2014/main" id="{D7411F38-B640-4660-A968-4A3BE19D1601}"/>
              </a:ext>
            </a:extLst>
          </p:cNvPr>
          <p:cNvCxnSpPr>
            <a:cxnSpLocks/>
            <a:stCxn id="17" idx="0"/>
            <a:endCxn id="5" idx="4"/>
          </p:cNvCxnSpPr>
          <p:nvPr/>
        </p:nvCxnSpPr>
        <p:spPr bwMode="auto">
          <a:xfrm flipH="1" flipV="1">
            <a:off x="3899756" y="3645024"/>
            <a:ext cx="468052" cy="158417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2" name="Connecteur droit 61">
            <a:extLst>
              <a:ext uri="{FF2B5EF4-FFF2-40B4-BE49-F238E27FC236}">
                <a16:creationId xmlns:a16="http://schemas.microsoft.com/office/drawing/2014/main" id="{BDD0641C-00C2-4E42-9FC5-8FABD9CA2706}"/>
              </a:ext>
            </a:extLst>
          </p:cNvPr>
          <p:cNvCxnSpPr>
            <a:cxnSpLocks/>
            <a:stCxn id="19" idx="0"/>
            <a:endCxn id="15" idx="4"/>
          </p:cNvCxnSpPr>
          <p:nvPr/>
        </p:nvCxnSpPr>
        <p:spPr bwMode="auto">
          <a:xfrm flipV="1">
            <a:off x="5894710" y="4077072"/>
            <a:ext cx="201290" cy="120387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" name="Connecteur droit 64">
            <a:extLst>
              <a:ext uri="{FF2B5EF4-FFF2-40B4-BE49-F238E27FC236}">
                <a16:creationId xmlns:a16="http://schemas.microsoft.com/office/drawing/2014/main" id="{462FAC7D-556D-4EB7-8223-A2CF969A8C3C}"/>
              </a:ext>
            </a:extLst>
          </p:cNvPr>
          <p:cNvCxnSpPr>
            <a:cxnSpLocks/>
            <a:stCxn id="20" idx="0"/>
            <a:endCxn id="14" idx="4"/>
          </p:cNvCxnSpPr>
          <p:nvPr/>
        </p:nvCxnSpPr>
        <p:spPr bwMode="auto">
          <a:xfrm flipV="1">
            <a:off x="6636060" y="3465004"/>
            <a:ext cx="288032" cy="183620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8" name="Connecteur droit 67">
            <a:extLst>
              <a:ext uri="{FF2B5EF4-FFF2-40B4-BE49-F238E27FC236}">
                <a16:creationId xmlns:a16="http://schemas.microsoft.com/office/drawing/2014/main" id="{767EA400-5860-40DB-B851-FD5ACF736890}"/>
              </a:ext>
            </a:extLst>
          </p:cNvPr>
          <p:cNvCxnSpPr>
            <a:cxnSpLocks/>
            <a:stCxn id="18" idx="0"/>
            <a:endCxn id="7" idx="4"/>
          </p:cNvCxnSpPr>
          <p:nvPr/>
        </p:nvCxnSpPr>
        <p:spPr bwMode="auto">
          <a:xfrm flipH="1" flipV="1">
            <a:off x="4665576" y="3573016"/>
            <a:ext cx="458316" cy="168103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1805775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1">
            <a:extLst>
              <a:ext uri="{FF2B5EF4-FFF2-40B4-BE49-F238E27FC236}">
                <a16:creationId xmlns:a16="http://schemas.microsoft.com/office/drawing/2014/main" id="{711F4C10-173B-40F1-BE85-AFE98D3F6846}"/>
              </a:ext>
            </a:extLst>
          </p:cNvPr>
          <p:cNvSpPr/>
          <p:nvPr/>
        </p:nvSpPr>
        <p:spPr bwMode="auto">
          <a:xfrm>
            <a:off x="3287688" y="2708920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60A023F6-EA86-4D13-9722-A2912DCEF4A7}"/>
              </a:ext>
            </a:extLst>
          </p:cNvPr>
          <p:cNvSpPr/>
          <p:nvPr/>
        </p:nvSpPr>
        <p:spPr bwMode="auto">
          <a:xfrm>
            <a:off x="3719736" y="3284984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0A8F6847-97A8-47F0-84F5-EE64EAA4025C}"/>
              </a:ext>
            </a:extLst>
          </p:cNvPr>
          <p:cNvSpPr/>
          <p:nvPr/>
        </p:nvSpPr>
        <p:spPr bwMode="auto">
          <a:xfrm>
            <a:off x="4367808" y="2528900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AB71A8C1-33EA-497E-A568-42C877929C36}"/>
              </a:ext>
            </a:extLst>
          </p:cNvPr>
          <p:cNvSpPr/>
          <p:nvPr/>
        </p:nvSpPr>
        <p:spPr bwMode="auto">
          <a:xfrm>
            <a:off x="4485556" y="3212976"/>
            <a:ext cx="360040" cy="360040"/>
          </a:xfrm>
          <a:prstGeom prst="ellipse">
            <a:avLst/>
          </a:prstGeom>
          <a:solidFill>
            <a:srgbClr val="CCD4ED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8EFAF788-D7E8-4F35-84D1-08C56E7AA6B6}"/>
              </a:ext>
            </a:extLst>
          </p:cNvPr>
          <p:cNvSpPr/>
          <p:nvPr/>
        </p:nvSpPr>
        <p:spPr bwMode="auto">
          <a:xfrm>
            <a:off x="2639616" y="3392996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343C4F73-5949-48BA-83F0-C868FC22FAC9}"/>
              </a:ext>
            </a:extLst>
          </p:cNvPr>
          <p:cNvSpPr/>
          <p:nvPr/>
        </p:nvSpPr>
        <p:spPr bwMode="auto">
          <a:xfrm>
            <a:off x="3262586" y="1916832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78972C6A-1511-48BE-91B2-E7AAAF90263E}"/>
              </a:ext>
            </a:extLst>
          </p:cNvPr>
          <p:cNvSpPr/>
          <p:nvPr/>
        </p:nvSpPr>
        <p:spPr bwMode="auto">
          <a:xfrm>
            <a:off x="5447928" y="2852936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6D4A7B67-3776-4881-B95E-710968BD9FA5}"/>
              </a:ext>
            </a:extLst>
          </p:cNvPr>
          <p:cNvSpPr/>
          <p:nvPr/>
        </p:nvSpPr>
        <p:spPr bwMode="auto">
          <a:xfrm>
            <a:off x="6096000" y="1988840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AE011C1A-BF53-49C0-B903-87FF86F37029}"/>
              </a:ext>
            </a:extLst>
          </p:cNvPr>
          <p:cNvSpPr/>
          <p:nvPr/>
        </p:nvSpPr>
        <p:spPr bwMode="auto">
          <a:xfrm>
            <a:off x="6744072" y="3104964"/>
            <a:ext cx="360040" cy="360040"/>
          </a:xfrm>
          <a:prstGeom prst="ellipse">
            <a:avLst/>
          </a:prstGeom>
          <a:solidFill>
            <a:srgbClr val="3353B7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1FB70D76-56FF-4CC9-A0F6-E07FFAD3CDD7}"/>
              </a:ext>
            </a:extLst>
          </p:cNvPr>
          <p:cNvSpPr/>
          <p:nvPr/>
        </p:nvSpPr>
        <p:spPr bwMode="auto">
          <a:xfrm>
            <a:off x="5915980" y="3717032"/>
            <a:ext cx="360040" cy="360040"/>
          </a:xfrm>
          <a:prstGeom prst="ellipse">
            <a:avLst/>
          </a:prstGeom>
          <a:solidFill>
            <a:srgbClr val="CCD4ED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4AF10B54-73AD-4831-BCAF-9FA14E9DC38D}"/>
              </a:ext>
            </a:extLst>
          </p:cNvPr>
          <p:cNvSpPr/>
          <p:nvPr/>
        </p:nvSpPr>
        <p:spPr bwMode="auto">
          <a:xfrm>
            <a:off x="3467708" y="5229200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DA6D3369-733C-4FDE-AD6D-5C9AE65BA8C0}"/>
              </a:ext>
            </a:extLst>
          </p:cNvPr>
          <p:cNvSpPr/>
          <p:nvPr/>
        </p:nvSpPr>
        <p:spPr bwMode="auto">
          <a:xfrm>
            <a:off x="4187788" y="5229200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3215B85C-CFCD-4E08-8D07-B1EE130BC189}"/>
              </a:ext>
            </a:extLst>
          </p:cNvPr>
          <p:cNvSpPr/>
          <p:nvPr/>
        </p:nvSpPr>
        <p:spPr bwMode="auto">
          <a:xfrm>
            <a:off x="4943872" y="5254054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0821C9CD-58F2-4E43-B235-AE66856A8ECE}"/>
              </a:ext>
            </a:extLst>
          </p:cNvPr>
          <p:cNvSpPr/>
          <p:nvPr/>
        </p:nvSpPr>
        <p:spPr bwMode="auto">
          <a:xfrm>
            <a:off x="5714690" y="5280942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5256DBAE-2198-4549-B9E0-DD80557AB8A6}"/>
              </a:ext>
            </a:extLst>
          </p:cNvPr>
          <p:cNvSpPr/>
          <p:nvPr/>
        </p:nvSpPr>
        <p:spPr bwMode="auto">
          <a:xfrm>
            <a:off x="6456040" y="5301208"/>
            <a:ext cx="360040" cy="360040"/>
          </a:xfrm>
          <a:prstGeom prst="ellipse">
            <a:avLst/>
          </a:prstGeom>
          <a:solidFill>
            <a:srgbClr val="0028A5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E85FD231-01EF-4C88-868F-A3496EB78F8A}"/>
              </a:ext>
            </a:extLst>
          </p:cNvPr>
          <p:cNvSpPr txBox="1"/>
          <p:nvPr/>
        </p:nvSpPr>
        <p:spPr>
          <a:xfrm>
            <a:off x="8904312" y="5321374"/>
            <a:ext cx="1616148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dirty="0"/>
              <a:t>Lexical system</a:t>
            </a:r>
            <a:endParaRPr lang="de-CH" dirty="0"/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E580B6AA-D299-484B-9CC7-825403E7EBF1}"/>
              </a:ext>
            </a:extLst>
          </p:cNvPr>
          <p:cNvSpPr txBox="1"/>
          <p:nvPr/>
        </p:nvSpPr>
        <p:spPr>
          <a:xfrm>
            <a:off x="8673480" y="2931041"/>
            <a:ext cx="1846980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dirty="0" err="1"/>
              <a:t>Semantic</a:t>
            </a:r>
            <a:r>
              <a:rPr lang="fr-BE" dirty="0"/>
              <a:t> system</a:t>
            </a:r>
            <a:endParaRPr lang="de-CH" dirty="0"/>
          </a:p>
        </p:txBody>
      </p: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77DFA180-5775-4F26-A3F1-F7BF6A367F3A}"/>
              </a:ext>
            </a:extLst>
          </p:cNvPr>
          <p:cNvCxnSpPr>
            <a:stCxn id="6" idx="4"/>
            <a:endCxn id="7" idx="0"/>
          </p:cNvCxnSpPr>
          <p:nvPr/>
        </p:nvCxnSpPr>
        <p:spPr bwMode="auto">
          <a:xfrm>
            <a:off x="4547828" y="2888940"/>
            <a:ext cx="117748" cy="32403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2E89A693-49A5-45D3-A6B2-53C0F3B7B8E7}"/>
              </a:ext>
            </a:extLst>
          </p:cNvPr>
          <p:cNvCxnSpPr>
            <a:cxnSpLocks/>
            <a:stCxn id="5" idx="0"/>
            <a:endCxn id="6" idx="3"/>
          </p:cNvCxnSpPr>
          <p:nvPr/>
        </p:nvCxnSpPr>
        <p:spPr bwMode="auto">
          <a:xfrm flipV="1">
            <a:off x="3899756" y="2836213"/>
            <a:ext cx="520779" cy="44877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" name="Connecteur droit 25">
            <a:extLst>
              <a:ext uri="{FF2B5EF4-FFF2-40B4-BE49-F238E27FC236}">
                <a16:creationId xmlns:a16="http://schemas.microsoft.com/office/drawing/2014/main" id="{8641AE00-3651-48C7-B579-1DBF357D961B}"/>
              </a:ext>
            </a:extLst>
          </p:cNvPr>
          <p:cNvCxnSpPr>
            <a:cxnSpLocks/>
            <a:stCxn id="2" idx="6"/>
            <a:endCxn id="6" idx="2"/>
          </p:cNvCxnSpPr>
          <p:nvPr/>
        </p:nvCxnSpPr>
        <p:spPr bwMode="auto">
          <a:xfrm flipV="1">
            <a:off x="3647728" y="2708920"/>
            <a:ext cx="720080" cy="18002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9" name="Connecteur droit 28">
            <a:extLst>
              <a:ext uri="{FF2B5EF4-FFF2-40B4-BE49-F238E27FC236}">
                <a16:creationId xmlns:a16="http://schemas.microsoft.com/office/drawing/2014/main" id="{7CA65CF8-AF41-43CD-B535-6C2488B753D7}"/>
              </a:ext>
            </a:extLst>
          </p:cNvPr>
          <p:cNvCxnSpPr>
            <a:cxnSpLocks/>
            <a:stCxn id="2" idx="0"/>
            <a:endCxn id="10" idx="4"/>
          </p:cNvCxnSpPr>
          <p:nvPr/>
        </p:nvCxnSpPr>
        <p:spPr bwMode="auto">
          <a:xfrm flipH="1" flipV="1">
            <a:off x="3442606" y="2276872"/>
            <a:ext cx="25102" cy="43204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2" name="Connecteur droit 31">
            <a:extLst>
              <a:ext uri="{FF2B5EF4-FFF2-40B4-BE49-F238E27FC236}">
                <a16:creationId xmlns:a16="http://schemas.microsoft.com/office/drawing/2014/main" id="{1833D6F2-23B6-4964-93A5-DAD6D0DDB1AF}"/>
              </a:ext>
            </a:extLst>
          </p:cNvPr>
          <p:cNvCxnSpPr>
            <a:cxnSpLocks/>
            <a:stCxn id="6" idx="1"/>
            <a:endCxn id="10" idx="6"/>
          </p:cNvCxnSpPr>
          <p:nvPr/>
        </p:nvCxnSpPr>
        <p:spPr bwMode="auto">
          <a:xfrm flipH="1" flipV="1">
            <a:off x="3622626" y="2096852"/>
            <a:ext cx="797909" cy="48477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" name="Connecteur droit 34">
            <a:extLst>
              <a:ext uri="{FF2B5EF4-FFF2-40B4-BE49-F238E27FC236}">
                <a16:creationId xmlns:a16="http://schemas.microsoft.com/office/drawing/2014/main" id="{21D03704-E72C-4AB7-9771-A92B6711C96D}"/>
              </a:ext>
            </a:extLst>
          </p:cNvPr>
          <p:cNvCxnSpPr>
            <a:cxnSpLocks/>
            <a:stCxn id="2" idx="4"/>
            <a:endCxn id="9" idx="7"/>
          </p:cNvCxnSpPr>
          <p:nvPr/>
        </p:nvCxnSpPr>
        <p:spPr bwMode="auto">
          <a:xfrm flipH="1">
            <a:off x="2946929" y="3068960"/>
            <a:ext cx="520779" cy="37676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" name="Connecteur droit 37">
            <a:extLst>
              <a:ext uri="{FF2B5EF4-FFF2-40B4-BE49-F238E27FC236}">
                <a16:creationId xmlns:a16="http://schemas.microsoft.com/office/drawing/2014/main" id="{52982353-0022-4189-A713-8C02E9AD3D56}"/>
              </a:ext>
            </a:extLst>
          </p:cNvPr>
          <p:cNvCxnSpPr>
            <a:cxnSpLocks/>
            <a:stCxn id="5" idx="2"/>
            <a:endCxn id="9" idx="6"/>
          </p:cNvCxnSpPr>
          <p:nvPr/>
        </p:nvCxnSpPr>
        <p:spPr bwMode="auto">
          <a:xfrm flipH="1">
            <a:off x="2999656" y="3465004"/>
            <a:ext cx="720080" cy="10801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" name="Connecteur droit 40">
            <a:extLst>
              <a:ext uri="{FF2B5EF4-FFF2-40B4-BE49-F238E27FC236}">
                <a16:creationId xmlns:a16="http://schemas.microsoft.com/office/drawing/2014/main" id="{579E41A8-95F2-4FA1-B45B-8189274F8AAB}"/>
              </a:ext>
            </a:extLst>
          </p:cNvPr>
          <p:cNvCxnSpPr>
            <a:cxnSpLocks/>
            <a:stCxn id="7" idx="2"/>
            <a:endCxn id="5" idx="6"/>
          </p:cNvCxnSpPr>
          <p:nvPr/>
        </p:nvCxnSpPr>
        <p:spPr bwMode="auto">
          <a:xfrm flipH="1">
            <a:off x="4079776" y="3392996"/>
            <a:ext cx="405780" cy="7200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E0432E9D-3A92-4A69-845C-E7B37F640F8F}"/>
              </a:ext>
            </a:extLst>
          </p:cNvPr>
          <p:cNvCxnSpPr>
            <a:cxnSpLocks/>
            <a:stCxn id="12" idx="2"/>
            <a:endCxn id="7" idx="6"/>
          </p:cNvCxnSpPr>
          <p:nvPr/>
        </p:nvCxnSpPr>
        <p:spPr bwMode="auto">
          <a:xfrm flipH="1">
            <a:off x="4845596" y="3032956"/>
            <a:ext cx="602332" cy="36004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7" name="Connecteur droit 46">
            <a:extLst>
              <a:ext uri="{FF2B5EF4-FFF2-40B4-BE49-F238E27FC236}">
                <a16:creationId xmlns:a16="http://schemas.microsoft.com/office/drawing/2014/main" id="{77C8C018-8AF7-4351-9DD2-F43C48B81845}"/>
              </a:ext>
            </a:extLst>
          </p:cNvPr>
          <p:cNvCxnSpPr>
            <a:cxnSpLocks/>
            <a:stCxn id="13" idx="4"/>
            <a:endCxn id="14" idx="1"/>
          </p:cNvCxnSpPr>
          <p:nvPr/>
        </p:nvCxnSpPr>
        <p:spPr bwMode="auto">
          <a:xfrm>
            <a:off x="6276020" y="2348880"/>
            <a:ext cx="520779" cy="80881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1" name="Connecteur droit 50">
            <a:extLst>
              <a:ext uri="{FF2B5EF4-FFF2-40B4-BE49-F238E27FC236}">
                <a16:creationId xmlns:a16="http://schemas.microsoft.com/office/drawing/2014/main" id="{58FE7180-75AD-4A48-8003-D6692D750CE9}"/>
              </a:ext>
            </a:extLst>
          </p:cNvPr>
          <p:cNvCxnSpPr>
            <a:cxnSpLocks/>
            <a:stCxn id="15" idx="2"/>
            <a:endCxn id="7" idx="5"/>
          </p:cNvCxnSpPr>
          <p:nvPr/>
        </p:nvCxnSpPr>
        <p:spPr bwMode="auto">
          <a:xfrm flipH="1" flipV="1">
            <a:off x="4792869" y="3520289"/>
            <a:ext cx="1123111" cy="37676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97D7CD0E-7DDA-4728-B7BB-35405BF58AFF}"/>
              </a:ext>
            </a:extLst>
          </p:cNvPr>
          <p:cNvCxnSpPr>
            <a:cxnSpLocks/>
            <a:stCxn id="16" idx="0"/>
            <a:endCxn id="9" idx="5"/>
          </p:cNvCxnSpPr>
          <p:nvPr/>
        </p:nvCxnSpPr>
        <p:spPr bwMode="auto">
          <a:xfrm flipH="1" flipV="1">
            <a:off x="2946929" y="3700309"/>
            <a:ext cx="700799" cy="152889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8" name="Connecteur droit 57">
            <a:extLst>
              <a:ext uri="{FF2B5EF4-FFF2-40B4-BE49-F238E27FC236}">
                <a16:creationId xmlns:a16="http://schemas.microsoft.com/office/drawing/2014/main" id="{D7411F38-B640-4660-A968-4A3BE19D1601}"/>
              </a:ext>
            </a:extLst>
          </p:cNvPr>
          <p:cNvCxnSpPr>
            <a:cxnSpLocks/>
            <a:stCxn id="17" idx="0"/>
            <a:endCxn id="5" idx="4"/>
          </p:cNvCxnSpPr>
          <p:nvPr/>
        </p:nvCxnSpPr>
        <p:spPr bwMode="auto">
          <a:xfrm flipH="1" flipV="1">
            <a:off x="3899756" y="3645024"/>
            <a:ext cx="468052" cy="158417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2" name="Connecteur droit 61">
            <a:extLst>
              <a:ext uri="{FF2B5EF4-FFF2-40B4-BE49-F238E27FC236}">
                <a16:creationId xmlns:a16="http://schemas.microsoft.com/office/drawing/2014/main" id="{BDD0641C-00C2-4E42-9FC5-8FABD9CA2706}"/>
              </a:ext>
            </a:extLst>
          </p:cNvPr>
          <p:cNvCxnSpPr>
            <a:cxnSpLocks/>
            <a:stCxn id="19" idx="0"/>
            <a:endCxn id="15" idx="4"/>
          </p:cNvCxnSpPr>
          <p:nvPr/>
        </p:nvCxnSpPr>
        <p:spPr bwMode="auto">
          <a:xfrm flipV="1">
            <a:off x="5894710" y="4077072"/>
            <a:ext cx="201290" cy="120387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" name="Connecteur droit 64">
            <a:extLst>
              <a:ext uri="{FF2B5EF4-FFF2-40B4-BE49-F238E27FC236}">
                <a16:creationId xmlns:a16="http://schemas.microsoft.com/office/drawing/2014/main" id="{462FAC7D-556D-4EB7-8223-A2CF969A8C3C}"/>
              </a:ext>
            </a:extLst>
          </p:cNvPr>
          <p:cNvCxnSpPr>
            <a:cxnSpLocks/>
            <a:stCxn id="20" idx="0"/>
            <a:endCxn id="14" idx="4"/>
          </p:cNvCxnSpPr>
          <p:nvPr/>
        </p:nvCxnSpPr>
        <p:spPr bwMode="auto">
          <a:xfrm flipV="1">
            <a:off x="6636060" y="3465004"/>
            <a:ext cx="288032" cy="183620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8" name="Connecteur droit 67">
            <a:extLst>
              <a:ext uri="{FF2B5EF4-FFF2-40B4-BE49-F238E27FC236}">
                <a16:creationId xmlns:a16="http://schemas.microsoft.com/office/drawing/2014/main" id="{767EA400-5860-40DB-B851-FD5ACF736890}"/>
              </a:ext>
            </a:extLst>
          </p:cNvPr>
          <p:cNvCxnSpPr>
            <a:cxnSpLocks/>
            <a:stCxn id="18" idx="0"/>
            <a:endCxn id="7" idx="4"/>
          </p:cNvCxnSpPr>
          <p:nvPr/>
        </p:nvCxnSpPr>
        <p:spPr bwMode="auto">
          <a:xfrm flipH="1" flipV="1">
            <a:off x="4665576" y="3573016"/>
            <a:ext cx="458316" cy="168103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" name="ZoneTexte 3">
            <a:extLst>
              <a:ext uri="{FF2B5EF4-FFF2-40B4-BE49-F238E27FC236}">
                <a16:creationId xmlns:a16="http://schemas.microsoft.com/office/drawing/2014/main" id="{2C6BFCBC-C5D4-4ED6-AE1F-1397415A198C}"/>
              </a:ext>
            </a:extLst>
          </p:cNvPr>
          <p:cNvSpPr txBox="1"/>
          <p:nvPr/>
        </p:nvSpPr>
        <p:spPr>
          <a:xfrm>
            <a:off x="5354424" y="1355226"/>
            <a:ext cx="261642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dirty="0" err="1"/>
              <a:t>Heterogeneous</a:t>
            </a:r>
            <a:r>
              <a:rPr lang="fr-BE" dirty="0"/>
              <a:t> condition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294783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1">
            <a:extLst>
              <a:ext uri="{FF2B5EF4-FFF2-40B4-BE49-F238E27FC236}">
                <a16:creationId xmlns:a16="http://schemas.microsoft.com/office/drawing/2014/main" id="{711F4C10-173B-40F1-BE85-AFE98D3F6846}"/>
              </a:ext>
            </a:extLst>
          </p:cNvPr>
          <p:cNvSpPr/>
          <p:nvPr/>
        </p:nvSpPr>
        <p:spPr bwMode="auto">
          <a:xfrm>
            <a:off x="3287688" y="2708920"/>
            <a:ext cx="360040" cy="360040"/>
          </a:xfrm>
          <a:prstGeom prst="ellipse">
            <a:avLst/>
          </a:prstGeom>
          <a:solidFill>
            <a:srgbClr val="CCD4ED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60A023F6-EA86-4D13-9722-A2912DCEF4A7}"/>
              </a:ext>
            </a:extLst>
          </p:cNvPr>
          <p:cNvSpPr/>
          <p:nvPr/>
        </p:nvSpPr>
        <p:spPr bwMode="auto">
          <a:xfrm>
            <a:off x="3719736" y="3284984"/>
            <a:ext cx="360040" cy="360040"/>
          </a:xfrm>
          <a:prstGeom prst="ellipse">
            <a:avLst/>
          </a:prstGeom>
          <a:solidFill>
            <a:srgbClr val="CCD4ED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0A8F6847-97A8-47F0-84F5-EE64EAA4025C}"/>
              </a:ext>
            </a:extLst>
          </p:cNvPr>
          <p:cNvSpPr/>
          <p:nvPr/>
        </p:nvSpPr>
        <p:spPr bwMode="auto">
          <a:xfrm>
            <a:off x="4367808" y="2528900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AB71A8C1-33EA-497E-A568-42C877929C36}"/>
              </a:ext>
            </a:extLst>
          </p:cNvPr>
          <p:cNvSpPr/>
          <p:nvPr/>
        </p:nvSpPr>
        <p:spPr bwMode="auto">
          <a:xfrm>
            <a:off x="4485556" y="3212976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8EFAF788-D7E8-4F35-84D1-08C56E7AA6B6}"/>
              </a:ext>
            </a:extLst>
          </p:cNvPr>
          <p:cNvSpPr/>
          <p:nvPr/>
        </p:nvSpPr>
        <p:spPr bwMode="auto">
          <a:xfrm>
            <a:off x="2639616" y="3392996"/>
            <a:ext cx="360040" cy="360040"/>
          </a:xfrm>
          <a:prstGeom prst="ellipse">
            <a:avLst/>
          </a:prstGeom>
          <a:solidFill>
            <a:srgbClr val="99A9DB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343C4F73-5949-48BA-83F0-C868FC22FAC9}"/>
              </a:ext>
            </a:extLst>
          </p:cNvPr>
          <p:cNvSpPr/>
          <p:nvPr/>
        </p:nvSpPr>
        <p:spPr bwMode="auto">
          <a:xfrm>
            <a:off x="3262586" y="1916832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78972C6A-1511-48BE-91B2-E7AAAF90263E}"/>
              </a:ext>
            </a:extLst>
          </p:cNvPr>
          <p:cNvSpPr/>
          <p:nvPr/>
        </p:nvSpPr>
        <p:spPr bwMode="auto">
          <a:xfrm>
            <a:off x="5447928" y="2852936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6D4A7B67-3776-4881-B95E-710968BD9FA5}"/>
              </a:ext>
            </a:extLst>
          </p:cNvPr>
          <p:cNvSpPr/>
          <p:nvPr/>
        </p:nvSpPr>
        <p:spPr bwMode="auto">
          <a:xfrm>
            <a:off x="6096000" y="1988840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AE011C1A-BF53-49C0-B903-87FF86F37029}"/>
              </a:ext>
            </a:extLst>
          </p:cNvPr>
          <p:cNvSpPr/>
          <p:nvPr/>
        </p:nvSpPr>
        <p:spPr bwMode="auto">
          <a:xfrm>
            <a:off x="6744072" y="3104964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1FB70D76-56FF-4CC9-A0F6-E07FFAD3CDD7}"/>
              </a:ext>
            </a:extLst>
          </p:cNvPr>
          <p:cNvSpPr/>
          <p:nvPr/>
        </p:nvSpPr>
        <p:spPr bwMode="auto">
          <a:xfrm>
            <a:off x="5915980" y="3717032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4AF10B54-73AD-4831-BCAF-9FA14E9DC38D}"/>
              </a:ext>
            </a:extLst>
          </p:cNvPr>
          <p:cNvSpPr/>
          <p:nvPr/>
        </p:nvSpPr>
        <p:spPr bwMode="auto">
          <a:xfrm>
            <a:off x="3467708" y="5229200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DA6D3369-733C-4FDE-AD6D-5C9AE65BA8C0}"/>
              </a:ext>
            </a:extLst>
          </p:cNvPr>
          <p:cNvSpPr/>
          <p:nvPr/>
        </p:nvSpPr>
        <p:spPr bwMode="auto">
          <a:xfrm>
            <a:off x="4187788" y="5229200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3215B85C-CFCD-4E08-8D07-B1EE130BC189}"/>
              </a:ext>
            </a:extLst>
          </p:cNvPr>
          <p:cNvSpPr/>
          <p:nvPr/>
        </p:nvSpPr>
        <p:spPr bwMode="auto">
          <a:xfrm>
            <a:off x="4943872" y="5254054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0821C9CD-58F2-4E43-B235-AE66856A8ECE}"/>
              </a:ext>
            </a:extLst>
          </p:cNvPr>
          <p:cNvSpPr/>
          <p:nvPr/>
        </p:nvSpPr>
        <p:spPr bwMode="auto">
          <a:xfrm>
            <a:off x="5714690" y="5280942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5256DBAE-2198-4549-B9E0-DD80557AB8A6}"/>
              </a:ext>
            </a:extLst>
          </p:cNvPr>
          <p:cNvSpPr/>
          <p:nvPr/>
        </p:nvSpPr>
        <p:spPr bwMode="auto">
          <a:xfrm>
            <a:off x="6456040" y="5301208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E85FD231-01EF-4C88-868F-A3496EB78F8A}"/>
              </a:ext>
            </a:extLst>
          </p:cNvPr>
          <p:cNvSpPr txBox="1"/>
          <p:nvPr/>
        </p:nvSpPr>
        <p:spPr>
          <a:xfrm>
            <a:off x="8904312" y="5321374"/>
            <a:ext cx="1616148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dirty="0"/>
              <a:t>Lexical system</a:t>
            </a:r>
            <a:endParaRPr lang="de-CH" dirty="0"/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E580B6AA-D299-484B-9CC7-825403E7EBF1}"/>
              </a:ext>
            </a:extLst>
          </p:cNvPr>
          <p:cNvSpPr txBox="1"/>
          <p:nvPr/>
        </p:nvSpPr>
        <p:spPr>
          <a:xfrm>
            <a:off x="8673480" y="2931041"/>
            <a:ext cx="1846980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dirty="0" err="1"/>
              <a:t>Semantic</a:t>
            </a:r>
            <a:r>
              <a:rPr lang="fr-BE" dirty="0"/>
              <a:t> system</a:t>
            </a:r>
            <a:endParaRPr lang="de-CH" dirty="0"/>
          </a:p>
        </p:txBody>
      </p: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77DFA180-5775-4F26-A3F1-F7BF6A367F3A}"/>
              </a:ext>
            </a:extLst>
          </p:cNvPr>
          <p:cNvCxnSpPr>
            <a:stCxn id="6" idx="4"/>
            <a:endCxn id="7" idx="0"/>
          </p:cNvCxnSpPr>
          <p:nvPr/>
        </p:nvCxnSpPr>
        <p:spPr bwMode="auto">
          <a:xfrm>
            <a:off x="4547828" y="2888940"/>
            <a:ext cx="117748" cy="32403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2E89A693-49A5-45D3-A6B2-53C0F3B7B8E7}"/>
              </a:ext>
            </a:extLst>
          </p:cNvPr>
          <p:cNvCxnSpPr>
            <a:cxnSpLocks/>
            <a:stCxn id="5" idx="0"/>
            <a:endCxn id="6" idx="3"/>
          </p:cNvCxnSpPr>
          <p:nvPr/>
        </p:nvCxnSpPr>
        <p:spPr bwMode="auto">
          <a:xfrm flipV="1">
            <a:off x="3899756" y="2836213"/>
            <a:ext cx="520779" cy="44877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" name="Connecteur droit 25">
            <a:extLst>
              <a:ext uri="{FF2B5EF4-FFF2-40B4-BE49-F238E27FC236}">
                <a16:creationId xmlns:a16="http://schemas.microsoft.com/office/drawing/2014/main" id="{8641AE00-3651-48C7-B579-1DBF357D961B}"/>
              </a:ext>
            </a:extLst>
          </p:cNvPr>
          <p:cNvCxnSpPr>
            <a:cxnSpLocks/>
            <a:stCxn id="2" idx="6"/>
            <a:endCxn id="6" idx="2"/>
          </p:cNvCxnSpPr>
          <p:nvPr/>
        </p:nvCxnSpPr>
        <p:spPr bwMode="auto">
          <a:xfrm flipV="1">
            <a:off x="3647728" y="2708920"/>
            <a:ext cx="720080" cy="18002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9" name="Connecteur droit 28">
            <a:extLst>
              <a:ext uri="{FF2B5EF4-FFF2-40B4-BE49-F238E27FC236}">
                <a16:creationId xmlns:a16="http://schemas.microsoft.com/office/drawing/2014/main" id="{7CA65CF8-AF41-43CD-B535-6C2488B753D7}"/>
              </a:ext>
            </a:extLst>
          </p:cNvPr>
          <p:cNvCxnSpPr>
            <a:cxnSpLocks/>
            <a:stCxn id="2" idx="0"/>
            <a:endCxn id="10" idx="4"/>
          </p:cNvCxnSpPr>
          <p:nvPr/>
        </p:nvCxnSpPr>
        <p:spPr bwMode="auto">
          <a:xfrm flipH="1" flipV="1">
            <a:off x="3442606" y="2276872"/>
            <a:ext cx="25102" cy="43204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2" name="Connecteur droit 31">
            <a:extLst>
              <a:ext uri="{FF2B5EF4-FFF2-40B4-BE49-F238E27FC236}">
                <a16:creationId xmlns:a16="http://schemas.microsoft.com/office/drawing/2014/main" id="{1833D6F2-23B6-4964-93A5-DAD6D0DDB1AF}"/>
              </a:ext>
            </a:extLst>
          </p:cNvPr>
          <p:cNvCxnSpPr>
            <a:cxnSpLocks/>
            <a:stCxn id="6" idx="1"/>
            <a:endCxn id="10" idx="6"/>
          </p:cNvCxnSpPr>
          <p:nvPr/>
        </p:nvCxnSpPr>
        <p:spPr bwMode="auto">
          <a:xfrm flipH="1" flipV="1">
            <a:off x="3622626" y="2096852"/>
            <a:ext cx="797909" cy="48477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" name="Connecteur droit 34">
            <a:extLst>
              <a:ext uri="{FF2B5EF4-FFF2-40B4-BE49-F238E27FC236}">
                <a16:creationId xmlns:a16="http://schemas.microsoft.com/office/drawing/2014/main" id="{21D03704-E72C-4AB7-9771-A92B6711C96D}"/>
              </a:ext>
            </a:extLst>
          </p:cNvPr>
          <p:cNvCxnSpPr>
            <a:cxnSpLocks/>
            <a:stCxn id="2" idx="4"/>
            <a:endCxn id="9" idx="7"/>
          </p:cNvCxnSpPr>
          <p:nvPr/>
        </p:nvCxnSpPr>
        <p:spPr bwMode="auto">
          <a:xfrm flipH="1">
            <a:off x="2946929" y="3068960"/>
            <a:ext cx="520779" cy="37676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" name="Connecteur droit 37">
            <a:extLst>
              <a:ext uri="{FF2B5EF4-FFF2-40B4-BE49-F238E27FC236}">
                <a16:creationId xmlns:a16="http://schemas.microsoft.com/office/drawing/2014/main" id="{52982353-0022-4189-A713-8C02E9AD3D56}"/>
              </a:ext>
            </a:extLst>
          </p:cNvPr>
          <p:cNvCxnSpPr>
            <a:cxnSpLocks/>
            <a:stCxn id="5" idx="2"/>
            <a:endCxn id="9" idx="6"/>
          </p:cNvCxnSpPr>
          <p:nvPr/>
        </p:nvCxnSpPr>
        <p:spPr bwMode="auto">
          <a:xfrm flipH="1">
            <a:off x="2999656" y="3465004"/>
            <a:ext cx="720080" cy="10801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" name="Connecteur droit 40">
            <a:extLst>
              <a:ext uri="{FF2B5EF4-FFF2-40B4-BE49-F238E27FC236}">
                <a16:creationId xmlns:a16="http://schemas.microsoft.com/office/drawing/2014/main" id="{579E41A8-95F2-4FA1-B45B-8189274F8AAB}"/>
              </a:ext>
            </a:extLst>
          </p:cNvPr>
          <p:cNvCxnSpPr>
            <a:cxnSpLocks/>
            <a:stCxn id="7" idx="2"/>
            <a:endCxn id="5" idx="6"/>
          </p:cNvCxnSpPr>
          <p:nvPr/>
        </p:nvCxnSpPr>
        <p:spPr bwMode="auto">
          <a:xfrm flipH="1">
            <a:off x="4079776" y="3392996"/>
            <a:ext cx="405780" cy="7200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E0432E9D-3A92-4A69-845C-E7B37F640F8F}"/>
              </a:ext>
            </a:extLst>
          </p:cNvPr>
          <p:cNvCxnSpPr>
            <a:cxnSpLocks/>
            <a:stCxn id="12" idx="2"/>
            <a:endCxn id="7" idx="6"/>
          </p:cNvCxnSpPr>
          <p:nvPr/>
        </p:nvCxnSpPr>
        <p:spPr bwMode="auto">
          <a:xfrm flipH="1">
            <a:off x="4845596" y="3032956"/>
            <a:ext cx="602332" cy="36004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7" name="Connecteur droit 46">
            <a:extLst>
              <a:ext uri="{FF2B5EF4-FFF2-40B4-BE49-F238E27FC236}">
                <a16:creationId xmlns:a16="http://schemas.microsoft.com/office/drawing/2014/main" id="{77C8C018-8AF7-4351-9DD2-F43C48B81845}"/>
              </a:ext>
            </a:extLst>
          </p:cNvPr>
          <p:cNvCxnSpPr>
            <a:cxnSpLocks/>
            <a:stCxn id="13" idx="4"/>
            <a:endCxn id="14" idx="1"/>
          </p:cNvCxnSpPr>
          <p:nvPr/>
        </p:nvCxnSpPr>
        <p:spPr bwMode="auto">
          <a:xfrm>
            <a:off x="6276020" y="2348880"/>
            <a:ext cx="520779" cy="80881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1" name="Connecteur droit 50">
            <a:extLst>
              <a:ext uri="{FF2B5EF4-FFF2-40B4-BE49-F238E27FC236}">
                <a16:creationId xmlns:a16="http://schemas.microsoft.com/office/drawing/2014/main" id="{58FE7180-75AD-4A48-8003-D6692D750CE9}"/>
              </a:ext>
            </a:extLst>
          </p:cNvPr>
          <p:cNvCxnSpPr>
            <a:cxnSpLocks/>
            <a:stCxn id="15" idx="2"/>
            <a:endCxn id="7" idx="5"/>
          </p:cNvCxnSpPr>
          <p:nvPr/>
        </p:nvCxnSpPr>
        <p:spPr bwMode="auto">
          <a:xfrm flipH="1" flipV="1">
            <a:off x="4792869" y="3520289"/>
            <a:ext cx="1123111" cy="37676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97D7CD0E-7DDA-4728-B7BB-35405BF58AFF}"/>
              </a:ext>
            </a:extLst>
          </p:cNvPr>
          <p:cNvCxnSpPr>
            <a:cxnSpLocks/>
            <a:stCxn id="16" idx="0"/>
            <a:endCxn id="9" idx="5"/>
          </p:cNvCxnSpPr>
          <p:nvPr/>
        </p:nvCxnSpPr>
        <p:spPr bwMode="auto">
          <a:xfrm flipH="1" flipV="1">
            <a:off x="2946929" y="3700309"/>
            <a:ext cx="700799" cy="152889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8" name="Connecteur droit 57">
            <a:extLst>
              <a:ext uri="{FF2B5EF4-FFF2-40B4-BE49-F238E27FC236}">
                <a16:creationId xmlns:a16="http://schemas.microsoft.com/office/drawing/2014/main" id="{D7411F38-B640-4660-A968-4A3BE19D1601}"/>
              </a:ext>
            </a:extLst>
          </p:cNvPr>
          <p:cNvCxnSpPr>
            <a:cxnSpLocks/>
            <a:stCxn id="17" idx="0"/>
            <a:endCxn id="5" idx="4"/>
          </p:cNvCxnSpPr>
          <p:nvPr/>
        </p:nvCxnSpPr>
        <p:spPr bwMode="auto">
          <a:xfrm flipH="1" flipV="1">
            <a:off x="3899756" y="3645024"/>
            <a:ext cx="468052" cy="158417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2" name="Connecteur droit 61">
            <a:extLst>
              <a:ext uri="{FF2B5EF4-FFF2-40B4-BE49-F238E27FC236}">
                <a16:creationId xmlns:a16="http://schemas.microsoft.com/office/drawing/2014/main" id="{BDD0641C-00C2-4E42-9FC5-8FABD9CA2706}"/>
              </a:ext>
            </a:extLst>
          </p:cNvPr>
          <p:cNvCxnSpPr>
            <a:cxnSpLocks/>
            <a:stCxn id="19" idx="0"/>
            <a:endCxn id="15" idx="4"/>
          </p:cNvCxnSpPr>
          <p:nvPr/>
        </p:nvCxnSpPr>
        <p:spPr bwMode="auto">
          <a:xfrm flipV="1">
            <a:off x="5894710" y="4077072"/>
            <a:ext cx="201290" cy="120387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" name="Connecteur droit 64">
            <a:extLst>
              <a:ext uri="{FF2B5EF4-FFF2-40B4-BE49-F238E27FC236}">
                <a16:creationId xmlns:a16="http://schemas.microsoft.com/office/drawing/2014/main" id="{462FAC7D-556D-4EB7-8223-A2CF969A8C3C}"/>
              </a:ext>
            </a:extLst>
          </p:cNvPr>
          <p:cNvCxnSpPr>
            <a:cxnSpLocks/>
            <a:stCxn id="20" idx="0"/>
            <a:endCxn id="14" idx="4"/>
          </p:cNvCxnSpPr>
          <p:nvPr/>
        </p:nvCxnSpPr>
        <p:spPr bwMode="auto">
          <a:xfrm flipV="1">
            <a:off x="6636060" y="3465004"/>
            <a:ext cx="288032" cy="183620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8" name="Connecteur droit 67">
            <a:extLst>
              <a:ext uri="{FF2B5EF4-FFF2-40B4-BE49-F238E27FC236}">
                <a16:creationId xmlns:a16="http://schemas.microsoft.com/office/drawing/2014/main" id="{767EA400-5860-40DB-B851-FD5ACF736890}"/>
              </a:ext>
            </a:extLst>
          </p:cNvPr>
          <p:cNvCxnSpPr>
            <a:cxnSpLocks/>
            <a:stCxn id="18" idx="0"/>
            <a:endCxn id="7" idx="4"/>
          </p:cNvCxnSpPr>
          <p:nvPr/>
        </p:nvCxnSpPr>
        <p:spPr bwMode="auto">
          <a:xfrm flipH="1" flipV="1">
            <a:off x="4665576" y="3573016"/>
            <a:ext cx="458316" cy="168103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6" name="ZoneTexte 35">
            <a:extLst>
              <a:ext uri="{FF2B5EF4-FFF2-40B4-BE49-F238E27FC236}">
                <a16:creationId xmlns:a16="http://schemas.microsoft.com/office/drawing/2014/main" id="{F7661ABD-8ABC-43C7-9007-EBC2773F9625}"/>
              </a:ext>
            </a:extLst>
          </p:cNvPr>
          <p:cNvSpPr txBox="1"/>
          <p:nvPr/>
        </p:nvSpPr>
        <p:spPr>
          <a:xfrm>
            <a:off x="629892" y="2162267"/>
            <a:ext cx="2542684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dirty="0" err="1"/>
              <a:t>Homogeneous</a:t>
            </a:r>
            <a:r>
              <a:rPr lang="fr-BE" dirty="0"/>
              <a:t> condition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888808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1">
            <a:extLst>
              <a:ext uri="{FF2B5EF4-FFF2-40B4-BE49-F238E27FC236}">
                <a16:creationId xmlns:a16="http://schemas.microsoft.com/office/drawing/2014/main" id="{711F4C10-173B-40F1-BE85-AFE98D3F6846}"/>
              </a:ext>
            </a:extLst>
          </p:cNvPr>
          <p:cNvSpPr/>
          <p:nvPr/>
        </p:nvSpPr>
        <p:spPr bwMode="auto">
          <a:xfrm>
            <a:off x="3287688" y="2708920"/>
            <a:ext cx="360040" cy="360040"/>
          </a:xfrm>
          <a:prstGeom prst="ellipse">
            <a:avLst/>
          </a:prstGeom>
          <a:solidFill>
            <a:srgbClr val="667EC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60A023F6-EA86-4D13-9722-A2912DCEF4A7}"/>
              </a:ext>
            </a:extLst>
          </p:cNvPr>
          <p:cNvSpPr/>
          <p:nvPr/>
        </p:nvSpPr>
        <p:spPr bwMode="auto">
          <a:xfrm>
            <a:off x="3719736" y="3284984"/>
            <a:ext cx="360040" cy="360040"/>
          </a:xfrm>
          <a:prstGeom prst="ellipse">
            <a:avLst/>
          </a:prstGeom>
          <a:solidFill>
            <a:srgbClr val="667EC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0A8F6847-97A8-47F0-84F5-EE64EAA4025C}"/>
              </a:ext>
            </a:extLst>
          </p:cNvPr>
          <p:cNvSpPr/>
          <p:nvPr/>
        </p:nvSpPr>
        <p:spPr bwMode="auto">
          <a:xfrm>
            <a:off x="4367808" y="2528900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AB71A8C1-33EA-497E-A568-42C877929C36}"/>
              </a:ext>
            </a:extLst>
          </p:cNvPr>
          <p:cNvSpPr/>
          <p:nvPr/>
        </p:nvSpPr>
        <p:spPr bwMode="auto">
          <a:xfrm>
            <a:off x="4485556" y="3212976"/>
            <a:ext cx="360040" cy="360040"/>
          </a:xfrm>
          <a:prstGeom prst="ellipse">
            <a:avLst/>
          </a:prstGeom>
          <a:solidFill>
            <a:srgbClr val="CCD4ED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8EFAF788-D7E8-4F35-84D1-08C56E7AA6B6}"/>
              </a:ext>
            </a:extLst>
          </p:cNvPr>
          <p:cNvSpPr/>
          <p:nvPr/>
        </p:nvSpPr>
        <p:spPr bwMode="auto">
          <a:xfrm>
            <a:off x="2639616" y="3392996"/>
            <a:ext cx="360040" cy="360040"/>
          </a:xfrm>
          <a:prstGeom prst="ellipse">
            <a:avLst/>
          </a:prstGeom>
          <a:solidFill>
            <a:srgbClr val="667EC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343C4F73-5949-48BA-83F0-C868FC22FAC9}"/>
              </a:ext>
            </a:extLst>
          </p:cNvPr>
          <p:cNvSpPr/>
          <p:nvPr/>
        </p:nvSpPr>
        <p:spPr bwMode="auto">
          <a:xfrm>
            <a:off x="3262586" y="1916832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78972C6A-1511-48BE-91B2-E7AAAF90263E}"/>
              </a:ext>
            </a:extLst>
          </p:cNvPr>
          <p:cNvSpPr/>
          <p:nvPr/>
        </p:nvSpPr>
        <p:spPr bwMode="auto">
          <a:xfrm>
            <a:off x="5447928" y="2852936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6D4A7B67-3776-4881-B95E-710968BD9FA5}"/>
              </a:ext>
            </a:extLst>
          </p:cNvPr>
          <p:cNvSpPr/>
          <p:nvPr/>
        </p:nvSpPr>
        <p:spPr bwMode="auto">
          <a:xfrm>
            <a:off x="6096000" y="1988840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AE011C1A-BF53-49C0-B903-87FF86F37029}"/>
              </a:ext>
            </a:extLst>
          </p:cNvPr>
          <p:cNvSpPr/>
          <p:nvPr/>
        </p:nvSpPr>
        <p:spPr bwMode="auto">
          <a:xfrm>
            <a:off x="6744072" y="3104964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1FB70D76-56FF-4CC9-A0F6-E07FFAD3CDD7}"/>
              </a:ext>
            </a:extLst>
          </p:cNvPr>
          <p:cNvSpPr/>
          <p:nvPr/>
        </p:nvSpPr>
        <p:spPr bwMode="auto">
          <a:xfrm>
            <a:off x="5915980" y="3717032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4AF10B54-73AD-4831-BCAF-9FA14E9DC38D}"/>
              </a:ext>
            </a:extLst>
          </p:cNvPr>
          <p:cNvSpPr/>
          <p:nvPr/>
        </p:nvSpPr>
        <p:spPr bwMode="auto">
          <a:xfrm>
            <a:off x="3467708" y="5229200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DA6D3369-733C-4FDE-AD6D-5C9AE65BA8C0}"/>
              </a:ext>
            </a:extLst>
          </p:cNvPr>
          <p:cNvSpPr/>
          <p:nvPr/>
        </p:nvSpPr>
        <p:spPr bwMode="auto">
          <a:xfrm>
            <a:off x="4187788" y="5229200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3215B85C-CFCD-4E08-8D07-B1EE130BC189}"/>
              </a:ext>
            </a:extLst>
          </p:cNvPr>
          <p:cNvSpPr/>
          <p:nvPr/>
        </p:nvSpPr>
        <p:spPr bwMode="auto">
          <a:xfrm>
            <a:off x="4943872" y="5254054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0821C9CD-58F2-4E43-B235-AE66856A8ECE}"/>
              </a:ext>
            </a:extLst>
          </p:cNvPr>
          <p:cNvSpPr/>
          <p:nvPr/>
        </p:nvSpPr>
        <p:spPr bwMode="auto">
          <a:xfrm>
            <a:off x="5714690" y="5280942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5256DBAE-2198-4549-B9E0-DD80557AB8A6}"/>
              </a:ext>
            </a:extLst>
          </p:cNvPr>
          <p:cNvSpPr/>
          <p:nvPr/>
        </p:nvSpPr>
        <p:spPr bwMode="auto">
          <a:xfrm>
            <a:off x="6456040" y="5301208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E85FD231-01EF-4C88-868F-A3496EB78F8A}"/>
              </a:ext>
            </a:extLst>
          </p:cNvPr>
          <p:cNvSpPr txBox="1"/>
          <p:nvPr/>
        </p:nvSpPr>
        <p:spPr>
          <a:xfrm>
            <a:off x="8904312" y="5321374"/>
            <a:ext cx="1616148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dirty="0"/>
              <a:t>Lexical system</a:t>
            </a:r>
            <a:endParaRPr lang="de-CH" dirty="0"/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E580B6AA-D299-484B-9CC7-825403E7EBF1}"/>
              </a:ext>
            </a:extLst>
          </p:cNvPr>
          <p:cNvSpPr txBox="1"/>
          <p:nvPr/>
        </p:nvSpPr>
        <p:spPr>
          <a:xfrm>
            <a:off x="8673480" y="2931041"/>
            <a:ext cx="1846980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dirty="0" err="1"/>
              <a:t>Semantic</a:t>
            </a:r>
            <a:r>
              <a:rPr lang="fr-BE" dirty="0"/>
              <a:t> system</a:t>
            </a:r>
            <a:endParaRPr lang="de-CH" dirty="0"/>
          </a:p>
        </p:txBody>
      </p: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77DFA180-5775-4F26-A3F1-F7BF6A367F3A}"/>
              </a:ext>
            </a:extLst>
          </p:cNvPr>
          <p:cNvCxnSpPr>
            <a:stCxn id="6" idx="4"/>
            <a:endCxn id="7" idx="0"/>
          </p:cNvCxnSpPr>
          <p:nvPr/>
        </p:nvCxnSpPr>
        <p:spPr bwMode="auto">
          <a:xfrm>
            <a:off x="4547828" y="2888940"/>
            <a:ext cx="117748" cy="32403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2E89A693-49A5-45D3-A6B2-53C0F3B7B8E7}"/>
              </a:ext>
            </a:extLst>
          </p:cNvPr>
          <p:cNvCxnSpPr>
            <a:cxnSpLocks/>
            <a:stCxn id="5" idx="0"/>
            <a:endCxn id="6" idx="3"/>
          </p:cNvCxnSpPr>
          <p:nvPr/>
        </p:nvCxnSpPr>
        <p:spPr bwMode="auto">
          <a:xfrm flipV="1">
            <a:off x="3899756" y="2836213"/>
            <a:ext cx="520779" cy="44877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" name="Connecteur droit 25">
            <a:extLst>
              <a:ext uri="{FF2B5EF4-FFF2-40B4-BE49-F238E27FC236}">
                <a16:creationId xmlns:a16="http://schemas.microsoft.com/office/drawing/2014/main" id="{8641AE00-3651-48C7-B579-1DBF357D961B}"/>
              </a:ext>
            </a:extLst>
          </p:cNvPr>
          <p:cNvCxnSpPr>
            <a:cxnSpLocks/>
            <a:stCxn id="2" idx="6"/>
            <a:endCxn id="6" idx="2"/>
          </p:cNvCxnSpPr>
          <p:nvPr/>
        </p:nvCxnSpPr>
        <p:spPr bwMode="auto">
          <a:xfrm flipV="1">
            <a:off x="3647728" y="2708920"/>
            <a:ext cx="720080" cy="18002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9" name="Connecteur droit 28">
            <a:extLst>
              <a:ext uri="{FF2B5EF4-FFF2-40B4-BE49-F238E27FC236}">
                <a16:creationId xmlns:a16="http://schemas.microsoft.com/office/drawing/2014/main" id="{7CA65CF8-AF41-43CD-B535-6C2488B753D7}"/>
              </a:ext>
            </a:extLst>
          </p:cNvPr>
          <p:cNvCxnSpPr>
            <a:cxnSpLocks/>
            <a:stCxn id="2" idx="0"/>
            <a:endCxn id="10" idx="4"/>
          </p:cNvCxnSpPr>
          <p:nvPr/>
        </p:nvCxnSpPr>
        <p:spPr bwMode="auto">
          <a:xfrm flipH="1" flipV="1">
            <a:off x="3442606" y="2276872"/>
            <a:ext cx="25102" cy="43204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2" name="Connecteur droit 31">
            <a:extLst>
              <a:ext uri="{FF2B5EF4-FFF2-40B4-BE49-F238E27FC236}">
                <a16:creationId xmlns:a16="http://schemas.microsoft.com/office/drawing/2014/main" id="{1833D6F2-23B6-4964-93A5-DAD6D0DDB1AF}"/>
              </a:ext>
            </a:extLst>
          </p:cNvPr>
          <p:cNvCxnSpPr>
            <a:cxnSpLocks/>
            <a:stCxn id="6" idx="1"/>
            <a:endCxn id="10" idx="6"/>
          </p:cNvCxnSpPr>
          <p:nvPr/>
        </p:nvCxnSpPr>
        <p:spPr bwMode="auto">
          <a:xfrm flipH="1" flipV="1">
            <a:off x="3622626" y="2096852"/>
            <a:ext cx="797909" cy="48477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" name="Connecteur droit 34">
            <a:extLst>
              <a:ext uri="{FF2B5EF4-FFF2-40B4-BE49-F238E27FC236}">
                <a16:creationId xmlns:a16="http://schemas.microsoft.com/office/drawing/2014/main" id="{21D03704-E72C-4AB7-9771-A92B6711C96D}"/>
              </a:ext>
            </a:extLst>
          </p:cNvPr>
          <p:cNvCxnSpPr>
            <a:cxnSpLocks/>
            <a:stCxn id="2" idx="4"/>
            <a:endCxn id="9" idx="7"/>
          </p:cNvCxnSpPr>
          <p:nvPr/>
        </p:nvCxnSpPr>
        <p:spPr bwMode="auto">
          <a:xfrm flipH="1">
            <a:off x="2946929" y="3068960"/>
            <a:ext cx="520779" cy="37676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" name="Connecteur droit 37">
            <a:extLst>
              <a:ext uri="{FF2B5EF4-FFF2-40B4-BE49-F238E27FC236}">
                <a16:creationId xmlns:a16="http://schemas.microsoft.com/office/drawing/2014/main" id="{52982353-0022-4189-A713-8C02E9AD3D56}"/>
              </a:ext>
            </a:extLst>
          </p:cNvPr>
          <p:cNvCxnSpPr>
            <a:cxnSpLocks/>
            <a:stCxn id="5" idx="2"/>
            <a:endCxn id="9" idx="6"/>
          </p:cNvCxnSpPr>
          <p:nvPr/>
        </p:nvCxnSpPr>
        <p:spPr bwMode="auto">
          <a:xfrm flipH="1">
            <a:off x="2999656" y="3465004"/>
            <a:ext cx="720080" cy="10801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" name="Connecteur droit 40">
            <a:extLst>
              <a:ext uri="{FF2B5EF4-FFF2-40B4-BE49-F238E27FC236}">
                <a16:creationId xmlns:a16="http://schemas.microsoft.com/office/drawing/2014/main" id="{579E41A8-95F2-4FA1-B45B-8189274F8AAB}"/>
              </a:ext>
            </a:extLst>
          </p:cNvPr>
          <p:cNvCxnSpPr>
            <a:cxnSpLocks/>
            <a:stCxn id="7" idx="2"/>
            <a:endCxn id="5" idx="6"/>
          </p:cNvCxnSpPr>
          <p:nvPr/>
        </p:nvCxnSpPr>
        <p:spPr bwMode="auto">
          <a:xfrm flipH="1">
            <a:off x="4079776" y="3392996"/>
            <a:ext cx="405780" cy="7200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E0432E9D-3A92-4A69-845C-E7B37F640F8F}"/>
              </a:ext>
            </a:extLst>
          </p:cNvPr>
          <p:cNvCxnSpPr>
            <a:cxnSpLocks/>
            <a:stCxn id="12" idx="2"/>
            <a:endCxn id="7" idx="6"/>
          </p:cNvCxnSpPr>
          <p:nvPr/>
        </p:nvCxnSpPr>
        <p:spPr bwMode="auto">
          <a:xfrm flipH="1">
            <a:off x="4845596" y="3032956"/>
            <a:ext cx="602332" cy="36004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7" name="Connecteur droit 46">
            <a:extLst>
              <a:ext uri="{FF2B5EF4-FFF2-40B4-BE49-F238E27FC236}">
                <a16:creationId xmlns:a16="http://schemas.microsoft.com/office/drawing/2014/main" id="{77C8C018-8AF7-4351-9DD2-F43C48B81845}"/>
              </a:ext>
            </a:extLst>
          </p:cNvPr>
          <p:cNvCxnSpPr>
            <a:cxnSpLocks/>
            <a:stCxn id="13" idx="4"/>
            <a:endCxn id="14" idx="1"/>
          </p:cNvCxnSpPr>
          <p:nvPr/>
        </p:nvCxnSpPr>
        <p:spPr bwMode="auto">
          <a:xfrm>
            <a:off x="6276020" y="2348880"/>
            <a:ext cx="520779" cy="80881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1" name="Connecteur droit 50">
            <a:extLst>
              <a:ext uri="{FF2B5EF4-FFF2-40B4-BE49-F238E27FC236}">
                <a16:creationId xmlns:a16="http://schemas.microsoft.com/office/drawing/2014/main" id="{58FE7180-75AD-4A48-8003-D6692D750CE9}"/>
              </a:ext>
            </a:extLst>
          </p:cNvPr>
          <p:cNvCxnSpPr>
            <a:cxnSpLocks/>
            <a:stCxn id="15" idx="2"/>
            <a:endCxn id="7" idx="5"/>
          </p:cNvCxnSpPr>
          <p:nvPr/>
        </p:nvCxnSpPr>
        <p:spPr bwMode="auto">
          <a:xfrm flipH="1" flipV="1">
            <a:off x="4792869" y="3520289"/>
            <a:ext cx="1123111" cy="37676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97D7CD0E-7DDA-4728-B7BB-35405BF58AFF}"/>
              </a:ext>
            </a:extLst>
          </p:cNvPr>
          <p:cNvCxnSpPr>
            <a:cxnSpLocks/>
            <a:stCxn id="16" idx="0"/>
            <a:endCxn id="9" idx="5"/>
          </p:cNvCxnSpPr>
          <p:nvPr/>
        </p:nvCxnSpPr>
        <p:spPr bwMode="auto">
          <a:xfrm flipH="1" flipV="1">
            <a:off x="2946929" y="3700309"/>
            <a:ext cx="700799" cy="152889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8" name="Connecteur droit 57">
            <a:extLst>
              <a:ext uri="{FF2B5EF4-FFF2-40B4-BE49-F238E27FC236}">
                <a16:creationId xmlns:a16="http://schemas.microsoft.com/office/drawing/2014/main" id="{D7411F38-B640-4660-A968-4A3BE19D1601}"/>
              </a:ext>
            </a:extLst>
          </p:cNvPr>
          <p:cNvCxnSpPr>
            <a:cxnSpLocks/>
            <a:stCxn id="17" idx="0"/>
            <a:endCxn id="5" idx="4"/>
          </p:cNvCxnSpPr>
          <p:nvPr/>
        </p:nvCxnSpPr>
        <p:spPr bwMode="auto">
          <a:xfrm flipH="1" flipV="1">
            <a:off x="3899756" y="3645024"/>
            <a:ext cx="468052" cy="158417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2" name="Connecteur droit 61">
            <a:extLst>
              <a:ext uri="{FF2B5EF4-FFF2-40B4-BE49-F238E27FC236}">
                <a16:creationId xmlns:a16="http://schemas.microsoft.com/office/drawing/2014/main" id="{BDD0641C-00C2-4E42-9FC5-8FABD9CA2706}"/>
              </a:ext>
            </a:extLst>
          </p:cNvPr>
          <p:cNvCxnSpPr>
            <a:cxnSpLocks/>
            <a:stCxn id="19" idx="0"/>
            <a:endCxn id="15" idx="4"/>
          </p:cNvCxnSpPr>
          <p:nvPr/>
        </p:nvCxnSpPr>
        <p:spPr bwMode="auto">
          <a:xfrm flipV="1">
            <a:off x="5894710" y="4077072"/>
            <a:ext cx="201290" cy="120387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" name="Connecteur droit 64">
            <a:extLst>
              <a:ext uri="{FF2B5EF4-FFF2-40B4-BE49-F238E27FC236}">
                <a16:creationId xmlns:a16="http://schemas.microsoft.com/office/drawing/2014/main" id="{462FAC7D-556D-4EB7-8223-A2CF969A8C3C}"/>
              </a:ext>
            </a:extLst>
          </p:cNvPr>
          <p:cNvCxnSpPr>
            <a:cxnSpLocks/>
            <a:stCxn id="20" idx="0"/>
            <a:endCxn id="14" idx="4"/>
          </p:cNvCxnSpPr>
          <p:nvPr/>
        </p:nvCxnSpPr>
        <p:spPr bwMode="auto">
          <a:xfrm flipV="1">
            <a:off x="6636060" y="3465004"/>
            <a:ext cx="288032" cy="183620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8" name="Connecteur droit 67">
            <a:extLst>
              <a:ext uri="{FF2B5EF4-FFF2-40B4-BE49-F238E27FC236}">
                <a16:creationId xmlns:a16="http://schemas.microsoft.com/office/drawing/2014/main" id="{767EA400-5860-40DB-B851-FD5ACF736890}"/>
              </a:ext>
            </a:extLst>
          </p:cNvPr>
          <p:cNvCxnSpPr>
            <a:cxnSpLocks/>
            <a:stCxn id="18" idx="0"/>
            <a:endCxn id="7" idx="4"/>
          </p:cNvCxnSpPr>
          <p:nvPr/>
        </p:nvCxnSpPr>
        <p:spPr bwMode="auto">
          <a:xfrm flipH="1" flipV="1">
            <a:off x="4665576" y="3573016"/>
            <a:ext cx="458316" cy="168103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6" name="Connecteur droit 35">
            <a:extLst>
              <a:ext uri="{FF2B5EF4-FFF2-40B4-BE49-F238E27FC236}">
                <a16:creationId xmlns:a16="http://schemas.microsoft.com/office/drawing/2014/main" id="{7CD2132B-7038-42FC-BBC3-76DE515894BC}"/>
              </a:ext>
            </a:extLst>
          </p:cNvPr>
          <p:cNvCxnSpPr>
            <a:cxnSpLocks/>
            <a:stCxn id="2" idx="5"/>
            <a:endCxn id="5" idx="1"/>
          </p:cNvCxnSpPr>
          <p:nvPr/>
        </p:nvCxnSpPr>
        <p:spPr bwMode="auto">
          <a:xfrm>
            <a:off x="3595001" y="3016233"/>
            <a:ext cx="177462" cy="32147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7" name="ZoneTexte 36">
            <a:extLst>
              <a:ext uri="{FF2B5EF4-FFF2-40B4-BE49-F238E27FC236}">
                <a16:creationId xmlns:a16="http://schemas.microsoft.com/office/drawing/2014/main" id="{227F7050-497F-4E73-A4D8-AD78A9DC0245}"/>
              </a:ext>
            </a:extLst>
          </p:cNvPr>
          <p:cNvSpPr txBox="1"/>
          <p:nvPr/>
        </p:nvSpPr>
        <p:spPr>
          <a:xfrm>
            <a:off x="629892" y="2162267"/>
            <a:ext cx="2542684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dirty="0" err="1"/>
              <a:t>Homogeneous</a:t>
            </a:r>
            <a:r>
              <a:rPr lang="fr-BE" dirty="0"/>
              <a:t> condition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407015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1">
            <a:extLst>
              <a:ext uri="{FF2B5EF4-FFF2-40B4-BE49-F238E27FC236}">
                <a16:creationId xmlns:a16="http://schemas.microsoft.com/office/drawing/2014/main" id="{711F4C10-173B-40F1-BE85-AFE98D3F6846}"/>
              </a:ext>
            </a:extLst>
          </p:cNvPr>
          <p:cNvSpPr/>
          <p:nvPr/>
        </p:nvSpPr>
        <p:spPr bwMode="auto">
          <a:xfrm>
            <a:off x="3287688" y="2708920"/>
            <a:ext cx="360040" cy="360040"/>
          </a:xfrm>
          <a:prstGeom prst="ellipse">
            <a:avLst/>
          </a:prstGeom>
          <a:solidFill>
            <a:srgbClr val="667EC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60A023F6-EA86-4D13-9722-A2912DCEF4A7}"/>
              </a:ext>
            </a:extLst>
          </p:cNvPr>
          <p:cNvSpPr/>
          <p:nvPr/>
        </p:nvSpPr>
        <p:spPr bwMode="auto">
          <a:xfrm>
            <a:off x="3719736" y="3284984"/>
            <a:ext cx="360040" cy="360040"/>
          </a:xfrm>
          <a:prstGeom prst="ellipse">
            <a:avLst/>
          </a:prstGeom>
          <a:solidFill>
            <a:srgbClr val="3353B7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0A8F6847-97A8-47F0-84F5-EE64EAA4025C}"/>
              </a:ext>
            </a:extLst>
          </p:cNvPr>
          <p:cNvSpPr/>
          <p:nvPr/>
        </p:nvSpPr>
        <p:spPr bwMode="auto">
          <a:xfrm>
            <a:off x="4367808" y="2528900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AB71A8C1-33EA-497E-A568-42C877929C36}"/>
              </a:ext>
            </a:extLst>
          </p:cNvPr>
          <p:cNvSpPr/>
          <p:nvPr/>
        </p:nvSpPr>
        <p:spPr bwMode="auto">
          <a:xfrm>
            <a:off x="4485556" y="3212976"/>
            <a:ext cx="360040" cy="360040"/>
          </a:xfrm>
          <a:prstGeom prst="ellipse">
            <a:avLst/>
          </a:prstGeom>
          <a:solidFill>
            <a:srgbClr val="667EC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8EFAF788-D7E8-4F35-84D1-08C56E7AA6B6}"/>
              </a:ext>
            </a:extLst>
          </p:cNvPr>
          <p:cNvSpPr/>
          <p:nvPr/>
        </p:nvSpPr>
        <p:spPr bwMode="auto">
          <a:xfrm>
            <a:off x="2639616" y="3392996"/>
            <a:ext cx="360040" cy="360040"/>
          </a:xfrm>
          <a:prstGeom prst="ellipse">
            <a:avLst/>
          </a:prstGeom>
          <a:solidFill>
            <a:srgbClr val="667EC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343C4F73-5949-48BA-83F0-C868FC22FAC9}"/>
              </a:ext>
            </a:extLst>
          </p:cNvPr>
          <p:cNvSpPr/>
          <p:nvPr/>
        </p:nvSpPr>
        <p:spPr bwMode="auto">
          <a:xfrm>
            <a:off x="3262586" y="1916832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78972C6A-1511-48BE-91B2-E7AAAF90263E}"/>
              </a:ext>
            </a:extLst>
          </p:cNvPr>
          <p:cNvSpPr/>
          <p:nvPr/>
        </p:nvSpPr>
        <p:spPr bwMode="auto">
          <a:xfrm>
            <a:off x="5447928" y="2852936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6D4A7B67-3776-4881-B95E-710968BD9FA5}"/>
              </a:ext>
            </a:extLst>
          </p:cNvPr>
          <p:cNvSpPr/>
          <p:nvPr/>
        </p:nvSpPr>
        <p:spPr bwMode="auto">
          <a:xfrm>
            <a:off x="6096000" y="1988840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AE011C1A-BF53-49C0-B903-87FF86F37029}"/>
              </a:ext>
            </a:extLst>
          </p:cNvPr>
          <p:cNvSpPr/>
          <p:nvPr/>
        </p:nvSpPr>
        <p:spPr bwMode="auto">
          <a:xfrm>
            <a:off x="6744072" y="3104964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1FB70D76-56FF-4CC9-A0F6-E07FFAD3CDD7}"/>
              </a:ext>
            </a:extLst>
          </p:cNvPr>
          <p:cNvSpPr/>
          <p:nvPr/>
        </p:nvSpPr>
        <p:spPr bwMode="auto">
          <a:xfrm>
            <a:off x="5915980" y="3717032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4AF10B54-73AD-4831-BCAF-9FA14E9DC38D}"/>
              </a:ext>
            </a:extLst>
          </p:cNvPr>
          <p:cNvSpPr/>
          <p:nvPr/>
        </p:nvSpPr>
        <p:spPr bwMode="auto">
          <a:xfrm>
            <a:off x="3467708" y="5229200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DA6D3369-733C-4FDE-AD6D-5C9AE65BA8C0}"/>
              </a:ext>
            </a:extLst>
          </p:cNvPr>
          <p:cNvSpPr/>
          <p:nvPr/>
        </p:nvSpPr>
        <p:spPr bwMode="auto">
          <a:xfrm>
            <a:off x="4187788" y="5229200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3215B85C-CFCD-4E08-8D07-B1EE130BC189}"/>
              </a:ext>
            </a:extLst>
          </p:cNvPr>
          <p:cNvSpPr/>
          <p:nvPr/>
        </p:nvSpPr>
        <p:spPr bwMode="auto">
          <a:xfrm>
            <a:off x="4943872" y="5254054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0821C9CD-58F2-4E43-B235-AE66856A8ECE}"/>
              </a:ext>
            </a:extLst>
          </p:cNvPr>
          <p:cNvSpPr/>
          <p:nvPr/>
        </p:nvSpPr>
        <p:spPr bwMode="auto">
          <a:xfrm>
            <a:off x="5714690" y="5280942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5256DBAE-2198-4549-B9E0-DD80557AB8A6}"/>
              </a:ext>
            </a:extLst>
          </p:cNvPr>
          <p:cNvSpPr/>
          <p:nvPr/>
        </p:nvSpPr>
        <p:spPr bwMode="auto">
          <a:xfrm>
            <a:off x="6456040" y="5301208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E85FD231-01EF-4C88-868F-A3496EB78F8A}"/>
              </a:ext>
            </a:extLst>
          </p:cNvPr>
          <p:cNvSpPr txBox="1"/>
          <p:nvPr/>
        </p:nvSpPr>
        <p:spPr>
          <a:xfrm>
            <a:off x="8904312" y="5321374"/>
            <a:ext cx="1616148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dirty="0"/>
              <a:t>Lexical system</a:t>
            </a:r>
            <a:endParaRPr lang="de-CH" dirty="0"/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E580B6AA-D299-484B-9CC7-825403E7EBF1}"/>
              </a:ext>
            </a:extLst>
          </p:cNvPr>
          <p:cNvSpPr txBox="1"/>
          <p:nvPr/>
        </p:nvSpPr>
        <p:spPr>
          <a:xfrm>
            <a:off x="8673480" y="2931041"/>
            <a:ext cx="1846980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dirty="0" err="1"/>
              <a:t>Semantic</a:t>
            </a:r>
            <a:r>
              <a:rPr lang="fr-BE" dirty="0"/>
              <a:t> system</a:t>
            </a:r>
            <a:endParaRPr lang="de-CH" dirty="0"/>
          </a:p>
        </p:txBody>
      </p: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77DFA180-5775-4F26-A3F1-F7BF6A367F3A}"/>
              </a:ext>
            </a:extLst>
          </p:cNvPr>
          <p:cNvCxnSpPr>
            <a:stCxn id="6" idx="4"/>
            <a:endCxn id="7" idx="0"/>
          </p:cNvCxnSpPr>
          <p:nvPr/>
        </p:nvCxnSpPr>
        <p:spPr bwMode="auto">
          <a:xfrm>
            <a:off x="4547828" y="2888940"/>
            <a:ext cx="117748" cy="32403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2E89A693-49A5-45D3-A6B2-53C0F3B7B8E7}"/>
              </a:ext>
            </a:extLst>
          </p:cNvPr>
          <p:cNvCxnSpPr>
            <a:cxnSpLocks/>
            <a:stCxn id="5" idx="0"/>
            <a:endCxn id="6" idx="3"/>
          </p:cNvCxnSpPr>
          <p:nvPr/>
        </p:nvCxnSpPr>
        <p:spPr bwMode="auto">
          <a:xfrm flipV="1">
            <a:off x="3899756" y="2836213"/>
            <a:ext cx="520779" cy="44877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" name="Connecteur droit 25">
            <a:extLst>
              <a:ext uri="{FF2B5EF4-FFF2-40B4-BE49-F238E27FC236}">
                <a16:creationId xmlns:a16="http://schemas.microsoft.com/office/drawing/2014/main" id="{8641AE00-3651-48C7-B579-1DBF357D961B}"/>
              </a:ext>
            </a:extLst>
          </p:cNvPr>
          <p:cNvCxnSpPr>
            <a:cxnSpLocks/>
            <a:stCxn id="2" idx="6"/>
            <a:endCxn id="6" idx="2"/>
          </p:cNvCxnSpPr>
          <p:nvPr/>
        </p:nvCxnSpPr>
        <p:spPr bwMode="auto">
          <a:xfrm flipV="1">
            <a:off x="3647728" y="2708920"/>
            <a:ext cx="720080" cy="18002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9" name="Connecteur droit 28">
            <a:extLst>
              <a:ext uri="{FF2B5EF4-FFF2-40B4-BE49-F238E27FC236}">
                <a16:creationId xmlns:a16="http://schemas.microsoft.com/office/drawing/2014/main" id="{7CA65CF8-AF41-43CD-B535-6C2488B753D7}"/>
              </a:ext>
            </a:extLst>
          </p:cNvPr>
          <p:cNvCxnSpPr>
            <a:cxnSpLocks/>
            <a:stCxn id="2" idx="0"/>
            <a:endCxn id="10" idx="4"/>
          </p:cNvCxnSpPr>
          <p:nvPr/>
        </p:nvCxnSpPr>
        <p:spPr bwMode="auto">
          <a:xfrm flipH="1" flipV="1">
            <a:off x="3442606" y="2276872"/>
            <a:ext cx="25102" cy="43204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2" name="Connecteur droit 31">
            <a:extLst>
              <a:ext uri="{FF2B5EF4-FFF2-40B4-BE49-F238E27FC236}">
                <a16:creationId xmlns:a16="http://schemas.microsoft.com/office/drawing/2014/main" id="{1833D6F2-23B6-4964-93A5-DAD6D0DDB1AF}"/>
              </a:ext>
            </a:extLst>
          </p:cNvPr>
          <p:cNvCxnSpPr>
            <a:cxnSpLocks/>
            <a:stCxn id="6" idx="1"/>
            <a:endCxn id="10" idx="6"/>
          </p:cNvCxnSpPr>
          <p:nvPr/>
        </p:nvCxnSpPr>
        <p:spPr bwMode="auto">
          <a:xfrm flipH="1" flipV="1">
            <a:off x="3622626" y="2096852"/>
            <a:ext cx="797909" cy="48477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" name="Connecteur droit 34">
            <a:extLst>
              <a:ext uri="{FF2B5EF4-FFF2-40B4-BE49-F238E27FC236}">
                <a16:creationId xmlns:a16="http://schemas.microsoft.com/office/drawing/2014/main" id="{21D03704-E72C-4AB7-9771-A92B6711C96D}"/>
              </a:ext>
            </a:extLst>
          </p:cNvPr>
          <p:cNvCxnSpPr>
            <a:cxnSpLocks/>
            <a:stCxn id="2" idx="4"/>
            <a:endCxn id="9" idx="7"/>
          </p:cNvCxnSpPr>
          <p:nvPr/>
        </p:nvCxnSpPr>
        <p:spPr bwMode="auto">
          <a:xfrm flipH="1">
            <a:off x="2946929" y="3068960"/>
            <a:ext cx="520779" cy="37676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" name="Connecteur droit 37">
            <a:extLst>
              <a:ext uri="{FF2B5EF4-FFF2-40B4-BE49-F238E27FC236}">
                <a16:creationId xmlns:a16="http://schemas.microsoft.com/office/drawing/2014/main" id="{52982353-0022-4189-A713-8C02E9AD3D56}"/>
              </a:ext>
            </a:extLst>
          </p:cNvPr>
          <p:cNvCxnSpPr>
            <a:cxnSpLocks/>
            <a:stCxn id="5" idx="2"/>
            <a:endCxn id="9" idx="6"/>
          </p:cNvCxnSpPr>
          <p:nvPr/>
        </p:nvCxnSpPr>
        <p:spPr bwMode="auto">
          <a:xfrm flipH="1">
            <a:off x="2999656" y="3465004"/>
            <a:ext cx="720080" cy="10801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" name="Connecteur droit 40">
            <a:extLst>
              <a:ext uri="{FF2B5EF4-FFF2-40B4-BE49-F238E27FC236}">
                <a16:creationId xmlns:a16="http://schemas.microsoft.com/office/drawing/2014/main" id="{579E41A8-95F2-4FA1-B45B-8189274F8AAB}"/>
              </a:ext>
            </a:extLst>
          </p:cNvPr>
          <p:cNvCxnSpPr>
            <a:cxnSpLocks/>
            <a:stCxn id="7" idx="2"/>
            <a:endCxn id="5" idx="6"/>
          </p:cNvCxnSpPr>
          <p:nvPr/>
        </p:nvCxnSpPr>
        <p:spPr bwMode="auto">
          <a:xfrm flipH="1">
            <a:off x="4079776" y="3392996"/>
            <a:ext cx="405780" cy="7200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E0432E9D-3A92-4A69-845C-E7B37F640F8F}"/>
              </a:ext>
            </a:extLst>
          </p:cNvPr>
          <p:cNvCxnSpPr>
            <a:cxnSpLocks/>
            <a:stCxn id="12" idx="2"/>
            <a:endCxn id="7" idx="6"/>
          </p:cNvCxnSpPr>
          <p:nvPr/>
        </p:nvCxnSpPr>
        <p:spPr bwMode="auto">
          <a:xfrm flipH="1">
            <a:off x="4845596" y="3032956"/>
            <a:ext cx="602332" cy="36004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7" name="Connecteur droit 46">
            <a:extLst>
              <a:ext uri="{FF2B5EF4-FFF2-40B4-BE49-F238E27FC236}">
                <a16:creationId xmlns:a16="http://schemas.microsoft.com/office/drawing/2014/main" id="{77C8C018-8AF7-4351-9DD2-F43C48B81845}"/>
              </a:ext>
            </a:extLst>
          </p:cNvPr>
          <p:cNvCxnSpPr>
            <a:cxnSpLocks/>
            <a:stCxn id="13" idx="4"/>
            <a:endCxn id="14" idx="1"/>
          </p:cNvCxnSpPr>
          <p:nvPr/>
        </p:nvCxnSpPr>
        <p:spPr bwMode="auto">
          <a:xfrm>
            <a:off x="6276020" y="2348880"/>
            <a:ext cx="520779" cy="80881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1" name="Connecteur droit 50">
            <a:extLst>
              <a:ext uri="{FF2B5EF4-FFF2-40B4-BE49-F238E27FC236}">
                <a16:creationId xmlns:a16="http://schemas.microsoft.com/office/drawing/2014/main" id="{58FE7180-75AD-4A48-8003-D6692D750CE9}"/>
              </a:ext>
            </a:extLst>
          </p:cNvPr>
          <p:cNvCxnSpPr>
            <a:cxnSpLocks/>
            <a:stCxn id="15" idx="2"/>
            <a:endCxn id="7" idx="5"/>
          </p:cNvCxnSpPr>
          <p:nvPr/>
        </p:nvCxnSpPr>
        <p:spPr bwMode="auto">
          <a:xfrm flipH="1" flipV="1">
            <a:off x="4792869" y="3520289"/>
            <a:ext cx="1123111" cy="37676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97D7CD0E-7DDA-4728-B7BB-35405BF58AFF}"/>
              </a:ext>
            </a:extLst>
          </p:cNvPr>
          <p:cNvCxnSpPr>
            <a:cxnSpLocks/>
            <a:stCxn id="16" idx="0"/>
            <a:endCxn id="9" idx="5"/>
          </p:cNvCxnSpPr>
          <p:nvPr/>
        </p:nvCxnSpPr>
        <p:spPr bwMode="auto">
          <a:xfrm flipH="1" flipV="1">
            <a:off x="2946929" y="3700309"/>
            <a:ext cx="700799" cy="152889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8" name="Connecteur droit 57">
            <a:extLst>
              <a:ext uri="{FF2B5EF4-FFF2-40B4-BE49-F238E27FC236}">
                <a16:creationId xmlns:a16="http://schemas.microsoft.com/office/drawing/2014/main" id="{D7411F38-B640-4660-A968-4A3BE19D1601}"/>
              </a:ext>
            </a:extLst>
          </p:cNvPr>
          <p:cNvCxnSpPr>
            <a:cxnSpLocks/>
            <a:stCxn id="17" idx="0"/>
            <a:endCxn id="5" idx="4"/>
          </p:cNvCxnSpPr>
          <p:nvPr/>
        </p:nvCxnSpPr>
        <p:spPr bwMode="auto">
          <a:xfrm flipH="1" flipV="1">
            <a:off x="3899756" y="3645024"/>
            <a:ext cx="468052" cy="158417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2" name="Connecteur droit 61">
            <a:extLst>
              <a:ext uri="{FF2B5EF4-FFF2-40B4-BE49-F238E27FC236}">
                <a16:creationId xmlns:a16="http://schemas.microsoft.com/office/drawing/2014/main" id="{BDD0641C-00C2-4E42-9FC5-8FABD9CA2706}"/>
              </a:ext>
            </a:extLst>
          </p:cNvPr>
          <p:cNvCxnSpPr>
            <a:cxnSpLocks/>
            <a:stCxn id="19" idx="0"/>
            <a:endCxn id="15" idx="4"/>
          </p:cNvCxnSpPr>
          <p:nvPr/>
        </p:nvCxnSpPr>
        <p:spPr bwMode="auto">
          <a:xfrm flipV="1">
            <a:off x="5894710" y="4077072"/>
            <a:ext cx="201290" cy="120387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" name="Connecteur droit 64">
            <a:extLst>
              <a:ext uri="{FF2B5EF4-FFF2-40B4-BE49-F238E27FC236}">
                <a16:creationId xmlns:a16="http://schemas.microsoft.com/office/drawing/2014/main" id="{462FAC7D-556D-4EB7-8223-A2CF969A8C3C}"/>
              </a:ext>
            </a:extLst>
          </p:cNvPr>
          <p:cNvCxnSpPr>
            <a:cxnSpLocks/>
            <a:stCxn id="20" idx="0"/>
            <a:endCxn id="14" idx="4"/>
          </p:cNvCxnSpPr>
          <p:nvPr/>
        </p:nvCxnSpPr>
        <p:spPr bwMode="auto">
          <a:xfrm flipV="1">
            <a:off x="6636060" y="3465004"/>
            <a:ext cx="288032" cy="183620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8" name="Connecteur droit 67">
            <a:extLst>
              <a:ext uri="{FF2B5EF4-FFF2-40B4-BE49-F238E27FC236}">
                <a16:creationId xmlns:a16="http://schemas.microsoft.com/office/drawing/2014/main" id="{767EA400-5860-40DB-B851-FD5ACF736890}"/>
              </a:ext>
            </a:extLst>
          </p:cNvPr>
          <p:cNvCxnSpPr>
            <a:cxnSpLocks/>
            <a:stCxn id="18" idx="0"/>
            <a:endCxn id="7" idx="4"/>
          </p:cNvCxnSpPr>
          <p:nvPr/>
        </p:nvCxnSpPr>
        <p:spPr bwMode="auto">
          <a:xfrm flipH="1" flipV="1">
            <a:off x="4665576" y="3573016"/>
            <a:ext cx="458316" cy="168103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6" name="Connecteur droit 35">
            <a:extLst>
              <a:ext uri="{FF2B5EF4-FFF2-40B4-BE49-F238E27FC236}">
                <a16:creationId xmlns:a16="http://schemas.microsoft.com/office/drawing/2014/main" id="{7CD2132B-7038-42FC-BBC3-76DE515894BC}"/>
              </a:ext>
            </a:extLst>
          </p:cNvPr>
          <p:cNvCxnSpPr>
            <a:cxnSpLocks/>
            <a:stCxn id="2" idx="5"/>
            <a:endCxn id="5" idx="1"/>
          </p:cNvCxnSpPr>
          <p:nvPr/>
        </p:nvCxnSpPr>
        <p:spPr bwMode="auto">
          <a:xfrm>
            <a:off x="3595001" y="3016233"/>
            <a:ext cx="177462" cy="32147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7" name="ZoneTexte 36">
            <a:extLst>
              <a:ext uri="{FF2B5EF4-FFF2-40B4-BE49-F238E27FC236}">
                <a16:creationId xmlns:a16="http://schemas.microsoft.com/office/drawing/2014/main" id="{5ED2C1D4-5359-4339-87E4-26A4EFD8E174}"/>
              </a:ext>
            </a:extLst>
          </p:cNvPr>
          <p:cNvSpPr txBox="1"/>
          <p:nvPr/>
        </p:nvSpPr>
        <p:spPr>
          <a:xfrm>
            <a:off x="629892" y="2162267"/>
            <a:ext cx="2542684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dirty="0" err="1"/>
              <a:t>Homogeneous</a:t>
            </a:r>
            <a:r>
              <a:rPr lang="fr-BE" dirty="0"/>
              <a:t> condition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325858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1">
            <a:extLst>
              <a:ext uri="{FF2B5EF4-FFF2-40B4-BE49-F238E27FC236}">
                <a16:creationId xmlns:a16="http://schemas.microsoft.com/office/drawing/2014/main" id="{711F4C10-173B-40F1-BE85-AFE98D3F6846}"/>
              </a:ext>
            </a:extLst>
          </p:cNvPr>
          <p:cNvSpPr/>
          <p:nvPr/>
        </p:nvSpPr>
        <p:spPr bwMode="auto">
          <a:xfrm>
            <a:off x="3287688" y="2708920"/>
            <a:ext cx="360040" cy="360040"/>
          </a:xfrm>
          <a:prstGeom prst="ellipse">
            <a:avLst/>
          </a:prstGeom>
          <a:solidFill>
            <a:srgbClr val="0028A5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60A023F6-EA86-4D13-9722-A2912DCEF4A7}"/>
              </a:ext>
            </a:extLst>
          </p:cNvPr>
          <p:cNvSpPr/>
          <p:nvPr/>
        </p:nvSpPr>
        <p:spPr bwMode="auto">
          <a:xfrm>
            <a:off x="3719736" y="3284984"/>
            <a:ext cx="360040" cy="360040"/>
          </a:xfrm>
          <a:prstGeom prst="ellipse">
            <a:avLst/>
          </a:prstGeom>
          <a:solidFill>
            <a:srgbClr val="0028A5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0A8F6847-97A8-47F0-84F5-EE64EAA4025C}"/>
              </a:ext>
            </a:extLst>
          </p:cNvPr>
          <p:cNvSpPr/>
          <p:nvPr/>
        </p:nvSpPr>
        <p:spPr bwMode="auto">
          <a:xfrm>
            <a:off x="4367808" y="2528900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AB71A8C1-33EA-497E-A568-42C877929C36}"/>
              </a:ext>
            </a:extLst>
          </p:cNvPr>
          <p:cNvSpPr/>
          <p:nvPr/>
        </p:nvSpPr>
        <p:spPr bwMode="auto">
          <a:xfrm>
            <a:off x="4485556" y="3212976"/>
            <a:ext cx="360040" cy="360040"/>
          </a:xfrm>
          <a:prstGeom prst="ellipse">
            <a:avLst/>
          </a:prstGeom>
          <a:solidFill>
            <a:srgbClr val="0028A5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8EFAF788-D7E8-4F35-84D1-08C56E7AA6B6}"/>
              </a:ext>
            </a:extLst>
          </p:cNvPr>
          <p:cNvSpPr/>
          <p:nvPr/>
        </p:nvSpPr>
        <p:spPr bwMode="auto">
          <a:xfrm>
            <a:off x="2639616" y="3392996"/>
            <a:ext cx="360040" cy="360040"/>
          </a:xfrm>
          <a:prstGeom prst="ellipse">
            <a:avLst/>
          </a:prstGeom>
          <a:solidFill>
            <a:srgbClr val="0028A5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343C4F73-5949-48BA-83F0-C868FC22FAC9}"/>
              </a:ext>
            </a:extLst>
          </p:cNvPr>
          <p:cNvSpPr/>
          <p:nvPr/>
        </p:nvSpPr>
        <p:spPr bwMode="auto">
          <a:xfrm>
            <a:off x="3262586" y="1916832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78972C6A-1511-48BE-91B2-E7AAAF90263E}"/>
              </a:ext>
            </a:extLst>
          </p:cNvPr>
          <p:cNvSpPr/>
          <p:nvPr/>
        </p:nvSpPr>
        <p:spPr bwMode="auto">
          <a:xfrm>
            <a:off x="5447928" y="2852936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6D4A7B67-3776-4881-B95E-710968BD9FA5}"/>
              </a:ext>
            </a:extLst>
          </p:cNvPr>
          <p:cNvSpPr/>
          <p:nvPr/>
        </p:nvSpPr>
        <p:spPr bwMode="auto">
          <a:xfrm>
            <a:off x="6096000" y="1988840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AE011C1A-BF53-49C0-B903-87FF86F37029}"/>
              </a:ext>
            </a:extLst>
          </p:cNvPr>
          <p:cNvSpPr/>
          <p:nvPr/>
        </p:nvSpPr>
        <p:spPr bwMode="auto">
          <a:xfrm>
            <a:off x="6744072" y="3104964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1FB70D76-56FF-4CC9-A0F6-E07FFAD3CDD7}"/>
              </a:ext>
            </a:extLst>
          </p:cNvPr>
          <p:cNvSpPr/>
          <p:nvPr/>
        </p:nvSpPr>
        <p:spPr bwMode="auto">
          <a:xfrm>
            <a:off x="5915980" y="3717032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4AF10B54-73AD-4831-BCAF-9FA14E9DC38D}"/>
              </a:ext>
            </a:extLst>
          </p:cNvPr>
          <p:cNvSpPr/>
          <p:nvPr/>
        </p:nvSpPr>
        <p:spPr bwMode="auto">
          <a:xfrm>
            <a:off x="3467708" y="5229200"/>
            <a:ext cx="360040" cy="360040"/>
          </a:xfrm>
          <a:prstGeom prst="ellipse">
            <a:avLst/>
          </a:prstGeom>
          <a:solidFill>
            <a:srgbClr val="0028A5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DA6D3369-733C-4FDE-AD6D-5C9AE65BA8C0}"/>
              </a:ext>
            </a:extLst>
          </p:cNvPr>
          <p:cNvSpPr/>
          <p:nvPr/>
        </p:nvSpPr>
        <p:spPr bwMode="auto">
          <a:xfrm>
            <a:off x="4187788" y="5229200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3215B85C-CFCD-4E08-8D07-B1EE130BC189}"/>
              </a:ext>
            </a:extLst>
          </p:cNvPr>
          <p:cNvSpPr/>
          <p:nvPr/>
        </p:nvSpPr>
        <p:spPr bwMode="auto">
          <a:xfrm>
            <a:off x="4943872" y="5254054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0821C9CD-58F2-4E43-B235-AE66856A8ECE}"/>
              </a:ext>
            </a:extLst>
          </p:cNvPr>
          <p:cNvSpPr/>
          <p:nvPr/>
        </p:nvSpPr>
        <p:spPr bwMode="auto">
          <a:xfrm>
            <a:off x="5714690" y="5280942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5256DBAE-2198-4549-B9E0-DD80557AB8A6}"/>
              </a:ext>
            </a:extLst>
          </p:cNvPr>
          <p:cNvSpPr/>
          <p:nvPr/>
        </p:nvSpPr>
        <p:spPr bwMode="auto">
          <a:xfrm>
            <a:off x="6456040" y="5301208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E85FD231-01EF-4C88-868F-A3496EB78F8A}"/>
              </a:ext>
            </a:extLst>
          </p:cNvPr>
          <p:cNvSpPr txBox="1"/>
          <p:nvPr/>
        </p:nvSpPr>
        <p:spPr>
          <a:xfrm>
            <a:off x="8904312" y="5321374"/>
            <a:ext cx="1616148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dirty="0"/>
              <a:t>Lexical system</a:t>
            </a:r>
            <a:endParaRPr lang="de-CH" dirty="0"/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E580B6AA-D299-484B-9CC7-825403E7EBF1}"/>
              </a:ext>
            </a:extLst>
          </p:cNvPr>
          <p:cNvSpPr txBox="1"/>
          <p:nvPr/>
        </p:nvSpPr>
        <p:spPr>
          <a:xfrm>
            <a:off x="8673480" y="2931041"/>
            <a:ext cx="1846980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dirty="0" err="1"/>
              <a:t>Semantic</a:t>
            </a:r>
            <a:r>
              <a:rPr lang="fr-BE" dirty="0"/>
              <a:t> system</a:t>
            </a:r>
            <a:endParaRPr lang="de-CH" dirty="0"/>
          </a:p>
        </p:txBody>
      </p: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77DFA180-5775-4F26-A3F1-F7BF6A367F3A}"/>
              </a:ext>
            </a:extLst>
          </p:cNvPr>
          <p:cNvCxnSpPr>
            <a:stCxn id="6" idx="4"/>
            <a:endCxn id="7" idx="0"/>
          </p:cNvCxnSpPr>
          <p:nvPr/>
        </p:nvCxnSpPr>
        <p:spPr bwMode="auto">
          <a:xfrm>
            <a:off x="4547828" y="2888940"/>
            <a:ext cx="117748" cy="32403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2E89A693-49A5-45D3-A6B2-53C0F3B7B8E7}"/>
              </a:ext>
            </a:extLst>
          </p:cNvPr>
          <p:cNvCxnSpPr>
            <a:cxnSpLocks/>
            <a:stCxn id="5" idx="0"/>
            <a:endCxn id="6" idx="3"/>
          </p:cNvCxnSpPr>
          <p:nvPr/>
        </p:nvCxnSpPr>
        <p:spPr bwMode="auto">
          <a:xfrm flipV="1">
            <a:off x="3899756" y="2836213"/>
            <a:ext cx="520779" cy="44877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" name="Connecteur droit 25">
            <a:extLst>
              <a:ext uri="{FF2B5EF4-FFF2-40B4-BE49-F238E27FC236}">
                <a16:creationId xmlns:a16="http://schemas.microsoft.com/office/drawing/2014/main" id="{8641AE00-3651-48C7-B579-1DBF357D961B}"/>
              </a:ext>
            </a:extLst>
          </p:cNvPr>
          <p:cNvCxnSpPr>
            <a:cxnSpLocks/>
            <a:stCxn id="2" idx="6"/>
            <a:endCxn id="6" idx="2"/>
          </p:cNvCxnSpPr>
          <p:nvPr/>
        </p:nvCxnSpPr>
        <p:spPr bwMode="auto">
          <a:xfrm flipV="1">
            <a:off x="3647728" y="2708920"/>
            <a:ext cx="720080" cy="18002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9" name="Connecteur droit 28">
            <a:extLst>
              <a:ext uri="{FF2B5EF4-FFF2-40B4-BE49-F238E27FC236}">
                <a16:creationId xmlns:a16="http://schemas.microsoft.com/office/drawing/2014/main" id="{7CA65CF8-AF41-43CD-B535-6C2488B753D7}"/>
              </a:ext>
            </a:extLst>
          </p:cNvPr>
          <p:cNvCxnSpPr>
            <a:cxnSpLocks/>
            <a:stCxn id="2" idx="0"/>
            <a:endCxn id="10" idx="4"/>
          </p:cNvCxnSpPr>
          <p:nvPr/>
        </p:nvCxnSpPr>
        <p:spPr bwMode="auto">
          <a:xfrm flipH="1" flipV="1">
            <a:off x="3442606" y="2276872"/>
            <a:ext cx="25102" cy="43204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2" name="Connecteur droit 31">
            <a:extLst>
              <a:ext uri="{FF2B5EF4-FFF2-40B4-BE49-F238E27FC236}">
                <a16:creationId xmlns:a16="http://schemas.microsoft.com/office/drawing/2014/main" id="{1833D6F2-23B6-4964-93A5-DAD6D0DDB1AF}"/>
              </a:ext>
            </a:extLst>
          </p:cNvPr>
          <p:cNvCxnSpPr>
            <a:cxnSpLocks/>
            <a:stCxn id="6" idx="1"/>
            <a:endCxn id="10" idx="6"/>
          </p:cNvCxnSpPr>
          <p:nvPr/>
        </p:nvCxnSpPr>
        <p:spPr bwMode="auto">
          <a:xfrm flipH="1" flipV="1">
            <a:off x="3622626" y="2096852"/>
            <a:ext cx="797909" cy="48477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" name="Connecteur droit 34">
            <a:extLst>
              <a:ext uri="{FF2B5EF4-FFF2-40B4-BE49-F238E27FC236}">
                <a16:creationId xmlns:a16="http://schemas.microsoft.com/office/drawing/2014/main" id="{21D03704-E72C-4AB7-9771-A92B6711C96D}"/>
              </a:ext>
            </a:extLst>
          </p:cNvPr>
          <p:cNvCxnSpPr>
            <a:cxnSpLocks/>
            <a:stCxn id="2" idx="4"/>
            <a:endCxn id="9" idx="7"/>
          </p:cNvCxnSpPr>
          <p:nvPr/>
        </p:nvCxnSpPr>
        <p:spPr bwMode="auto">
          <a:xfrm flipH="1">
            <a:off x="2946929" y="3068960"/>
            <a:ext cx="520779" cy="37676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" name="Connecteur droit 37">
            <a:extLst>
              <a:ext uri="{FF2B5EF4-FFF2-40B4-BE49-F238E27FC236}">
                <a16:creationId xmlns:a16="http://schemas.microsoft.com/office/drawing/2014/main" id="{52982353-0022-4189-A713-8C02E9AD3D56}"/>
              </a:ext>
            </a:extLst>
          </p:cNvPr>
          <p:cNvCxnSpPr>
            <a:cxnSpLocks/>
            <a:stCxn id="5" idx="2"/>
            <a:endCxn id="9" idx="6"/>
          </p:cNvCxnSpPr>
          <p:nvPr/>
        </p:nvCxnSpPr>
        <p:spPr bwMode="auto">
          <a:xfrm flipH="1">
            <a:off x="2999656" y="3465004"/>
            <a:ext cx="720080" cy="10801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" name="Connecteur droit 40">
            <a:extLst>
              <a:ext uri="{FF2B5EF4-FFF2-40B4-BE49-F238E27FC236}">
                <a16:creationId xmlns:a16="http://schemas.microsoft.com/office/drawing/2014/main" id="{579E41A8-95F2-4FA1-B45B-8189274F8AAB}"/>
              </a:ext>
            </a:extLst>
          </p:cNvPr>
          <p:cNvCxnSpPr>
            <a:cxnSpLocks/>
            <a:stCxn id="7" idx="2"/>
            <a:endCxn id="5" idx="6"/>
          </p:cNvCxnSpPr>
          <p:nvPr/>
        </p:nvCxnSpPr>
        <p:spPr bwMode="auto">
          <a:xfrm flipH="1">
            <a:off x="4079776" y="3392996"/>
            <a:ext cx="405780" cy="7200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E0432E9D-3A92-4A69-845C-E7B37F640F8F}"/>
              </a:ext>
            </a:extLst>
          </p:cNvPr>
          <p:cNvCxnSpPr>
            <a:cxnSpLocks/>
            <a:stCxn id="12" idx="2"/>
            <a:endCxn id="7" idx="6"/>
          </p:cNvCxnSpPr>
          <p:nvPr/>
        </p:nvCxnSpPr>
        <p:spPr bwMode="auto">
          <a:xfrm flipH="1">
            <a:off x="4845596" y="3032956"/>
            <a:ext cx="602332" cy="36004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7" name="Connecteur droit 46">
            <a:extLst>
              <a:ext uri="{FF2B5EF4-FFF2-40B4-BE49-F238E27FC236}">
                <a16:creationId xmlns:a16="http://schemas.microsoft.com/office/drawing/2014/main" id="{77C8C018-8AF7-4351-9DD2-F43C48B81845}"/>
              </a:ext>
            </a:extLst>
          </p:cNvPr>
          <p:cNvCxnSpPr>
            <a:cxnSpLocks/>
            <a:stCxn id="13" idx="4"/>
            <a:endCxn id="14" idx="1"/>
          </p:cNvCxnSpPr>
          <p:nvPr/>
        </p:nvCxnSpPr>
        <p:spPr bwMode="auto">
          <a:xfrm>
            <a:off x="6276020" y="2348880"/>
            <a:ext cx="520779" cy="80881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1" name="Connecteur droit 50">
            <a:extLst>
              <a:ext uri="{FF2B5EF4-FFF2-40B4-BE49-F238E27FC236}">
                <a16:creationId xmlns:a16="http://schemas.microsoft.com/office/drawing/2014/main" id="{58FE7180-75AD-4A48-8003-D6692D750CE9}"/>
              </a:ext>
            </a:extLst>
          </p:cNvPr>
          <p:cNvCxnSpPr>
            <a:cxnSpLocks/>
            <a:stCxn id="15" idx="2"/>
            <a:endCxn id="7" idx="5"/>
          </p:cNvCxnSpPr>
          <p:nvPr/>
        </p:nvCxnSpPr>
        <p:spPr bwMode="auto">
          <a:xfrm flipH="1" flipV="1">
            <a:off x="4792869" y="3520289"/>
            <a:ext cx="1123111" cy="37676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97D7CD0E-7DDA-4728-B7BB-35405BF58AFF}"/>
              </a:ext>
            </a:extLst>
          </p:cNvPr>
          <p:cNvCxnSpPr>
            <a:cxnSpLocks/>
            <a:stCxn id="16" idx="0"/>
            <a:endCxn id="9" idx="5"/>
          </p:cNvCxnSpPr>
          <p:nvPr/>
        </p:nvCxnSpPr>
        <p:spPr bwMode="auto">
          <a:xfrm flipH="1" flipV="1">
            <a:off x="2946929" y="3700309"/>
            <a:ext cx="700799" cy="152889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8" name="Connecteur droit 57">
            <a:extLst>
              <a:ext uri="{FF2B5EF4-FFF2-40B4-BE49-F238E27FC236}">
                <a16:creationId xmlns:a16="http://schemas.microsoft.com/office/drawing/2014/main" id="{D7411F38-B640-4660-A968-4A3BE19D1601}"/>
              </a:ext>
            </a:extLst>
          </p:cNvPr>
          <p:cNvCxnSpPr>
            <a:cxnSpLocks/>
            <a:stCxn id="17" idx="0"/>
            <a:endCxn id="5" idx="4"/>
          </p:cNvCxnSpPr>
          <p:nvPr/>
        </p:nvCxnSpPr>
        <p:spPr bwMode="auto">
          <a:xfrm flipH="1" flipV="1">
            <a:off x="3899756" y="3645024"/>
            <a:ext cx="468052" cy="158417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2" name="Connecteur droit 61">
            <a:extLst>
              <a:ext uri="{FF2B5EF4-FFF2-40B4-BE49-F238E27FC236}">
                <a16:creationId xmlns:a16="http://schemas.microsoft.com/office/drawing/2014/main" id="{BDD0641C-00C2-4E42-9FC5-8FABD9CA2706}"/>
              </a:ext>
            </a:extLst>
          </p:cNvPr>
          <p:cNvCxnSpPr>
            <a:cxnSpLocks/>
            <a:stCxn id="19" idx="0"/>
            <a:endCxn id="15" idx="4"/>
          </p:cNvCxnSpPr>
          <p:nvPr/>
        </p:nvCxnSpPr>
        <p:spPr bwMode="auto">
          <a:xfrm flipV="1">
            <a:off x="5894710" y="4077072"/>
            <a:ext cx="201290" cy="120387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" name="Connecteur droit 64">
            <a:extLst>
              <a:ext uri="{FF2B5EF4-FFF2-40B4-BE49-F238E27FC236}">
                <a16:creationId xmlns:a16="http://schemas.microsoft.com/office/drawing/2014/main" id="{462FAC7D-556D-4EB7-8223-A2CF969A8C3C}"/>
              </a:ext>
            </a:extLst>
          </p:cNvPr>
          <p:cNvCxnSpPr>
            <a:cxnSpLocks/>
            <a:stCxn id="20" idx="0"/>
            <a:endCxn id="14" idx="4"/>
          </p:cNvCxnSpPr>
          <p:nvPr/>
        </p:nvCxnSpPr>
        <p:spPr bwMode="auto">
          <a:xfrm flipV="1">
            <a:off x="6636060" y="3465004"/>
            <a:ext cx="288032" cy="183620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8" name="Connecteur droit 67">
            <a:extLst>
              <a:ext uri="{FF2B5EF4-FFF2-40B4-BE49-F238E27FC236}">
                <a16:creationId xmlns:a16="http://schemas.microsoft.com/office/drawing/2014/main" id="{767EA400-5860-40DB-B851-FD5ACF736890}"/>
              </a:ext>
            </a:extLst>
          </p:cNvPr>
          <p:cNvCxnSpPr>
            <a:cxnSpLocks/>
            <a:stCxn id="18" idx="0"/>
            <a:endCxn id="7" idx="4"/>
          </p:cNvCxnSpPr>
          <p:nvPr/>
        </p:nvCxnSpPr>
        <p:spPr bwMode="auto">
          <a:xfrm flipH="1" flipV="1">
            <a:off x="4665576" y="3573016"/>
            <a:ext cx="458316" cy="168103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6" name="Connecteur droit 35">
            <a:extLst>
              <a:ext uri="{FF2B5EF4-FFF2-40B4-BE49-F238E27FC236}">
                <a16:creationId xmlns:a16="http://schemas.microsoft.com/office/drawing/2014/main" id="{7CD2132B-7038-42FC-BBC3-76DE515894BC}"/>
              </a:ext>
            </a:extLst>
          </p:cNvPr>
          <p:cNvCxnSpPr>
            <a:cxnSpLocks/>
            <a:stCxn id="2" idx="5"/>
            <a:endCxn id="5" idx="1"/>
          </p:cNvCxnSpPr>
          <p:nvPr/>
        </p:nvCxnSpPr>
        <p:spPr bwMode="auto">
          <a:xfrm>
            <a:off x="3595001" y="3016233"/>
            <a:ext cx="177462" cy="32147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7" name="ZoneTexte 36">
            <a:extLst>
              <a:ext uri="{FF2B5EF4-FFF2-40B4-BE49-F238E27FC236}">
                <a16:creationId xmlns:a16="http://schemas.microsoft.com/office/drawing/2014/main" id="{2DECE0B2-FC01-4292-BBCE-FB75E6A13F43}"/>
              </a:ext>
            </a:extLst>
          </p:cNvPr>
          <p:cNvSpPr txBox="1"/>
          <p:nvPr/>
        </p:nvSpPr>
        <p:spPr>
          <a:xfrm>
            <a:off x="629892" y="2162267"/>
            <a:ext cx="2542684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dirty="0" err="1"/>
              <a:t>Homogeneous</a:t>
            </a:r>
            <a:r>
              <a:rPr lang="fr-BE" dirty="0"/>
              <a:t> condition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760260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EF5073C2-FDE2-42E9-A664-DB598CC58BD9}"/>
              </a:ext>
            </a:extLst>
          </p:cNvPr>
          <p:cNvSpPr txBox="1"/>
          <p:nvPr/>
        </p:nvSpPr>
        <p:spPr>
          <a:xfrm>
            <a:off x="5100728" y="1677318"/>
            <a:ext cx="1990545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dirty="0" err="1"/>
              <a:t>Luce’s</a:t>
            </a:r>
            <a:r>
              <a:rPr lang="fr-BE" dirty="0"/>
              <a:t> </a:t>
            </a:r>
            <a:r>
              <a:rPr lang="fr-BE" dirty="0" err="1"/>
              <a:t>choice</a:t>
            </a:r>
            <a:r>
              <a:rPr lang="fr-BE" dirty="0"/>
              <a:t> </a:t>
            </a:r>
            <a:r>
              <a:rPr lang="fr-BE" dirty="0" err="1"/>
              <a:t>rule</a:t>
            </a:r>
            <a:r>
              <a:rPr lang="fr-BE" dirty="0"/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ZoneTexte 10">
                <a:extLst>
                  <a:ext uri="{FF2B5EF4-FFF2-40B4-BE49-F238E27FC236}">
                    <a16:creationId xmlns:a16="http://schemas.microsoft.com/office/drawing/2014/main" id="{C5E02B0F-B78E-4CE3-987E-08E8CB34E584}"/>
                  </a:ext>
                </a:extLst>
              </p:cNvPr>
              <p:cNvSpPr txBox="1"/>
              <p:nvPr/>
            </p:nvSpPr>
            <p:spPr>
              <a:xfrm>
                <a:off x="5510006" y="2420888"/>
                <a:ext cx="1171988" cy="55867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BE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fr-BE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B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BE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num>
                        <m:den>
                          <m:nary>
                            <m:naryPr>
                              <m:chr m:val="∑"/>
                              <m:ctrlPr>
                                <a:rPr lang="fr-BE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fr-BE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fr-BE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fr-BE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r>
                                <a:rPr lang="fr-BE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nary>
                        </m:den>
                      </m:f>
                    </m:oMath>
                  </m:oMathPara>
                </a14:m>
                <a:endParaRPr lang="de-CH" dirty="0"/>
              </a:p>
            </p:txBody>
          </p:sp>
        </mc:Choice>
        <mc:Fallback xmlns="">
          <p:sp>
            <p:nvSpPr>
              <p:cNvPr id="11" name="ZoneTexte 10">
                <a:extLst>
                  <a:ext uri="{FF2B5EF4-FFF2-40B4-BE49-F238E27FC236}">
                    <a16:creationId xmlns:a16="http://schemas.microsoft.com/office/drawing/2014/main" id="{C5E02B0F-B78E-4CE3-987E-08E8CB34E5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0006" y="2420888"/>
                <a:ext cx="1171988" cy="55867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ZoneTexte 23">
            <a:extLst>
              <a:ext uri="{FF2B5EF4-FFF2-40B4-BE49-F238E27FC236}">
                <a16:creationId xmlns:a16="http://schemas.microsoft.com/office/drawing/2014/main" id="{2F3E8EFC-811F-4769-AE57-79439C21BE40}"/>
              </a:ext>
            </a:extLst>
          </p:cNvPr>
          <p:cNvSpPr txBox="1"/>
          <p:nvPr/>
        </p:nvSpPr>
        <p:spPr>
          <a:xfrm>
            <a:off x="4139791" y="3541023"/>
            <a:ext cx="3912417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BE" dirty="0"/>
              <a:t>A (Activation) = [0.90; 0.30; 0.10; 0.10]</a:t>
            </a:r>
            <a:endParaRPr lang="de-CH" dirty="0"/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774296C7-E104-46E5-9D39-27A7D65DB147}"/>
              </a:ext>
            </a:extLst>
          </p:cNvPr>
          <p:cNvSpPr txBox="1"/>
          <p:nvPr/>
        </p:nvSpPr>
        <p:spPr>
          <a:xfrm>
            <a:off x="2906675" y="4260140"/>
            <a:ext cx="1374094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fr-BE" dirty="0"/>
              <a:t>0.9 / </a:t>
            </a:r>
            <a:r>
              <a:rPr lang="fr-BE" dirty="0" err="1"/>
              <a:t>sum</a:t>
            </a:r>
            <a:r>
              <a:rPr lang="fr-BE" dirty="0"/>
              <a:t>(A)</a:t>
            </a:r>
            <a:endParaRPr lang="de-CH" dirty="0"/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1A85B469-5C8B-42CF-8197-F79CD445724A}"/>
              </a:ext>
            </a:extLst>
          </p:cNvPr>
          <p:cNvSpPr txBox="1"/>
          <p:nvPr/>
        </p:nvSpPr>
        <p:spPr>
          <a:xfrm>
            <a:off x="4583832" y="4261103"/>
            <a:ext cx="1374094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fr-BE" dirty="0"/>
              <a:t>0.3 / </a:t>
            </a:r>
            <a:r>
              <a:rPr lang="fr-BE" dirty="0" err="1"/>
              <a:t>sum</a:t>
            </a:r>
            <a:r>
              <a:rPr lang="fr-BE" dirty="0"/>
              <a:t>(A)</a:t>
            </a:r>
            <a:endParaRPr lang="de-CH" dirty="0"/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85C21947-FA11-412A-BDB4-AC3ED2461FAA}"/>
              </a:ext>
            </a:extLst>
          </p:cNvPr>
          <p:cNvSpPr txBox="1"/>
          <p:nvPr/>
        </p:nvSpPr>
        <p:spPr>
          <a:xfrm>
            <a:off x="6193315" y="4261103"/>
            <a:ext cx="1374094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fr-BE" dirty="0"/>
              <a:t>0.1 / </a:t>
            </a:r>
            <a:r>
              <a:rPr lang="fr-BE" dirty="0" err="1"/>
              <a:t>sum</a:t>
            </a:r>
            <a:r>
              <a:rPr lang="fr-BE" dirty="0"/>
              <a:t>(A)</a:t>
            </a:r>
            <a:endParaRPr lang="de-CH" dirty="0"/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2EA3958A-161B-4139-B6C6-037D04BF24C8}"/>
              </a:ext>
            </a:extLst>
          </p:cNvPr>
          <p:cNvSpPr txBox="1"/>
          <p:nvPr/>
        </p:nvSpPr>
        <p:spPr>
          <a:xfrm>
            <a:off x="7896200" y="4293096"/>
            <a:ext cx="1374094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fr-BE" dirty="0"/>
              <a:t>0.1 / </a:t>
            </a:r>
            <a:r>
              <a:rPr lang="fr-BE" dirty="0" err="1"/>
              <a:t>sum</a:t>
            </a:r>
            <a:r>
              <a:rPr lang="fr-BE" dirty="0"/>
              <a:t>(A)</a:t>
            </a:r>
            <a:endParaRPr lang="de-CH" dirty="0"/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1C9BC2E7-F92F-4B98-BBDD-25023E7D4BD7}"/>
              </a:ext>
            </a:extLst>
          </p:cNvPr>
          <p:cNvSpPr txBox="1"/>
          <p:nvPr/>
        </p:nvSpPr>
        <p:spPr>
          <a:xfrm>
            <a:off x="4711999" y="4941168"/>
            <a:ext cx="276800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dirty="0"/>
              <a:t>P = [</a:t>
            </a:r>
            <a:r>
              <a:rPr lang="fr-BE" b="1" dirty="0"/>
              <a:t>0.64</a:t>
            </a:r>
            <a:r>
              <a:rPr lang="fr-BE" dirty="0"/>
              <a:t>; 0.21; 0.07; 0.07]</a:t>
            </a:r>
            <a:endParaRPr lang="de-CH" dirty="0"/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6448664E-5915-4BE6-B9F2-A2031A9799A3}"/>
              </a:ext>
            </a:extLst>
          </p:cNvPr>
          <p:cNvSpPr txBox="1"/>
          <p:nvPr/>
        </p:nvSpPr>
        <p:spPr>
          <a:xfrm>
            <a:off x="983432" y="3537462"/>
            <a:ext cx="261642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dirty="0" err="1"/>
              <a:t>Heterogeneous</a:t>
            </a:r>
            <a:r>
              <a:rPr lang="fr-BE" dirty="0"/>
              <a:t> condition</a:t>
            </a:r>
            <a:endParaRPr lang="de-CH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85C73325-E4F6-4D69-92C3-5671D4FF5AFF}"/>
              </a:ext>
            </a:extLst>
          </p:cNvPr>
          <p:cNvSpPr txBox="1"/>
          <p:nvPr/>
        </p:nvSpPr>
        <p:spPr>
          <a:xfrm>
            <a:off x="3071664" y="5660285"/>
            <a:ext cx="6606469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dirty="0" err="1"/>
              <a:t>These</a:t>
            </a:r>
            <a:r>
              <a:rPr lang="fr-BE" dirty="0"/>
              <a:t> values </a:t>
            </a:r>
            <a:r>
              <a:rPr lang="fr-BE" dirty="0" err="1"/>
              <a:t>represent</a:t>
            </a:r>
            <a:r>
              <a:rPr lang="fr-BE" dirty="0"/>
              <a:t> the </a:t>
            </a:r>
            <a:r>
              <a:rPr lang="fr-BE" b="1" dirty="0" err="1"/>
              <a:t>competition</a:t>
            </a:r>
            <a:r>
              <a:rPr lang="fr-BE" dirty="0"/>
              <a:t> </a:t>
            </a:r>
            <a:r>
              <a:rPr lang="fr-BE" dirty="0" err="1"/>
              <a:t>between</a:t>
            </a:r>
            <a:r>
              <a:rPr lang="fr-BE" dirty="0"/>
              <a:t> items. </a:t>
            </a:r>
            <a:r>
              <a:rPr lang="fr-BE" dirty="0" err="1"/>
              <a:t>Here</a:t>
            </a:r>
            <a:r>
              <a:rPr lang="fr-BE" dirty="0"/>
              <a:t>, the </a:t>
            </a:r>
            <a:r>
              <a:rPr lang="fr-BE" b="1" dirty="0" err="1"/>
              <a:t>target</a:t>
            </a:r>
            <a:r>
              <a:rPr lang="fr-BE" dirty="0"/>
              <a:t> </a:t>
            </a:r>
            <a:r>
              <a:rPr lang="fr-BE" dirty="0" err="1"/>
              <a:t>is</a:t>
            </a:r>
            <a:r>
              <a:rPr lang="fr-BE" dirty="0"/>
              <a:t> </a:t>
            </a:r>
            <a:r>
              <a:rPr lang="fr-BE" dirty="0" err="1"/>
              <a:t>associated</a:t>
            </a:r>
            <a:r>
              <a:rPr lang="fr-BE" dirty="0"/>
              <a:t> to a large value </a:t>
            </a:r>
            <a:r>
              <a:rPr lang="fr-BE" dirty="0" err="1"/>
              <a:t>relatively</a:t>
            </a:r>
            <a:r>
              <a:rPr lang="fr-BE" dirty="0"/>
              <a:t> to </a:t>
            </a:r>
            <a:r>
              <a:rPr lang="fr-BE" dirty="0" err="1"/>
              <a:t>other</a:t>
            </a:r>
            <a:r>
              <a:rPr lang="fr-BE" dirty="0"/>
              <a:t> </a:t>
            </a:r>
            <a:r>
              <a:rPr lang="fr-BE" dirty="0" err="1"/>
              <a:t>competitors</a:t>
            </a:r>
            <a:r>
              <a:rPr lang="fr-BE" dirty="0"/>
              <a:t>, </a:t>
            </a:r>
            <a:r>
              <a:rPr lang="fr-BE" dirty="0" err="1"/>
              <a:t>so</a:t>
            </a:r>
            <a:r>
              <a:rPr lang="fr-BE" dirty="0"/>
              <a:t> </a:t>
            </a:r>
            <a:r>
              <a:rPr lang="fr-BE" dirty="0" err="1"/>
              <a:t>there’s</a:t>
            </a:r>
            <a:r>
              <a:rPr lang="fr-BE" dirty="0"/>
              <a:t> not </a:t>
            </a:r>
            <a:r>
              <a:rPr lang="fr-BE" dirty="0" err="1"/>
              <a:t>much</a:t>
            </a:r>
            <a:r>
              <a:rPr lang="fr-BE" dirty="0"/>
              <a:t> </a:t>
            </a:r>
            <a:r>
              <a:rPr lang="fr-BE" dirty="0" err="1"/>
              <a:t>competition</a:t>
            </a:r>
            <a:r>
              <a:rPr lang="fr-BE" dirty="0"/>
              <a:t>.</a:t>
            </a:r>
            <a:endParaRPr lang="de-CH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122F012-7CF2-4FB6-86FE-1A187F4DB756}"/>
              </a:ext>
            </a:extLst>
          </p:cNvPr>
          <p:cNvSpPr txBox="1"/>
          <p:nvPr/>
        </p:nvSpPr>
        <p:spPr>
          <a:xfrm>
            <a:off x="585651" y="4941168"/>
            <a:ext cx="4112023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dirty="0"/>
              <a:t>The </a:t>
            </a:r>
            <a:r>
              <a:rPr lang="fr-BE" dirty="0" err="1"/>
              <a:t>sum</a:t>
            </a:r>
            <a:r>
              <a:rPr lang="fr-BE" dirty="0"/>
              <a:t> of </a:t>
            </a:r>
            <a:r>
              <a:rPr lang="fr-BE" dirty="0" err="1"/>
              <a:t>this</a:t>
            </a:r>
            <a:r>
              <a:rPr lang="fr-BE" dirty="0"/>
              <a:t> </a:t>
            </a:r>
            <a:r>
              <a:rPr lang="fr-BE" dirty="0" err="1"/>
              <a:t>vector</a:t>
            </a:r>
            <a:r>
              <a:rPr lang="fr-BE" dirty="0"/>
              <a:t> </a:t>
            </a:r>
            <a:r>
              <a:rPr lang="fr-BE" dirty="0" err="1"/>
              <a:t>is</a:t>
            </a:r>
            <a:r>
              <a:rPr lang="fr-BE" dirty="0"/>
              <a:t> </a:t>
            </a:r>
            <a:r>
              <a:rPr lang="fr-BE" dirty="0" err="1"/>
              <a:t>equal</a:t>
            </a:r>
            <a:r>
              <a:rPr lang="fr-BE" dirty="0"/>
              <a:t> to one </a:t>
            </a:r>
            <a:r>
              <a:rPr lang="fr-BE" dirty="0">
                <a:sym typeface="Wingdings" panose="05000000000000000000" pitchFamily="2" charset="2"/>
              </a:rPr>
              <a:t>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954202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42" grpId="0"/>
      <p:bldP spid="43" grpId="0"/>
      <p:bldP spid="45" grpId="0"/>
      <p:bldP spid="46" grpId="0"/>
      <p:bldP spid="2" grpId="0"/>
      <p:bldP spid="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EF5073C2-FDE2-42E9-A664-DB598CC58BD9}"/>
              </a:ext>
            </a:extLst>
          </p:cNvPr>
          <p:cNvSpPr txBox="1"/>
          <p:nvPr/>
        </p:nvSpPr>
        <p:spPr>
          <a:xfrm>
            <a:off x="5100728" y="1677318"/>
            <a:ext cx="1990545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dirty="0" err="1"/>
              <a:t>Luce’s</a:t>
            </a:r>
            <a:r>
              <a:rPr lang="fr-BE" dirty="0"/>
              <a:t> </a:t>
            </a:r>
            <a:r>
              <a:rPr lang="fr-BE" dirty="0" err="1"/>
              <a:t>choice</a:t>
            </a:r>
            <a:r>
              <a:rPr lang="fr-BE" dirty="0"/>
              <a:t> </a:t>
            </a:r>
            <a:r>
              <a:rPr lang="fr-BE" dirty="0" err="1"/>
              <a:t>rule</a:t>
            </a:r>
            <a:r>
              <a:rPr lang="fr-BE" dirty="0"/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ZoneTexte 10">
                <a:extLst>
                  <a:ext uri="{FF2B5EF4-FFF2-40B4-BE49-F238E27FC236}">
                    <a16:creationId xmlns:a16="http://schemas.microsoft.com/office/drawing/2014/main" id="{C5E02B0F-B78E-4CE3-987E-08E8CB34E584}"/>
                  </a:ext>
                </a:extLst>
              </p:cNvPr>
              <p:cNvSpPr txBox="1"/>
              <p:nvPr/>
            </p:nvSpPr>
            <p:spPr>
              <a:xfrm>
                <a:off x="5510006" y="2420888"/>
                <a:ext cx="1171988" cy="55867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BE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fr-BE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BE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BE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num>
                        <m:den>
                          <m:nary>
                            <m:naryPr>
                              <m:chr m:val="∑"/>
                              <m:ctrlPr>
                                <a:rPr lang="fr-BE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fr-BE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fr-BE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fr-BE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p>
                            <m:e>
                              <m:r>
                                <a:rPr lang="fr-BE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nary>
                        </m:den>
                      </m:f>
                    </m:oMath>
                  </m:oMathPara>
                </a14:m>
                <a:endParaRPr lang="de-CH" dirty="0"/>
              </a:p>
            </p:txBody>
          </p:sp>
        </mc:Choice>
        <mc:Fallback xmlns="">
          <p:sp>
            <p:nvSpPr>
              <p:cNvPr id="11" name="ZoneTexte 10">
                <a:extLst>
                  <a:ext uri="{FF2B5EF4-FFF2-40B4-BE49-F238E27FC236}">
                    <a16:creationId xmlns:a16="http://schemas.microsoft.com/office/drawing/2014/main" id="{C5E02B0F-B78E-4CE3-987E-08E8CB34E5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0006" y="2420888"/>
                <a:ext cx="1171988" cy="55867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ZoneTexte 23">
            <a:extLst>
              <a:ext uri="{FF2B5EF4-FFF2-40B4-BE49-F238E27FC236}">
                <a16:creationId xmlns:a16="http://schemas.microsoft.com/office/drawing/2014/main" id="{2F3E8EFC-811F-4769-AE57-79439C21BE40}"/>
              </a:ext>
            </a:extLst>
          </p:cNvPr>
          <p:cNvSpPr txBox="1"/>
          <p:nvPr/>
        </p:nvSpPr>
        <p:spPr>
          <a:xfrm>
            <a:off x="4139794" y="3541023"/>
            <a:ext cx="3912418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BE" dirty="0"/>
              <a:t>A (Activation) = [0.95; 0.80; 0.91; 0.90]</a:t>
            </a:r>
            <a:endParaRPr lang="de-CH" dirty="0"/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774296C7-E104-46E5-9D39-27A7D65DB147}"/>
              </a:ext>
            </a:extLst>
          </p:cNvPr>
          <p:cNvSpPr txBox="1"/>
          <p:nvPr/>
        </p:nvSpPr>
        <p:spPr>
          <a:xfrm>
            <a:off x="2906675" y="4260140"/>
            <a:ext cx="1495922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fr-BE" dirty="0"/>
              <a:t>0.95 / </a:t>
            </a:r>
            <a:r>
              <a:rPr lang="fr-BE" dirty="0" err="1"/>
              <a:t>sum</a:t>
            </a:r>
            <a:r>
              <a:rPr lang="fr-BE" dirty="0"/>
              <a:t>(A)</a:t>
            </a:r>
            <a:endParaRPr lang="de-CH" dirty="0"/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1A85B469-5C8B-42CF-8197-F79CD445724A}"/>
              </a:ext>
            </a:extLst>
          </p:cNvPr>
          <p:cNvSpPr txBox="1"/>
          <p:nvPr/>
        </p:nvSpPr>
        <p:spPr>
          <a:xfrm>
            <a:off x="4583832" y="4261103"/>
            <a:ext cx="1374094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fr-BE" dirty="0"/>
              <a:t>0.8 / </a:t>
            </a:r>
            <a:r>
              <a:rPr lang="fr-BE" dirty="0" err="1"/>
              <a:t>sum</a:t>
            </a:r>
            <a:r>
              <a:rPr lang="fr-BE" dirty="0"/>
              <a:t>(A)</a:t>
            </a:r>
            <a:endParaRPr lang="de-CH" dirty="0"/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85C21947-FA11-412A-BDB4-AC3ED2461FAA}"/>
              </a:ext>
            </a:extLst>
          </p:cNvPr>
          <p:cNvSpPr txBox="1"/>
          <p:nvPr/>
        </p:nvSpPr>
        <p:spPr>
          <a:xfrm>
            <a:off x="6193315" y="4261103"/>
            <a:ext cx="1495922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fr-BE" dirty="0"/>
              <a:t>0.91 / </a:t>
            </a:r>
            <a:r>
              <a:rPr lang="fr-BE" dirty="0" err="1"/>
              <a:t>sum</a:t>
            </a:r>
            <a:r>
              <a:rPr lang="fr-BE" dirty="0"/>
              <a:t>(A)</a:t>
            </a:r>
            <a:endParaRPr lang="de-CH" dirty="0"/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2EA3958A-161B-4139-B6C6-037D04BF24C8}"/>
              </a:ext>
            </a:extLst>
          </p:cNvPr>
          <p:cNvSpPr txBox="1"/>
          <p:nvPr/>
        </p:nvSpPr>
        <p:spPr>
          <a:xfrm>
            <a:off x="7896200" y="4293096"/>
            <a:ext cx="1495922" cy="3539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fr-BE" dirty="0"/>
              <a:t>0.90 / </a:t>
            </a:r>
            <a:r>
              <a:rPr lang="fr-BE" dirty="0" err="1"/>
              <a:t>sum</a:t>
            </a:r>
            <a:r>
              <a:rPr lang="fr-BE" dirty="0"/>
              <a:t>(A)</a:t>
            </a:r>
            <a:endParaRPr lang="de-CH" dirty="0"/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1C9BC2E7-F92F-4B98-BBDD-25023E7D4BD7}"/>
              </a:ext>
            </a:extLst>
          </p:cNvPr>
          <p:cNvSpPr txBox="1"/>
          <p:nvPr/>
        </p:nvSpPr>
        <p:spPr>
          <a:xfrm>
            <a:off x="4711999" y="4941168"/>
            <a:ext cx="276800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dirty="0"/>
              <a:t>P = [</a:t>
            </a:r>
            <a:r>
              <a:rPr lang="fr-BE" b="1" dirty="0"/>
              <a:t>0.27</a:t>
            </a:r>
            <a:r>
              <a:rPr lang="fr-BE" dirty="0"/>
              <a:t>; 0.22; 0.26; 0.25]</a:t>
            </a:r>
            <a:endParaRPr lang="de-CH" dirty="0"/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6448664E-5915-4BE6-B9F2-A2031A9799A3}"/>
              </a:ext>
            </a:extLst>
          </p:cNvPr>
          <p:cNvSpPr txBox="1"/>
          <p:nvPr/>
        </p:nvSpPr>
        <p:spPr>
          <a:xfrm>
            <a:off x="983432" y="3537462"/>
            <a:ext cx="2542684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dirty="0" err="1"/>
              <a:t>Homogeneous</a:t>
            </a:r>
            <a:r>
              <a:rPr lang="fr-BE" dirty="0"/>
              <a:t> condition</a:t>
            </a:r>
            <a:endParaRPr lang="de-CH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D5F01AB9-0087-46C3-B8E2-F6E4B22E2BFF}"/>
              </a:ext>
            </a:extLst>
          </p:cNvPr>
          <p:cNvSpPr txBox="1"/>
          <p:nvPr/>
        </p:nvSpPr>
        <p:spPr>
          <a:xfrm>
            <a:off x="4765933" y="5661248"/>
            <a:ext cx="2383986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dirty="0" err="1"/>
              <a:t>Increased</a:t>
            </a:r>
            <a:r>
              <a:rPr lang="fr-BE" dirty="0"/>
              <a:t> </a:t>
            </a:r>
            <a:r>
              <a:rPr lang="fr-BE" dirty="0" err="1"/>
              <a:t>competition</a:t>
            </a:r>
            <a:r>
              <a:rPr lang="fr-BE" dirty="0"/>
              <a:t>!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778283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42" grpId="0"/>
      <p:bldP spid="43" grpId="0"/>
      <p:bldP spid="45" grpId="0"/>
      <p:bldP spid="46" grpId="0"/>
      <p:bldP spid="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5F54AC73-B678-42A5-BE46-B8DE019CD2ED}"/>
              </a:ext>
            </a:extLst>
          </p:cNvPr>
          <p:cNvSpPr txBox="1"/>
          <p:nvPr/>
        </p:nvSpPr>
        <p:spPr>
          <a:xfrm>
            <a:off x="2279576" y="2636912"/>
            <a:ext cx="8064896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b="1" dirty="0" err="1"/>
              <a:t>Explained</a:t>
            </a:r>
            <a:r>
              <a:rPr lang="fr-BE" b="1" dirty="0"/>
              <a:t> </a:t>
            </a:r>
            <a:r>
              <a:rPr lang="fr-BE" b="1" dirty="0" err="1"/>
              <a:t>verbally</a:t>
            </a:r>
            <a:r>
              <a:rPr lang="fr-BE" b="1" dirty="0"/>
              <a:t>:</a:t>
            </a:r>
          </a:p>
          <a:p>
            <a:pPr algn="ctr"/>
            <a:endParaRPr lang="fr-BE" dirty="0"/>
          </a:p>
          <a:p>
            <a:pPr algn="ctr"/>
            <a:r>
              <a:rPr lang="fr-BE" dirty="0"/>
              <a:t>Items spread activation in a </a:t>
            </a:r>
            <a:r>
              <a:rPr lang="fr-BE" dirty="0" err="1"/>
              <a:t>semantic</a:t>
            </a:r>
            <a:r>
              <a:rPr lang="fr-BE" dirty="0"/>
              <a:t> network.</a:t>
            </a:r>
          </a:p>
          <a:p>
            <a:pPr algn="ctr"/>
            <a:r>
              <a:rPr lang="fr-BE" dirty="0"/>
              <a:t>The </a:t>
            </a:r>
            <a:r>
              <a:rPr lang="fr-BE" dirty="0" err="1"/>
              <a:t>homogenenous</a:t>
            </a:r>
            <a:r>
              <a:rPr lang="fr-BE" dirty="0"/>
              <a:t> condition </a:t>
            </a:r>
            <a:r>
              <a:rPr lang="fr-BE" dirty="0" err="1"/>
              <a:t>creates</a:t>
            </a:r>
            <a:r>
              <a:rPr lang="fr-BE" dirty="0"/>
              <a:t> an over-activation in </a:t>
            </a:r>
            <a:r>
              <a:rPr lang="fr-BE" dirty="0" err="1"/>
              <a:t>this</a:t>
            </a:r>
            <a:r>
              <a:rPr lang="fr-BE" dirty="0"/>
              <a:t> network.</a:t>
            </a:r>
          </a:p>
          <a:p>
            <a:pPr algn="ctr"/>
            <a:r>
              <a:rPr lang="fr-BE" dirty="0" err="1"/>
              <a:t>Since</a:t>
            </a:r>
            <a:r>
              <a:rPr lang="fr-BE" dirty="0"/>
              <a:t> </a:t>
            </a:r>
            <a:r>
              <a:rPr lang="fr-BE" dirty="0" err="1"/>
              <a:t>selection</a:t>
            </a:r>
            <a:r>
              <a:rPr lang="fr-BE" dirty="0"/>
              <a:t> </a:t>
            </a:r>
            <a:r>
              <a:rPr lang="fr-BE" dirty="0" err="1"/>
              <a:t>is</a:t>
            </a:r>
            <a:r>
              <a:rPr lang="fr-BE" dirty="0"/>
              <a:t> activation-</a:t>
            </a:r>
            <a:r>
              <a:rPr lang="fr-BE" dirty="0" err="1"/>
              <a:t>based</a:t>
            </a:r>
            <a:r>
              <a:rPr lang="fr-BE" dirty="0"/>
              <a:t>, an over-activation of </a:t>
            </a:r>
            <a:r>
              <a:rPr lang="fr-BE" dirty="0" err="1"/>
              <a:t>semantically</a:t>
            </a:r>
            <a:r>
              <a:rPr lang="fr-BE" dirty="0"/>
              <a:t> </a:t>
            </a:r>
            <a:r>
              <a:rPr lang="fr-BE" dirty="0" err="1"/>
              <a:t>similar</a:t>
            </a:r>
            <a:r>
              <a:rPr lang="fr-BE" dirty="0"/>
              <a:t> </a:t>
            </a:r>
            <a:r>
              <a:rPr lang="fr-BE" dirty="0" err="1"/>
              <a:t>competitors</a:t>
            </a:r>
            <a:r>
              <a:rPr lang="fr-BE" dirty="0"/>
              <a:t> </a:t>
            </a:r>
            <a:r>
              <a:rPr lang="fr-BE" dirty="0" err="1"/>
              <a:t>creates</a:t>
            </a:r>
            <a:r>
              <a:rPr lang="fr-BE" dirty="0"/>
              <a:t> a </a:t>
            </a:r>
            <a:r>
              <a:rPr lang="fr-BE" dirty="0" err="1"/>
              <a:t>higher</a:t>
            </a:r>
            <a:r>
              <a:rPr lang="fr-BE" dirty="0"/>
              <a:t> </a:t>
            </a:r>
            <a:r>
              <a:rPr lang="fr-BE" dirty="0" err="1"/>
              <a:t>competition</a:t>
            </a:r>
            <a:r>
              <a:rPr lang="fr-BE" dirty="0"/>
              <a:t> </a:t>
            </a:r>
            <a:r>
              <a:rPr lang="fr-BE" dirty="0" err="1"/>
              <a:t>between</a:t>
            </a:r>
            <a:r>
              <a:rPr lang="fr-BE" dirty="0"/>
              <a:t> candidates.</a:t>
            </a:r>
          </a:p>
          <a:p>
            <a:pPr algn="ctr"/>
            <a:endParaRPr lang="fr-BE" dirty="0"/>
          </a:p>
          <a:p>
            <a:pPr algn="ctr"/>
            <a:r>
              <a:rPr lang="fr-BE" dirty="0"/>
              <a:t>The </a:t>
            </a:r>
            <a:r>
              <a:rPr lang="fr-BE" dirty="0" err="1"/>
              <a:t>Luce’s</a:t>
            </a:r>
            <a:r>
              <a:rPr lang="fr-BE" dirty="0"/>
              <a:t> </a:t>
            </a:r>
            <a:r>
              <a:rPr lang="fr-BE" dirty="0" err="1"/>
              <a:t>choice</a:t>
            </a:r>
            <a:r>
              <a:rPr lang="fr-BE" dirty="0"/>
              <a:t> </a:t>
            </a:r>
            <a:r>
              <a:rPr lang="fr-BE" dirty="0" err="1"/>
              <a:t>rule</a:t>
            </a:r>
            <a:r>
              <a:rPr lang="fr-BE" dirty="0"/>
              <a:t> </a:t>
            </a:r>
            <a:r>
              <a:rPr lang="fr-BE" dirty="0" err="1"/>
              <a:t>is</a:t>
            </a:r>
            <a:r>
              <a:rPr lang="fr-BE" dirty="0"/>
              <a:t> </a:t>
            </a:r>
            <a:r>
              <a:rPr lang="fr-BE" dirty="0" err="1"/>
              <a:t>simply</a:t>
            </a:r>
            <a:r>
              <a:rPr lang="fr-BE" dirty="0"/>
              <a:t> a </a:t>
            </a:r>
            <a:r>
              <a:rPr lang="fr-BE" dirty="0" err="1"/>
              <a:t>mathematical</a:t>
            </a:r>
            <a:r>
              <a:rPr lang="fr-BE" dirty="0"/>
              <a:t> expression of </a:t>
            </a:r>
            <a:r>
              <a:rPr lang="fr-BE" dirty="0" err="1"/>
              <a:t>this</a:t>
            </a:r>
            <a:r>
              <a:rPr lang="fr-BE" dirty="0"/>
              <a:t> </a:t>
            </a:r>
            <a:r>
              <a:rPr lang="fr-BE" dirty="0" err="1"/>
              <a:t>idea</a:t>
            </a:r>
            <a:r>
              <a:rPr lang="fr-BE" dirty="0"/>
              <a:t>.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933077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1">
            <a:extLst>
              <a:ext uri="{FF2B5EF4-FFF2-40B4-BE49-F238E27FC236}">
                <a16:creationId xmlns:a16="http://schemas.microsoft.com/office/drawing/2014/main" id="{711F4C10-173B-40F1-BE85-AFE98D3F6846}"/>
              </a:ext>
            </a:extLst>
          </p:cNvPr>
          <p:cNvSpPr/>
          <p:nvPr/>
        </p:nvSpPr>
        <p:spPr bwMode="auto">
          <a:xfrm>
            <a:off x="3287688" y="2708920"/>
            <a:ext cx="360040" cy="360040"/>
          </a:xfrm>
          <a:prstGeom prst="ellipse">
            <a:avLst/>
          </a:prstGeom>
          <a:solidFill>
            <a:srgbClr val="0028A5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60A023F6-EA86-4D13-9722-A2912DCEF4A7}"/>
              </a:ext>
            </a:extLst>
          </p:cNvPr>
          <p:cNvSpPr/>
          <p:nvPr/>
        </p:nvSpPr>
        <p:spPr bwMode="auto">
          <a:xfrm>
            <a:off x="3719736" y="3284984"/>
            <a:ext cx="360040" cy="360040"/>
          </a:xfrm>
          <a:prstGeom prst="ellipse">
            <a:avLst/>
          </a:prstGeom>
          <a:solidFill>
            <a:srgbClr val="0028A5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0A8F6847-97A8-47F0-84F5-EE64EAA4025C}"/>
              </a:ext>
            </a:extLst>
          </p:cNvPr>
          <p:cNvSpPr/>
          <p:nvPr/>
        </p:nvSpPr>
        <p:spPr bwMode="auto">
          <a:xfrm>
            <a:off x="4367808" y="2528900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AB71A8C1-33EA-497E-A568-42C877929C36}"/>
              </a:ext>
            </a:extLst>
          </p:cNvPr>
          <p:cNvSpPr/>
          <p:nvPr/>
        </p:nvSpPr>
        <p:spPr bwMode="auto">
          <a:xfrm>
            <a:off x="4485556" y="3212976"/>
            <a:ext cx="360040" cy="360040"/>
          </a:xfrm>
          <a:prstGeom prst="ellipse">
            <a:avLst/>
          </a:prstGeom>
          <a:solidFill>
            <a:srgbClr val="0028A5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8EFAF788-D7E8-4F35-84D1-08C56E7AA6B6}"/>
              </a:ext>
            </a:extLst>
          </p:cNvPr>
          <p:cNvSpPr/>
          <p:nvPr/>
        </p:nvSpPr>
        <p:spPr bwMode="auto">
          <a:xfrm>
            <a:off x="2639616" y="3392996"/>
            <a:ext cx="360040" cy="360040"/>
          </a:xfrm>
          <a:prstGeom prst="ellipse">
            <a:avLst/>
          </a:prstGeom>
          <a:solidFill>
            <a:srgbClr val="0028A5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343C4F73-5949-48BA-83F0-C868FC22FAC9}"/>
              </a:ext>
            </a:extLst>
          </p:cNvPr>
          <p:cNvSpPr/>
          <p:nvPr/>
        </p:nvSpPr>
        <p:spPr bwMode="auto">
          <a:xfrm>
            <a:off x="3262586" y="1916832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78972C6A-1511-48BE-91B2-E7AAAF90263E}"/>
              </a:ext>
            </a:extLst>
          </p:cNvPr>
          <p:cNvSpPr/>
          <p:nvPr/>
        </p:nvSpPr>
        <p:spPr bwMode="auto">
          <a:xfrm>
            <a:off x="5447928" y="2852936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6D4A7B67-3776-4881-B95E-710968BD9FA5}"/>
              </a:ext>
            </a:extLst>
          </p:cNvPr>
          <p:cNvSpPr/>
          <p:nvPr/>
        </p:nvSpPr>
        <p:spPr bwMode="auto">
          <a:xfrm>
            <a:off x="6096000" y="1988840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AE011C1A-BF53-49C0-B903-87FF86F37029}"/>
              </a:ext>
            </a:extLst>
          </p:cNvPr>
          <p:cNvSpPr/>
          <p:nvPr/>
        </p:nvSpPr>
        <p:spPr bwMode="auto">
          <a:xfrm>
            <a:off x="6744072" y="3104964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1FB70D76-56FF-4CC9-A0F6-E07FFAD3CDD7}"/>
              </a:ext>
            </a:extLst>
          </p:cNvPr>
          <p:cNvSpPr/>
          <p:nvPr/>
        </p:nvSpPr>
        <p:spPr bwMode="auto">
          <a:xfrm>
            <a:off x="5915980" y="3717032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4AF10B54-73AD-4831-BCAF-9FA14E9DC38D}"/>
              </a:ext>
            </a:extLst>
          </p:cNvPr>
          <p:cNvSpPr/>
          <p:nvPr/>
        </p:nvSpPr>
        <p:spPr bwMode="auto">
          <a:xfrm>
            <a:off x="3467708" y="5229200"/>
            <a:ext cx="360040" cy="360040"/>
          </a:xfrm>
          <a:prstGeom prst="ellipse">
            <a:avLst/>
          </a:prstGeom>
          <a:solidFill>
            <a:srgbClr val="0028A5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DA6D3369-733C-4FDE-AD6D-5C9AE65BA8C0}"/>
              </a:ext>
            </a:extLst>
          </p:cNvPr>
          <p:cNvSpPr/>
          <p:nvPr/>
        </p:nvSpPr>
        <p:spPr bwMode="auto">
          <a:xfrm>
            <a:off x="4187788" y="5229200"/>
            <a:ext cx="360040" cy="360040"/>
          </a:xfrm>
          <a:prstGeom prst="ellipse">
            <a:avLst/>
          </a:prstGeom>
          <a:solidFill>
            <a:srgbClr val="0028A5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3215B85C-CFCD-4E08-8D07-B1EE130BC189}"/>
              </a:ext>
            </a:extLst>
          </p:cNvPr>
          <p:cNvSpPr/>
          <p:nvPr/>
        </p:nvSpPr>
        <p:spPr bwMode="auto">
          <a:xfrm>
            <a:off x="4943872" y="5254054"/>
            <a:ext cx="360040" cy="360040"/>
          </a:xfrm>
          <a:prstGeom prst="ellipse">
            <a:avLst/>
          </a:prstGeom>
          <a:solidFill>
            <a:srgbClr val="0028A5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0821C9CD-58F2-4E43-B235-AE66856A8ECE}"/>
              </a:ext>
            </a:extLst>
          </p:cNvPr>
          <p:cNvSpPr/>
          <p:nvPr/>
        </p:nvSpPr>
        <p:spPr bwMode="auto">
          <a:xfrm>
            <a:off x="5714690" y="5280942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5256DBAE-2198-4549-B9E0-DD80557AB8A6}"/>
              </a:ext>
            </a:extLst>
          </p:cNvPr>
          <p:cNvSpPr/>
          <p:nvPr/>
        </p:nvSpPr>
        <p:spPr bwMode="auto">
          <a:xfrm>
            <a:off x="6456040" y="5301208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E85FD231-01EF-4C88-868F-A3496EB78F8A}"/>
              </a:ext>
            </a:extLst>
          </p:cNvPr>
          <p:cNvSpPr txBox="1"/>
          <p:nvPr/>
        </p:nvSpPr>
        <p:spPr>
          <a:xfrm>
            <a:off x="8904312" y="5321374"/>
            <a:ext cx="1616148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dirty="0"/>
              <a:t>Lexical system</a:t>
            </a:r>
            <a:endParaRPr lang="de-CH" dirty="0"/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E580B6AA-D299-484B-9CC7-825403E7EBF1}"/>
              </a:ext>
            </a:extLst>
          </p:cNvPr>
          <p:cNvSpPr txBox="1"/>
          <p:nvPr/>
        </p:nvSpPr>
        <p:spPr>
          <a:xfrm>
            <a:off x="8673480" y="2931041"/>
            <a:ext cx="1846980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dirty="0" err="1"/>
              <a:t>Semantic</a:t>
            </a:r>
            <a:r>
              <a:rPr lang="fr-BE" dirty="0"/>
              <a:t> system</a:t>
            </a:r>
            <a:endParaRPr lang="de-CH" dirty="0"/>
          </a:p>
        </p:txBody>
      </p: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77DFA180-5775-4F26-A3F1-F7BF6A367F3A}"/>
              </a:ext>
            </a:extLst>
          </p:cNvPr>
          <p:cNvCxnSpPr>
            <a:stCxn id="6" idx="4"/>
            <a:endCxn id="7" idx="0"/>
          </p:cNvCxnSpPr>
          <p:nvPr/>
        </p:nvCxnSpPr>
        <p:spPr bwMode="auto">
          <a:xfrm>
            <a:off x="4547828" y="2888940"/>
            <a:ext cx="117748" cy="32403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2E89A693-49A5-45D3-A6B2-53C0F3B7B8E7}"/>
              </a:ext>
            </a:extLst>
          </p:cNvPr>
          <p:cNvCxnSpPr>
            <a:cxnSpLocks/>
            <a:stCxn id="5" idx="0"/>
            <a:endCxn id="6" idx="3"/>
          </p:cNvCxnSpPr>
          <p:nvPr/>
        </p:nvCxnSpPr>
        <p:spPr bwMode="auto">
          <a:xfrm flipV="1">
            <a:off x="3899756" y="2836213"/>
            <a:ext cx="520779" cy="44877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" name="Connecteur droit 25">
            <a:extLst>
              <a:ext uri="{FF2B5EF4-FFF2-40B4-BE49-F238E27FC236}">
                <a16:creationId xmlns:a16="http://schemas.microsoft.com/office/drawing/2014/main" id="{8641AE00-3651-48C7-B579-1DBF357D961B}"/>
              </a:ext>
            </a:extLst>
          </p:cNvPr>
          <p:cNvCxnSpPr>
            <a:cxnSpLocks/>
            <a:stCxn id="2" idx="6"/>
            <a:endCxn id="6" idx="2"/>
          </p:cNvCxnSpPr>
          <p:nvPr/>
        </p:nvCxnSpPr>
        <p:spPr bwMode="auto">
          <a:xfrm flipV="1">
            <a:off x="3647728" y="2708920"/>
            <a:ext cx="720080" cy="18002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9" name="Connecteur droit 28">
            <a:extLst>
              <a:ext uri="{FF2B5EF4-FFF2-40B4-BE49-F238E27FC236}">
                <a16:creationId xmlns:a16="http://schemas.microsoft.com/office/drawing/2014/main" id="{7CA65CF8-AF41-43CD-B535-6C2488B753D7}"/>
              </a:ext>
            </a:extLst>
          </p:cNvPr>
          <p:cNvCxnSpPr>
            <a:cxnSpLocks/>
            <a:stCxn id="2" idx="0"/>
            <a:endCxn id="10" idx="4"/>
          </p:cNvCxnSpPr>
          <p:nvPr/>
        </p:nvCxnSpPr>
        <p:spPr bwMode="auto">
          <a:xfrm flipH="1" flipV="1">
            <a:off x="3442606" y="2276872"/>
            <a:ext cx="25102" cy="43204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2" name="Connecteur droit 31">
            <a:extLst>
              <a:ext uri="{FF2B5EF4-FFF2-40B4-BE49-F238E27FC236}">
                <a16:creationId xmlns:a16="http://schemas.microsoft.com/office/drawing/2014/main" id="{1833D6F2-23B6-4964-93A5-DAD6D0DDB1AF}"/>
              </a:ext>
            </a:extLst>
          </p:cNvPr>
          <p:cNvCxnSpPr>
            <a:cxnSpLocks/>
            <a:stCxn id="6" idx="1"/>
            <a:endCxn id="10" idx="6"/>
          </p:cNvCxnSpPr>
          <p:nvPr/>
        </p:nvCxnSpPr>
        <p:spPr bwMode="auto">
          <a:xfrm flipH="1" flipV="1">
            <a:off x="3622626" y="2096852"/>
            <a:ext cx="797909" cy="48477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" name="Connecteur droit 34">
            <a:extLst>
              <a:ext uri="{FF2B5EF4-FFF2-40B4-BE49-F238E27FC236}">
                <a16:creationId xmlns:a16="http://schemas.microsoft.com/office/drawing/2014/main" id="{21D03704-E72C-4AB7-9771-A92B6711C96D}"/>
              </a:ext>
            </a:extLst>
          </p:cNvPr>
          <p:cNvCxnSpPr>
            <a:cxnSpLocks/>
            <a:stCxn id="2" idx="4"/>
            <a:endCxn id="9" idx="7"/>
          </p:cNvCxnSpPr>
          <p:nvPr/>
        </p:nvCxnSpPr>
        <p:spPr bwMode="auto">
          <a:xfrm flipH="1">
            <a:off x="2946929" y="3068960"/>
            <a:ext cx="520779" cy="37676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" name="Connecteur droit 37">
            <a:extLst>
              <a:ext uri="{FF2B5EF4-FFF2-40B4-BE49-F238E27FC236}">
                <a16:creationId xmlns:a16="http://schemas.microsoft.com/office/drawing/2014/main" id="{52982353-0022-4189-A713-8C02E9AD3D56}"/>
              </a:ext>
            </a:extLst>
          </p:cNvPr>
          <p:cNvCxnSpPr>
            <a:cxnSpLocks/>
            <a:stCxn id="5" idx="2"/>
            <a:endCxn id="9" idx="6"/>
          </p:cNvCxnSpPr>
          <p:nvPr/>
        </p:nvCxnSpPr>
        <p:spPr bwMode="auto">
          <a:xfrm flipH="1">
            <a:off x="2999656" y="3465004"/>
            <a:ext cx="720080" cy="10801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" name="Connecteur droit 40">
            <a:extLst>
              <a:ext uri="{FF2B5EF4-FFF2-40B4-BE49-F238E27FC236}">
                <a16:creationId xmlns:a16="http://schemas.microsoft.com/office/drawing/2014/main" id="{579E41A8-95F2-4FA1-B45B-8189274F8AAB}"/>
              </a:ext>
            </a:extLst>
          </p:cNvPr>
          <p:cNvCxnSpPr>
            <a:cxnSpLocks/>
            <a:stCxn id="7" idx="2"/>
            <a:endCxn id="5" idx="6"/>
          </p:cNvCxnSpPr>
          <p:nvPr/>
        </p:nvCxnSpPr>
        <p:spPr bwMode="auto">
          <a:xfrm flipH="1">
            <a:off x="4079776" y="3392996"/>
            <a:ext cx="405780" cy="7200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E0432E9D-3A92-4A69-845C-E7B37F640F8F}"/>
              </a:ext>
            </a:extLst>
          </p:cNvPr>
          <p:cNvCxnSpPr>
            <a:cxnSpLocks/>
            <a:stCxn id="12" idx="2"/>
            <a:endCxn id="7" idx="6"/>
          </p:cNvCxnSpPr>
          <p:nvPr/>
        </p:nvCxnSpPr>
        <p:spPr bwMode="auto">
          <a:xfrm flipH="1">
            <a:off x="4845596" y="3032956"/>
            <a:ext cx="602332" cy="36004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7" name="Connecteur droit 46">
            <a:extLst>
              <a:ext uri="{FF2B5EF4-FFF2-40B4-BE49-F238E27FC236}">
                <a16:creationId xmlns:a16="http://schemas.microsoft.com/office/drawing/2014/main" id="{77C8C018-8AF7-4351-9DD2-F43C48B81845}"/>
              </a:ext>
            </a:extLst>
          </p:cNvPr>
          <p:cNvCxnSpPr>
            <a:cxnSpLocks/>
            <a:stCxn id="13" idx="4"/>
            <a:endCxn id="14" idx="1"/>
          </p:cNvCxnSpPr>
          <p:nvPr/>
        </p:nvCxnSpPr>
        <p:spPr bwMode="auto">
          <a:xfrm>
            <a:off x="6276020" y="2348880"/>
            <a:ext cx="520779" cy="80881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1" name="Connecteur droit 50">
            <a:extLst>
              <a:ext uri="{FF2B5EF4-FFF2-40B4-BE49-F238E27FC236}">
                <a16:creationId xmlns:a16="http://schemas.microsoft.com/office/drawing/2014/main" id="{58FE7180-75AD-4A48-8003-D6692D750CE9}"/>
              </a:ext>
            </a:extLst>
          </p:cNvPr>
          <p:cNvCxnSpPr>
            <a:cxnSpLocks/>
            <a:stCxn id="15" idx="2"/>
            <a:endCxn id="7" idx="5"/>
          </p:cNvCxnSpPr>
          <p:nvPr/>
        </p:nvCxnSpPr>
        <p:spPr bwMode="auto">
          <a:xfrm flipH="1" flipV="1">
            <a:off x="4792869" y="3520289"/>
            <a:ext cx="1123111" cy="37676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97D7CD0E-7DDA-4728-B7BB-35405BF58AFF}"/>
              </a:ext>
            </a:extLst>
          </p:cNvPr>
          <p:cNvCxnSpPr>
            <a:cxnSpLocks/>
            <a:stCxn id="16" idx="0"/>
            <a:endCxn id="9" idx="5"/>
          </p:cNvCxnSpPr>
          <p:nvPr/>
        </p:nvCxnSpPr>
        <p:spPr bwMode="auto">
          <a:xfrm flipH="1" flipV="1">
            <a:off x="2946929" y="3700309"/>
            <a:ext cx="700799" cy="152889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8" name="Connecteur droit 57">
            <a:extLst>
              <a:ext uri="{FF2B5EF4-FFF2-40B4-BE49-F238E27FC236}">
                <a16:creationId xmlns:a16="http://schemas.microsoft.com/office/drawing/2014/main" id="{D7411F38-B640-4660-A968-4A3BE19D1601}"/>
              </a:ext>
            </a:extLst>
          </p:cNvPr>
          <p:cNvCxnSpPr>
            <a:cxnSpLocks/>
            <a:stCxn id="17" idx="0"/>
            <a:endCxn id="5" idx="4"/>
          </p:cNvCxnSpPr>
          <p:nvPr/>
        </p:nvCxnSpPr>
        <p:spPr bwMode="auto">
          <a:xfrm flipH="1" flipV="1">
            <a:off x="3899756" y="3645024"/>
            <a:ext cx="468052" cy="158417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2" name="Connecteur droit 61">
            <a:extLst>
              <a:ext uri="{FF2B5EF4-FFF2-40B4-BE49-F238E27FC236}">
                <a16:creationId xmlns:a16="http://schemas.microsoft.com/office/drawing/2014/main" id="{BDD0641C-00C2-4E42-9FC5-8FABD9CA2706}"/>
              </a:ext>
            </a:extLst>
          </p:cNvPr>
          <p:cNvCxnSpPr>
            <a:cxnSpLocks/>
            <a:stCxn id="19" idx="0"/>
            <a:endCxn id="15" idx="4"/>
          </p:cNvCxnSpPr>
          <p:nvPr/>
        </p:nvCxnSpPr>
        <p:spPr bwMode="auto">
          <a:xfrm flipV="1">
            <a:off x="5894710" y="4077072"/>
            <a:ext cx="201290" cy="120387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" name="Connecteur droit 64">
            <a:extLst>
              <a:ext uri="{FF2B5EF4-FFF2-40B4-BE49-F238E27FC236}">
                <a16:creationId xmlns:a16="http://schemas.microsoft.com/office/drawing/2014/main" id="{462FAC7D-556D-4EB7-8223-A2CF969A8C3C}"/>
              </a:ext>
            </a:extLst>
          </p:cNvPr>
          <p:cNvCxnSpPr>
            <a:cxnSpLocks/>
            <a:stCxn id="20" idx="0"/>
            <a:endCxn id="14" idx="4"/>
          </p:cNvCxnSpPr>
          <p:nvPr/>
        </p:nvCxnSpPr>
        <p:spPr bwMode="auto">
          <a:xfrm flipV="1">
            <a:off x="6636060" y="3465004"/>
            <a:ext cx="288032" cy="183620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8" name="Connecteur droit 67">
            <a:extLst>
              <a:ext uri="{FF2B5EF4-FFF2-40B4-BE49-F238E27FC236}">
                <a16:creationId xmlns:a16="http://schemas.microsoft.com/office/drawing/2014/main" id="{767EA400-5860-40DB-B851-FD5ACF736890}"/>
              </a:ext>
            </a:extLst>
          </p:cNvPr>
          <p:cNvCxnSpPr>
            <a:cxnSpLocks/>
            <a:stCxn id="18" idx="0"/>
            <a:endCxn id="7" idx="4"/>
          </p:cNvCxnSpPr>
          <p:nvPr/>
        </p:nvCxnSpPr>
        <p:spPr bwMode="auto">
          <a:xfrm flipH="1" flipV="1">
            <a:off x="4665576" y="3573016"/>
            <a:ext cx="458316" cy="168103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6" name="Connecteur droit 35">
            <a:extLst>
              <a:ext uri="{FF2B5EF4-FFF2-40B4-BE49-F238E27FC236}">
                <a16:creationId xmlns:a16="http://schemas.microsoft.com/office/drawing/2014/main" id="{7CD2132B-7038-42FC-BBC3-76DE515894BC}"/>
              </a:ext>
            </a:extLst>
          </p:cNvPr>
          <p:cNvCxnSpPr>
            <a:cxnSpLocks/>
            <a:stCxn id="2" idx="5"/>
            <a:endCxn id="5" idx="1"/>
          </p:cNvCxnSpPr>
          <p:nvPr/>
        </p:nvCxnSpPr>
        <p:spPr bwMode="auto">
          <a:xfrm>
            <a:off x="3595001" y="3016233"/>
            <a:ext cx="177462" cy="32147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" name="ZoneTexte 3">
            <a:extLst>
              <a:ext uri="{FF2B5EF4-FFF2-40B4-BE49-F238E27FC236}">
                <a16:creationId xmlns:a16="http://schemas.microsoft.com/office/drawing/2014/main" id="{3404958D-C02F-4953-B184-1310DBA66137}"/>
              </a:ext>
            </a:extLst>
          </p:cNvPr>
          <p:cNvSpPr txBox="1"/>
          <p:nvPr/>
        </p:nvSpPr>
        <p:spPr>
          <a:xfrm>
            <a:off x="10529208" y="2567806"/>
            <a:ext cx="686406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sz="6400" b="1" dirty="0"/>
              <a:t>?</a:t>
            </a:r>
            <a:endParaRPr lang="de-CH" sz="6400" b="1" dirty="0"/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68F904A5-58A5-4FD8-A464-B6D3CD699D05}"/>
              </a:ext>
            </a:extLst>
          </p:cNvPr>
          <p:cNvSpPr txBox="1"/>
          <p:nvPr/>
        </p:nvSpPr>
        <p:spPr>
          <a:xfrm>
            <a:off x="10566255" y="4941168"/>
            <a:ext cx="686406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sz="6400" b="1" dirty="0"/>
              <a:t>?</a:t>
            </a:r>
            <a:endParaRPr lang="de-CH" sz="6400" b="1" dirty="0"/>
          </a:p>
        </p:txBody>
      </p:sp>
    </p:spTree>
    <p:extLst>
      <p:ext uri="{BB962C8B-B14F-4D97-AF65-F5344CB8AC3E}">
        <p14:creationId xmlns:p14="http://schemas.microsoft.com/office/powerpoint/2010/main" val="2347945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 16" descr="Une image contenant fruit, pomme, rouge, cerise&#10;&#10;Description générée automatiquement">
            <a:extLst>
              <a:ext uri="{FF2B5EF4-FFF2-40B4-BE49-F238E27FC236}">
                <a16:creationId xmlns:a16="http://schemas.microsoft.com/office/drawing/2014/main" id="{B17AD5B4-1065-40C8-ADCB-2A49A04C80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0056" y="2993032"/>
            <a:ext cx="1440161" cy="108012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9" name="Image 18" descr="Une image contenant fruit, cerise&#10;&#10;Description générée automatiquement">
            <a:extLst>
              <a:ext uri="{FF2B5EF4-FFF2-40B4-BE49-F238E27FC236}">
                <a16:creationId xmlns:a16="http://schemas.microsoft.com/office/drawing/2014/main" id="{298E1DEF-9CAE-41F1-84AB-CD69C9670A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2423591" y="2993032"/>
            <a:ext cx="1436201" cy="107715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2" name="Flèche : droite 21">
            <a:extLst>
              <a:ext uri="{FF2B5EF4-FFF2-40B4-BE49-F238E27FC236}">
                <a16:creationId xmlns:a16="http://schemas.microsoft.com/office/drawing/2014/main" id="{4121FDD5-0E8B-4C93-849F-3D393B994FE8}"/>
              </a:ext>
            </a:extLst>
          </p:cNvPr>
          <p:cNvSpPr/>
          <p:nvPr/>
        </p:nvSpPr>
        <p:spPr bwMode="auto">
          <a:xfrm>
            <a:off x="2423591" y="5085184"/>
            <a:ext cx="7704858" cy="360040"/>
          </a:xfrm>
          <a:prstGeom prst="rightArrow">
            <a:avLst/>
          </a:prstGeom>
          <a:solidFill>
            <a:schemeClr val="tx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61161FEB-43A1-4BBA-8A24-89BCB068C434}"/>
              </a:ext>
            </a:extLst>
          </p:cNvPr>
          <p:cNvSpPr txBox="1"/>
          <p:nvPr/>
        </p:nvSpPr>
        <p:spPr>
          <a:xfrm>
            <a:off x="4838582" y="3356992"/>
            <a:ext cx="915635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BE" dirty="0"/>
              <a:t>banana</a:t>
            </a:r>
            <a:endParaRPr lang="de-CH" dirty="0"/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C542B6EF-993F-44F6-8002-899ACA4F255B}"/>
              </a:ext>
            </a:extLst>
          </p:cNvPr>
          <p:cNvSpPr txBox="1"/>
          <p:nvPr/>
        </p:nvSpPr>
        <p:spPr>
          <a:xfrm>
            <a:off x="9087054" y="3361587"/>
            <a:ext cx="622286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BE" dirty="0" err="1"/>
              <a:t>pear</a:t>
            </a:r>
            <a:endParaRPr lang="de-CH" dirty="0"/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880ADBB1-F896-4AB5-BB3F-6F5756385775}"/>
              </a:ext>
            </a:extLst>
          </p:cNvPr>
          <p:cNvSpPr txBox="1"/>
          <p:nvPr/>
        </p:nvSpPr>
        <p:spPr>
          <a:xfrm>
            <a:off x="5879976" y="5425375"/>
            <a:ext cx="660694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dirty="0"/>
              <a:t>Time</a:t>
            </a:r>
            <a:endParaRPr lang="de-CH" dirty="0"/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570D915B-1047-4F29-AA53-78B85C185597}"/>
              </a:ext>
            </a:extLst>
          </p:cNvPr>
          <p:cNvSpPr txBox="1"/>
          <p:nvPr/>
        </p:nvSpPr>
        <p:spPr>
          <a:xfrm>
            <a:off x="119336" y="6370736"/>
            <a:ext cx="19367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sz="1400" dirty="0"/>
              <a:t>Kroll &amp; Stewart (1994)</a:t>
            </a:r>
            <a:endParaRPr lang="de-CH" sz="1400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8CDA954F-F58A-4988-82A9-5334A0771F14}"/>
              </a:ext>
            </a:extLst>
          </p:cNvPr>
          <p:cNvSpPr txBox="1"/>
          <p:nvPr/>
        </p:nvSpPr>
        <p:spPr>
          <a:xfrm>
            <a:off x="1861508" y="1556792"/>
            <a:ext cx="8468985" cy="8771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BE" dirty="0"/>
              <a:t>Reading </a:t>
            </a:r>
            <a:r>
              <a:rPr lang="fr-BE" dirty="0" err="1"/>
              <a:t>words</a:t>
            </a:r>
            <a:r>
              <a:rPr lang="fr-BE" dirty="0"/>
              <a:t> </a:t>
            </a:r>
            <a:r>
              <a:rPr lang="fr-BE" dirty="0" err="1"/>
              <a:t>aloud</a:t>
            </a:r>
            <a:r>
              <a:rPr lang="fr-BE" dirty="0"/>
              <a:t> relies </a:t>
            </a:r>
            <a:r>
              <a:rPr lang="fr-BE" dirty="0" err="1"/>
              <a:t>less</a:t>
            </a:r>
            <a:r>
              <a:rPr lang="fr-BE" dirty="0"/>
              <a:t> </a:t>
            </a:r>
            <a:r>
              <a:rPr lang="fr-BE" dirty="0" err="1"/>
              <a:t>strongly</a:t>
            </a:r>
            <a:r>
              <a:rPr lang="fr-BE" dirty="0"/>
              <a:t> on the </a:t>
            </a:r>
            <a:r>
              <a:rPr lang="fr-BE" dirty="0" err="1"/>
              <a:t>semantic</a:t>
            </a:r>
            <a:r>
              <a:rPr lang="fr-BE" dirty="0"/>
              <a:t> system </a:t>
            </a:r>
            <a:r>
              <a:rPr lang="fr-BE" dirty="0" err="1"/>
              <a:t>than</a:t>
            </a:r>
            <a:r>
              <a:rPr lang="fr-BE" dirty="0"/>
              <a:t> </a:t>
            </a:r>
            <a:r>
              <a:rPr lang="fr-BE" dirty="0" err="1"/>
              <a:t>naming</a:t>
            </a:r>
            <a:r>
              <a:rPr lang="fr-BE" dirty="0"/>
              <a:t> </a:t>
            </a:r>
            <a:r>
              <a:rPr lang="fr-BE" dirty="0" err="1"/>
              <a:t>objects</a:t>
            </a:r>
            <a:endParaRPr lang="fr-BE" dirty="0"/>
          </a:p>
          <a:p>
            <a:pPr algn="ctr"/>
            <a:endParaRPr lang="fr-BE" dirty="0"/>
          </a:p>
          <a:p>
            <a:pPr algn="ctr"/>
            <a:r>
              <a:rPr lang="fr-BE" dirty="0"/>
              <a:t>But </a:t>
            </a:r>
            <a:r>
              <a:rPr lang="fr-BE" dirty="0" err="1"/>
              <a:t>both</a:t>
            </a:r>
            <a:r>
              <a:rPr lang="fr-BE" dirty="0"/>
              <a:t> </a:t>
            </a:r>
            <a:r>
              <a:rPr lang="fr-BE" dirty="0" err="1"/>
              <a:t>rely</a:t>
            </a:r>
            <a:r>
              <a:rPr lang="fr-BE" dirty="0"/>
              <a:t> on the </a:t>
            </a:r>
            <a:r>
              <a:rPr lang="fr-BE" dirty="0" err="1"/>
              <a:t>selection</a:t>
            </a:r>
            <a:r>
              <a:rPr lang="fr-BE" dirty="0"/>
              <a:t> of a lexical candidate </a:t>
            </a:r>
            <a:r>
              <a:rPr lang="fr-BE" dirty="0" err="1"/>
              <a:t>that</a:t>
            </a:r>
            <a:r>
              <a:rPr lang="fr-BE" dirty="0"/>
              <a:t> must </a:t>
            </a:r>
            <a:r>
              <a:rPr lang="fr-BE" dirty="0" err="1"/>
              <a:t>be</a:t>
            </a:r>
            <a:r>
              <a:rPr lang="fr-BE" dirty="0"/>
              <a:t> output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634484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ZoneTexte 30">
            <a:extLst>
              <a:ext uri="{FF2B5EF4-FFF2-40B4-BE49-F238E27FC236}">
                <a16:creationId xmlns:a16="http://schemas.microsoft.com/office/drawing/2014/main" id="{570D915B-1047-4F29-AA53-78B85C185597}"/>
              </a:ext>
            </a:extLst>
          </p:cNvPr>
          <p:cNvSpPr txBox="1"/>
          <p:nvPr/>
        </p:nvSpPr>
        <p:spPr>
          <a:xfrm>
            <a:off x="119336" y="6370736"/>
            <a:ext cx="19367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sz="1400" dirty="0"/>
              <a:t>Kroll &amp; Stewart (1994)</a:t>
            </a:r>
            <a:endParaRPr lang="de-CH" sz="1400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4229F052-DA7F-4EF2-A852-0AA7D93E3E34}"/>
              </a:ext>
            </a:extLst>
          </p:cNvPr>
          <p:cNvSpPr txBox="1"/>
          <p:nvPr/>
        </p:nvSpPr>
        <p:spPr>
          <a:xfrm>
            <a:off x="695400" y="3121224"/>
            <a:ext cx="108012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dirty="0"/>
              <a:t>If the </a:t>
            </a:r>
            <a:r>
              <a:rPr lang="fr-BE" dirty="0" err="1"/>
              <a:t>competition</a:t>
            </a:r>
            <a:r>
              <a:rPr lang="fr-BE" dirty="0"/>
              <a:t> </a:t>
            </a:r>
            <a:r>
              <a:rPr lang="fr-BE" dirty="0" err="1"/>
              <a:t>occurs</a:t>
            </a:r>
            <a:r>
              <a:rPr lang="fr-BE" dirty="0"/>
              <a:t> at the lexical stage, </a:t>
            </a:r>
            <a:r>
              <a:rPr lang="fr-BE" dirty="0" err="1"/>
              <a:t>then</a:t>
            </a:r>
            <a:r>
              <a:rPr lang="fr-BE" dirty="0"/>
              <a:t> the blocking </a:t>
            </a:r>
            <a:r>
              <a:rPr lang="fr-BE" dirty="0" err="1"/>
              <a:t>effect</a:t>
            </a:r>
            <a:r>
              <a:rPr lang="fr-BE" dirty="0"/>
              <a:t> </a:t>
            </a:r>
            <a:r>
              <a:rPr lang="fr-BE" dirty="0" err="1"/>
              <a:t>should</a:t>
            </a:r>
            <a:r>
              <a:rPr lang="fr-BE" dirty="0"/>
              <a:t> </a:t>
            </a:r>
            <a:r>
              <a:rPr lang="fr-BE" dirty="0" err="1"/>
              <a:t>be</a:t>
            </a:r>
            <a:r>
              <a:rPr lang="fr-BE" dirty="0"/>
              <a:t> </a:t>
            </a:r>
            <a:r>
              <a:rPr lang="fr-BE" dirty="0" err="1"/>
              <a:t>preserved</a:t>
            </a:r>
            <a:r>
              <a:rPr lang="fr-BE" dirty="0"/>
              <a:t> in </a:t>
            </a:r>
            <a:r>
              <a:rPr lang="fr-BE" dirty="0" err="1"/>
              <a:t>these</a:t>
            </a:r>
            <a:r>
              <a:rPr lang="fr-BE" dirty="0"/>
              <a:t> conditions.</a:t>
            </a:r>
          </a:p>
          <a:p>
            <a:pPr algn="ctr"/>
            <a:r>
              <a:rPr lang="fr-BE" dirty="0"/>
              <a:t>If not, </a:t>
            </a:r>
            <a:r>
              <a:rPr lang="fr-BE" dirty="0" err="1"/>
              <a:t>we</a:t>
            </a:r>
            <a:r>
              <a:rPr lang="fr-BE" dirty="0"/>
              <a:t> can </a:t>
            </a:r>
            <a:r>
              <a:rPr lang="fr-BE" dirty="0" err="1"/>
              <a:t>infer</a:t>
            </a:r>
            <a:r>
              <a:rPr lang="fr-BE" dirty="0"/>
              <a:t> </a:t>
            </a:r>
            <a:r>
              <a:rPr lang="fr-BE" dirty="0" err="1"/>
              <a:t>that</a:t>
            </a:r>
            <a:r>
              <a:rPr lang="fr-BE" dirty="0"/>
              <a:t> the </a:t>
            </a:r>
            <a:r>
              <a:rPr lang="fr-BE" dirty="0" err="1"/>
              <a:t>competition</a:t>
            </a:r>
            <a:r>
              <a:rPr lang="fr-BE" dirty="0"/>
              <a:t> must </a:t>
            </a:r>
            <a:r>
              <a:rPr lang="fr-BE" dirty="0" err="1"/>
              <a:t>occurs</a:t>
            </a:r>
            <a:r>
              <a:rPr lang="fr-BE" dirty="0"/>
              <a:t> in the </a:t>
            </a:r>
            <a:r>
              <a:rPr lang="fr-BE" dirty="0" err="1"/>
              <a:t>semantic</a:t>
            </a:r>
            <a:r>
              <a:rPr lang="fr-BE" dirty="0"/>
              <a:t> system.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743789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ZoneTexte 30">
            <a:extLst>
              <a:ext uri="{FF2B5EF4-FFF2-40B4-BE49-F238E27FC236}">
                <a16:creationId xmlns:a16="http://schemas.microsoft.com/office/drawing/2014/main" id="{570D915B-1047-4F29-AA53-78B85C185597}"/>
              </a:ext>
            </a:extLst>
          </p:cNvPr>
          <p:cNvSpPr txBox="1"/>
          <p:nvPr/>
        </p:nvSpPr>
        <p:spPr>
          <a:xfrm>
            <a:off x="119336" y="6370736"/>
            <a:ext cx="19367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sz="1400" dirty="0"/>
              <a:t>Kroll &amp; Stewart (1994)</a:t>
            </a:r>
            <a:endParaRPr lang="de-CH" sz="1400" dirty="0"/>
          </a:p>
        </p:txBody>
      </p:sp>
      <p:pic>
        <p:nvPicPr>
          <p:cNvPr id="5" name="Image 4" descr="Une image contenant texte, reçu, capture d’écran&#10;&#10;Description générée automatiquement">
            <a:extLst>
              <a:ext uri="{FF2B5EF4-FFF2-40B4-BE49-F238E27FC236}">
                <a16:creationId xmlns:a16="http://schemas.microsoft.com/office/drawing/2014/main" id="{B1D9953F-E18E-4609-AA4B-35F5A02347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2041" y="1628800"/>
            <a:ext cx="3547919" cy="465376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9E22586-3F2A-4BD3-B64B-76D20DB558EF}"/>
              </a:ext>
            </a:extLst>
          </p:cNvPr>
          <p:cNvSpPr/>
          <p:nvPr/>
        </p:nvSpPr>
        <p:spPr bwMode="auto">
          <a:xfrm>
            <a:off x="4295800" y="5085184"/>
            <a:ext cx="3672408" cy="1368152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4E1AC109-57F3-4087-8533-E9D0C14083B2}"/>
              </a:ext>
            </a:extLst>
          </p:cNvPr>
          <p:cNvSpPr txBox="1"/>
          <p:nvPr/>
        </p:nvSpPr>
        <p:spPr>
          <a:xfrm>
            <a:off x="8472264" y="3573016"/>
            <a:ext cx="2808511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dirty="0" err="1"/>
              <a:t>Alternating</a:t>
            </a:r>
            <a:r>
              <a:rPr lang="fr-BE" dirty="0"/>
              <a:t> </a:t>
            </a:r>
            <a:r>
              <a:rPr lang="fr-BE" dirty="0" err="1"/>
              <a:t>words</a:t>
            </a:r>
            <a:r>
              <a:rPr lang="fr-BE" dirty="0"/>
              <a:t> and </a:t>
            </a:r>
            <a:r>
              <a:rPr lang="fr-BE" dirty="0" err="1"/>
              <a:t>pictures</a:t>
            </a:r>
            <a:r>
              <a:rPr lang="fr-BE" dirty="0"/>
              <a:t> </a:t>
            </a:r>
            <a:r>
              <a:rPr lang="fr-BE" dirty="0" err="1"/>
              <a:t>makes</a:t>
            </a:r>
            <a:r>
              <a:rPr lang="fr-BE" dirty="0"/>
              <a:t> the blocking </a:t>
            </a:r>
            <a:r>
              <a:rPr lang="fr-BE" dirty="0" err="1"/>
              <a:t>effect</a:t>
            </a:r>
            <a:r>
              <a:rPr lang="fr-BE" dirty="0"/>
              <a:t> </a:t>
            </a:r>
            <a:r>
              <a:rPr lang="fr-BE" dirty="0" err="1"/>
              <a:t>disappear</a:t>
            </a:r>
            <a:r>
              <a:rPr lang="fr-BE" dirty="0"/>
              <a:t>!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677788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1">
            <a:extLst>
              <a:ext uri="{FF2B5EF4-FFF2-40B4-BE49-F238E27FC236}">
                <a16:creationId xmlns:a16="http://schemas.microsoft.com/office/drawing/2014/main" id="{711F4C10-173B-40F1-BE85-AFE98D3F6846}"/>
              </a:ext>
            </a:extLst>
          </p:cNvPr>
          <p:cNvSpPr/>
          <p:nvPr/>
        </p:nvSpPr>
        <p:spPr bwMode="auto">
          <a:xfrm>
            <a:off x="3287688" y="2708920"/>
            <a:ext cx="360040" cy="360040"/>
          </a:xfrm>
          <a:prstGeom prst="ellipse">
            <a:avLst/>
          </a:prstGeom>
          <a:solidFill>
            <a:srgbClr val="0028A5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60A023F6-EA86-4D13-9722-A2912DCEF4A7}"/>
              </a:ext>
            </a:extLst>
          </p:cNvPr>
          <p:cNvSpPr/>
          <p:nvPr/>
        </p:nvSpPr>
        <p:spPr bwMode="auto">
          <a:xfrm>
            <a:off x="3719736" y="3284984"/>
            <a:ext cx="360040" cy="360040"/>
          </a:xfrm>
          <a:prstGeom prst="ellipse">
            <a:avLst/>
          </a:prstGeom>
          <a:solidFill>
            <a:srgbClr val="0028A5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0A8F6847-97A8-47F0-84F5-EE64EAA4025C}"/>
              </a:ext>
            </a:extLst>
          </p:cNvPr>
          <p:cNvSpPr/>
          <p:nvPr/>
        </p:nvSpPr>
        <p:spPr bwMode="auto">
          <a:xfrm>
            <a:off x="4367808" y="2528900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AB71A8C1-33EA-497E-A568-42C877929C36}"/>
              </a:ext>
            </a:extLst>
          </p:cNvPr>
          <p:cNvSpPr/>
          <p:nvPr/>
        </p:nvSpPr>
        <p:spPr bwMode="auto">
          <a:xfrm>
            <a:off x="4485556" y="3212976"/>
            <a:ext cx="360040" cy="360040"/>
          </a:xfrm>
          <a:prstGeom prst="ellipse">
            <a:avLst/>
          </a:prstGeom>
          <a:solidFill>
            <a:srgbClr val="0028A5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8EFAF788-D7E8-4F35-84D1-08C56E7AA6B6}"/>
              </a:ext>
            </a:extLst>
          </p:cNvPr>
          <p:cNvSpPr/>
          <p:nvPr/>
        </p:nvSpPr>
        <p:spPr bwMode="auto">
          <a:xfrm>
            <a:off x="2639616" y="3392996"/>
            <a:ext cx="360040" cy="360040"/>
          </a:xfrm>
          <a:prstGeom prst="ellipse">
            <a:avLst/>
          </a:prstGeom>
          <a:solidFill>
            <a:srgbClr val="0028A5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343C4F73-5949-48BA-83F0-C868FC22FAC9}"/>
              </a:ext>
            </a:extLst>
          </p:cNvPr>
          <p:cNvSpPr/>
          <p:nvPr/>
        </p:nvSpPr>
        <p:spPr bwMode="auto">
          <a:xfrm>
            <a:off x="3262586" y="1916832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78972C6A-1511-48BE-91B2-E7AAAF90263E}"/>
              </a:ext>
            </a:extLst>
          </p:cNvPr>
          <p:cNvSpPr/>
          <p:nvPr/>
        </p:nvSpPr>
        <p:spPr bwMode="auto">
          <a:xfrm>
            <a:off x="5447928" y="2852936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6D4A7B67-3776-4881-B95E-710968BD9FA5}"/>
              </a:ext>
            </a:extLst>
          </p:cNvPr>
          <p:cNvSpPr/>
          <p:nvPr/>
        </p:nvSpPr>
        <p:spPr bwMode="auto">
          <a:xfrm>
            <a:off x="6096000" y="1988840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AE011C1A-BF53-49C0-B903-87FF86F37029}"/>
              </a:ext>
            </a:extLst>
          </p:cNvPr>
          <p:cNvSpPr/>
          <p:nvPr/>
        </p:nvSpPr>
        <p:spPr bwMode="auto">
          <a:xfrm>
            <a:off x="6744072" y="3104964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1FB70D76-56FF-4CC9-A0F6-E07FFAD3CDD7}"/>
              </a:ext>
            </a:extLst>
          </p:cNvPr>
          <p:cNvSpPr/>
          <p:nvPr/>
        </p:nvSpPr>
        <p:spPr bwMode="auto">
          <a:xfrm>
            <a:off x="5915980" y="3717032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4AF10B54-73AD-4831-BCAF-9FA14E9DC38D}"/>
              </a:ext>
            </a:extLst>
          </p:cNvPr>
          <p:cNvSpPr/>
          <p:nvPr/>
        </p:nvSpPr>
        <p:spPr bwMode="auto">
          <a:xfrm>
            <a:off x="3467708" y="5229200"/>
            <a:ext cx="360040" cy="360040"/>
          </a:xfrm>
          <a:prstGeom prst="ellipse">
            <a:avLst/>
          </a:prstGeom>
          <a:solidFill>
            <a:srgbClr val="0028A5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DA6D3369-733C-4FDE-AD6D-5C9AE65BA8C0}"/>
              </a:ext>
            </a:extLst>
          </p:cNvPr>
          <p:cNvSpPr/>
          <p:nvPr/>
        </p:nvSpPr>
        <p:spPr bwMode="auto">
          <a:xfrm>
            <a:off x="4187788" y="5229200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3215B85C-CFCD-4E08-8D07-B1EE130BC189}"/>
              </a:ext>
            </a:extLst>
          </p:cNvPr>
          <p:cNvSpPr/>
          <p:nvPr/>
        </p:nvSpPr>
        <p:spPr bwMode="auto">
          <a:xfrm>
            <a:off x="4943872" y="5254054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0821C9CD-58F2-4E43-B235-AE66856A8ECE}"/>
              </a:ext>
            </a:extLst>
          </p:cNvPr>
          <p:cNvSpPr/>
          <p:nvPr/>
        </p:nvSpPr>
        <p:spPr bwMode="auto">
          <a:xfrm>
            <a:off x="5714690" y="5280942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5256DBAE-2198-4549-B9E0-DD80557AB8A6}"/>
              </a:ext>
            </a:extLst>
          </p:cNvPr>
          <p:cNvSpPr/>
          <p:nvPr/>
        </p:nvSpPr>
        <p:spPr bwMode="auto">
          <a:xfrm>
            <a:off x="6456040" y="5301208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E85FD231-01EF-4C88-868F-A3496EB78F8A}"/>
              </a:ext>
            </a:extLst>
          </p:cNvPr>
          <p:cNvSpPr txBox="1"/>
          <p:nvPr/>
        </p:nvSpPr>
        <p:spPr>
          <a:xfrm>
            <a:off x="8904312" y="5321374"/>
            <a:ext cx="1616148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dirty="0"/>
              <a:t>Lexical system</a:t>
            </a:r>
            <a:endParaRPr lang="de-CH" dirty="0"/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E580B6AA-D299-484B-9CC7-825403E7EBF1}"/>
              </a:ext>
            </a:extLst>
          </p:cNvPr>
          <p:cNvSpPr txBox="1"/>
          <p:nvPr/>
        </p:nvSpPr>
        <p:spPr>
          <a:xfrm>
            <a:off x="8673480" y="2931041"/>
            <a:ext cx="1846980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dirty="0" err="1"/>
              <a:t>Semantic</a:t>
            </a:r>
            <a:r>
              <a:rPr lang="fr-BE" dirty="0"/>
              <a:t> system</a:t>
            </a:r>
            <a:endParaRPr lang="de-CH" dirty="0"/>
          </a:p>
        </p:txBody>
      </p: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77DFA180-5775-4F26-A3F1-F7BF6A367F3A}"/>
              </a:ext>
            </a:extLst>
          </p:cNvPr>
          <p:cNvCxnSpPr>
            <a:stCxn id="6" idx="4"/>
            <a:endCxn id="7" idx="0"/>
          </p:cNvCxnSpPr>
          <p:nvPr/>
        </p:nvCxnSpPr>
        <p:spPr bwMode="auto">
          <a:xfrm>
            <a:off x="4547828" y="2888940"/>
            <a:ext cx="117748" cy="32403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2E89A693-49A5-45D3-A6B2-53C0F3B7B8E7}"/>
              </a:ext>
            </a:extLst>
          </p:cNvPr>
          <p:cNvCxnSpPr>
            <a:cxnSpLocks/>
            <a:stCxn id="5" idx="0"/>
            <a:endCxn id="6" idx="3"/>
          </p:cNvCxnSpPr>
          <p:nvPr/>
        </p:nvCxnSpPr>
        <p:spPr bwMode="auto">
          <a:xfrm flipV="1">
            <a:off x="3899756" y="2836213"/>
            <a:ext cx="520779" cy="44877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" name="Connecteur droit 25">
            <a:extLst>
              <a:ext uri="{FF2B5EF4-FFF2-40B4-BE49-F238E27FC236}">
                <a16:creationId xmlns:a16="http://schemas.microsoft.com/office/drawing/2014/main" id="{8641AE00-3651-48C7-B579-1DBF357D961B}"/>
              </a:ext>
            </a:extLst>
          </p:cNvPr>
          <p:cNvCxnSpPr>
            <a:cxnSpLocks/>
            <a:stCxn id="2" idx="6"/>
            <a:endCxn id="6" idx="2"/>
          </p:cNvCxnSpPr>
          <p:nvPr/>
        </p:nvCxnSpPr>
        <p:spPr bwMode="auto">
          <a:xfrm flipV="1">
            <a:off x="3647728" y="2708920"/>
            <a:ext cx="720080" cy="18002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9" name="Connecteur droit 28">
            <a:extLst>
              <a:ext uri="{FF2B5EF4-FFF2-40B4-BE49-F238E27FC236}">
                <a16:creationId xmlns:a16="http://schemas.microsoft.com/office/drawing/2014/main" id="{7CA65CF8-AF41-43CD-B535-6C2488B753D7}"/>
              </a:ext>
            </a:extLst>
          </p:cNvPr>
          <p:cNvCxnSpPr>
            <a:cxnSpLocks/>
            <a:stCxn id="2" idx="0"/>
            <a:endCxn id="10" idx="4"/>
          </p:cNvCxnSpPr>
          <p:nvPr/>
        </p:nvCxnSpPr>
        <p:spPr bwMode="auto">
          <a:xfrm flipH="1" flipV="1">
            <a:off x="3442606" y="2276872"/>
            <a:ext cx="25102" cy="43204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2" name="Connecteur droit 31">
            <a:extLst>
              <a:ext uri="{FF2B5EF4-FFF2-40B4-BE49-F238E27FC236}">
                <a16:creationId xmlns:a16="http://schemas.microsoft.com/office/drawing/2014/main" id="{1833D6F2-23B6-4964-93A5-DAD6D0DDB1AF}"/>
              </a:ext>
            </a:extLst>
          </p:cNvPr>
          <p:cNvCxnSpPr>
            <a:cxnSpLocks/>
            <a:stCxn id="6" idx="1"/>
            <a:endCxn id="10" idx="6"/>
          </p:cNvCxnSpPr>
          <p:nvPr/>
        </p:nvCxnSpPr>
        <p:spPr bwMode="auto">
          <a:xfrm flipH="1" flipV="1">
            <a:off x="3622626" y="2096852"/>
            <a:ext cx="797909" cy="48477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" name="Connecteur droit 34">
            <a:extLst>
              <a:ext uri="{FF2B5EF4-FFF2-40B4-BE49-F238E27FC236}">
                <a16:creationId xmlns:a16="http://schemas.microsoft.com/office/drawing/2014/main" id="{21D03704-E72C-4AB7-9771-A92B6711C96D}"/>
              </a:ext>
            </a:extLst>
          </p:cNvPr>
          <p:cNvCxnSpPr>
            <a:cxnSpLocks/>
            <a:stCxn id="2" idx="4"/>
            <a:endCxn id="9" idx="7"/>
          </p:cNvCxnSpPr>
          <p:nvPr/>
        </p:nvCxnSpPr>
        <p:spPr bwMode="auto">
          <a:xfrm flipH="1">
            <a:off x="2946929" y="3068960"/>
            <a:ext cx="520779" cy="37676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" name="Connecteur droit 37">
            <a:extLst>
              <a:ext uri="{FF2B5EF4-FFF2-40B4-BE49-F238E27FC236}">
                <a16:creationId xmlns:a16="http://schemas.microsoft.com/office/drawing/2014/main" id="{52982353-0022-4189-A713-8C02E9AD3D56}"/>
              </a:ext>
            </a:extLst>
          </p:cNvPr>
          <p:cNvCxnSpPr>
            <a:cxnSpLocks/>
            <a:stCxn id="5" idx="2"/>
            <a:endCxn id="9" idx="6"/>
          </p:cNvCxnSpPr>
          <p:nvPr/>
        </p:nvCxnSpPr>
        <p:spPr bwMode="auto">
          <a:xfrm flipH="1">
            <a:off x="2999656" y="3465004"/>
            <a:ext cx="720080" cy="10801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" name="Connecteur droit 40">
            <a:extLst>
              <a:ext uri="{FF2B5EF4-FFF2-40B4-BE49-F238E27FC236}">
                <a16:creationId xmlns:a16="http://schemas.microsoft.com/office/drawing/2014/main" id="{579E41A8-95F2-4FA1-B45B-8189274F8AAB}"/>
              </a:ext>
            </a:extLst>
          </p:cNvPr>
          <p:cNvCxnSpPr>
            <a:cxnSpLocks/>
            <a:stCxn id="7" idx="2"/>
            <a:endCxn id="5" idx="6"/>
          </p:cNvCxnSpPr>
          <p:nvPr/>
        </p:nvCxnSpPr>
        <p:spPr bwMode="auto">
          <a:xfrm flipH="1">
            <a:off x="4079776" y="3392996"/>
            <a:ext cx="405780" cy="7200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E0432E9D-3A92-4A69-845C-E7B37F640F8F}"/>
              </a:ext>
            </a:extLst>
          </p:cNvPr>
          <p:cNvCxnSpPr>
            <a:cxnSpLocks/>
            <a:stCxn id="12" idx="2"/>
            <a:endCxn id="7" idx="6"/>
          </p:cNvCxnSpPr>
          <p:nvPr/>
        </p:nvCxnSpPr>
        <p:spPr bwMode="auto">
          <a:xfrm flipH="1">
            <a:off x="4845596" y="3032956"/>
            <a:ext cx="602332" cy="36004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7" name="Connecteur droit 46">
            <a:extLst>
              <a:ext uri="{FF2B5EF4-FFF2-40B4-BE49-F238E27FC236}">
                <a16:creationId xmlns:a16="http://schemas.microsoft.com/office/drawing/2014/main" id="{77C8C018-8AF7-4351-9DD2-F43C48B81845}"/>
              </a:ext>
            </a:extLst>
          </p:cNvPr>
          <p:cNvCxnSpPr>
            <a:cxnSpLocks/>
            <a:stCxn id="13" idx="4"/>
            <a:endCxn id="14" idx="1"/>
          </p:cNvCxnSpPr>
          <p:nvPr/>
        </p:nvCxnSpPr>
        <p:spPr bwMode="auto">
          <a:xfrm>
            <a:off x="6276020" y="2348880"/>
            <a:ext cx="520779" cy="80881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1" name="Connecteur droit 50">
            <a:extLst>
              <a:ext uri="{FF2B5EF4-FFF2-40B4-BE49-F238E27FC236}">
                <a16:creationId xmlns:a16="http://schemas.microsoft.com/office/drawing/2014/main" id="{58FE7180-75AD-4A48-8003-D6692D750CE9}"/>
              </a:ext>
            </a:extLst>
          </p:cNvPr>
          <p:cNvCxnSpPr>
            <a:cxnSpLocks/>
            <a:stCxn id="15" idx="2"/>
            <a:endCxn id="7" idx="5"/>
          </p:cNvCxnSpPr>
          <p:nvPr/>
        </p:nvCxnSpPr>
        <p:spPr bwMode="auto">
          <a:xfrm flipH="1" flipV="1">
            <a:off x="4792869" y="3520289"/>
            <a:ext cx="1123111" cy="376763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97D7CD0E-7DDA-4728-B7BB-35405BF58AFF}"/>
              </a:ext>
            </a:extLst>
          </p:cNvPr>
          <p:cNvCxnSpPr>
            <a:cxnSpLocks/>
            <a:stCxn id="16" idx="0"/>
            <a:endCxn id="9" idx="5"/>
          </p:cNvCxnSpPr>
          <p:nvPr/>
        </p:nvCxnSpPr>
        <p:spPr bwMode="auto">
          <a:xfrm flipH="1" flipV="1">
            <a:off x="2946929" y="3700309"/>
            <a:ext cx="700799" cy="1528891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8" name="Connecteur droit 57">
            <a:extLst>
              <a:ext uri="{FF2B5EF4-FFF2-40B4-BE49-F238E27FC236}">
                <a16:creationId xmlns:a16="http://schemas.microsoft.com/office/drawing/2014/main" id="{D7411F38-B640-4660-A968-4A3BE19D1601}"/>
              </a:ext>
            </a:extLst>
          </p:cNvPr>
          <p:cNvCxnSpPr>
            <a:cxnSpLocks/>
            <a:stCxn id="17" idx="0"/>
            <a:endCxn id="5" idx="4"/>
          </p:cNvCxnSpPr>
          <p:nvPr/>
        </p:nvCxnSpPr>
        <p:spPr bwMode="auto">
          <a:xfrm flipH="1" flipV="1">
            <a:off x="3899756" y="3645024"/>
            <a:ext cx="468052" cy="158417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2" name="Connecteur droit 61">
            <a:extLst>
              <a:ext uri="{FF2B5EF4-FFF2-40B4-BE49-F238E27FC236}">
                <a16:creationId xmlns:a16="http://schemas.microsoft.com/office/drawing/2014/main" id="{BDD0641C-00C2-4E42-9FC5-8FABD9CA2706}"/>
              </a:ext>
            </a:extLst>
          </p:cNvPr>
          <p:cNvCxnSpPr>
            <a:cxnSpLocks/>
            <a:stCxn id="19" idx="0"/>
            <a:endCxn id="15" idx="4"/>
          </p:cNvCxnSpPr>
          <p:nvPr/>
        </p:nvCxnSpPr>
        <p:spPr bwMode="auto">
          <a:xfrm flipV="1">
            <a:off x="5894710" y="4077072"/>
            <a:ext cx="201290" cy="120387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5" name="Connecteur droit 64">
            <a:extLst>
              <a:ext uri="{FF2B5EF4-FFF2-40B4-BE49-F238E27FC236}">
                <a16:creationId xmlns:a16="http://schemas.microsoft.com/office/drawing/2014/main" id="{462FAC7D-556D-4EB7-8223-A2CF969A8C3C}"/>
              </a:ext>
            </a:extLst>
          </p:cNvPr>
          <p:cNvCxnSpPr>
            <a:cxnSpLocks/>
            <a:stCxn id="20" idx="0"/>
            <a:endCxn id="14" idx="4"/>
          </p:cNvCxnSpPr>
          <p:nvPr/>
        </p:nvCxnSpPr>
        <p:spPr bwMode="auto">
          <a:xfrm flipV="1">
            <a:off x="6636060" y="3465004"/>
            <a:ext cx="288032" cy="183620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8" name="Connecteur droit 67">
            <a:extLst>
              <a:ext uri="{FF2B5EF4-FFF2-40B4-BE49-F238E27FC236}">
                <a16:creationId xmlns:a16="http://schemas.microsoft.com/office/drawing/2014/main" id="{767EA400-5860-40DB-B851-FD5ACF736890}"/>
              </a:ext>
            </a:extLst>
          </p:cNvPr>
          <p:cNvCxnSpPr>
            <a:cxnSpLocks/>
            <a:stCxn id="18" idx="0"/>
            <a:endCxn id="7" idx="4"/>
          </p:cNvCxnSpPr>
          <p:nvPr/>
        </p:nvCxnSpPr>
        <p:spPr bwMode="auto">
          <a:xfrm flipH="1" flipV="1">
            <a:off x="4665576" y="3573016"/>
            <a:ext cx="458316" cy="168103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6" name="Connecteur droit 35">
            <a:extLst>
              <a:ext uri="{FF2B5EF4-FFF2-40B4-BE49-F238E27FC236}">
                <a16:creationId xmlns:a16="http://schemas.microsoft.com/office/drawing/2014/main" id="{7CD2132B-7038-42FC-BBC3-76DE515894BC}"/>
              </a:ext>
            </a:extLst>
          </p:cNvPr>
          <p:cNvCxnSpPr>
            <a:cxnSpLocks/>
            <a:stCxn id="2" idx="5"/>
            <a:endCxn id="5" idx="1"/>
          </p:cNvCxnSpPr>
          <p:nvPr/>
        </p:nvCxnSpPr>
        <p:spPr bwMode="auto">
          <a:xfrm>
            <a:off x="3595001" y="3016233"/>
            <a:ext cx="177462" cy="32147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857945B7-B5DC-4E05-A937-47A3D4E5055F}"/>
              </a:ext>
            </a:extLst>
          </p:cNvPr>
          <p:cNvSpPr/>
          <p:nvPr/>
        </p:nvSpPr>
        <p:spPr bwMode="auto">
          <a:xfrm>
            <a:off x="8472264" y="2780928"/>
            <a:ext cx="2232248" cy="664795"/>
          </a:xfrm>
          <a:prstGeom prst="rect">
            <a:avLst/>
          </a:prstGeom>
          <a:noFill/>
          <a:ln w="3810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4FC4B4B3-1D84-402B-9BAF-5B66AC561A18}"/>
              </a:ext>
            </a:extLst>
          </p:cNvPr>
          <p:cNvSpPr txBox="1"/>
          <p:nvPr/>
        </p:nvSpPr>
        <p:spPr>
          <a:xfrm>
            <a:off x="6276020" y="1733327"/>
            <a:ext cx="5642919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dirty="0"/>
              <a:t>The blocking </a:t>
            </a:r>
            <a:r>
              <a:rPr lang="fr-BE" dirty="0" err="1"/>
              <a:t>effect</a:t>
            </a:r>
            <a:r>
              <a:rPr lang="fr-BE" dirty="0"/>
              <a:t> </a:t>
            </a:r>
            <a:r>
              <a:rPr lang="fr-BE" dirty="0" err="1"/>
              <a:t>is</a:t>
            </a:r>
            <a:r>
              <a:rPr lang="fr-BE" dirty="0"/>
              <a:t> due to a </a:t>
            </a:r>
            <a:r>
              <a:rPr lang="fr-BE" dirty="0" err="1"/>
              <a:t>difficulty</a:t>
            </a:r>
            <a:r>
              <a:rPr lang="fr-BE" dirty="0"/>
              <a:t> to select concepts in </a:t>
            </a:r>
            <a:r>
              <a:rPr lang="fr-BE" dirty="0" err="1"/>
              <a:t>semantic</a:t>
            </a:r>
            <a:r>
              <a:rPr lang="fr-BE" dirty="0"/>
              <a:t> memory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3556815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ZoneTexte 24">
            <a:extLst>
              <a:ext uri="{FF2B5EF4-FFF2-40B4-BE49-F238E27FC236}">
                <a16:creationId xmlns:a16="http://schemas.microsoft.com/office/drawing/2014/main" id="{30E49ED1-91A8-4CB4-985E-92E82EBDAAB8}"/>
              </a:ext>
            </a:extLst>
          </p:cNvPr>
          <p:cNvSpPr txBox="1"/>
          <p:nvPr/>
        </p:nvSpPr>
        <p:spPr>
          <a:xfrm>
            <a:off x="2351584" y="2780928"/>
            <a:ext cx="7603363" cy="14003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BE" dirty="0"/>
              <a:t>Is </a:t>
            </a:r>
            <a:r>
              <a:rPr lang="fr-BE" dirty="0" err="1"/>
              <a:t>there</a:t>
            </a:r>
            <a:r>
              <a:rPr lang="fr-BE" dirty="0"/>
              <a:t> a </a:t>
            </a:r>
            <a:r>
              <a:rPr lang="fr-BE" dirty="0" err="1"/>
              <a:t>possibility</a:t>
            </a:r>
            <a:r>
              <a:rPr lang="fr-BE" dirty="0"/>
              <a:t> to test </a:t>
            </a:r>
            <a:r>
              <a:rPr lang="fr-BE" dirty="0" err="1"/>
              <a:t>this</a:t>
            </a:r>
            <a:r>
              <a:rPr lang="fr-BE" dirty="0"/>
              <a:t> </a:t>
            </a:r>
            <a:r>
              <a:rPr lang="fr-BE" b="1" dirty="0"/>
              <a:t>priming</a:t>
            </a:r>
            <a:r>
              <a:rPr lang="fr-BE" dirty="0"/>
              <a:t> </a:t>
            </a:r>
            <a:r>
              <a:rPr lang="fr-BE" dirty="0" err="1"/>
              <a:t>idea</a:t>
            </a:r>
            <a:r>
              <a:rPr lang="fr-BE" dirty="0"/>
              <a:t>?</a:t>
            </a:r>
          </a:p>
          <a:p>
            <a:pPr algn="ctr"/>
            <a:endParaRPr lang="fr-BE" dirty="0"/>
          </a:p>
          <a:p>
            <a:pPr algn="ctr"/>
            <a:r>
              <a:rPr lang="fr-BE" dirty="0"/>
              <a:t>One </a:t>
            </a:r>
            <a:r>
              <a:rPr lang="fr-BE" dirty="0" err="1"/>
              <a:t>characteristic</a:t>
            </a:r>
            <a:r>
              <a:rPr lang="fr-BE" dirty="0"/>
              <a:t> of priming </a:t>
            </a:r>
            <a:r>
              <a:rPr lang="fr-BE" dirty="0" err="1"/>
              <a:t>is</a:t>
            </a:r>
            <a:r>
              <a:rPr lang="fr-BE" dirty="0"/>
              <a:t> </a:t>
            </a:r>
            <a:r>
              <a:rPr lang="fr-BE" dirty="0" err="1"/>
              <a:t>that</a:t>
            </a:r>
            <a:r>
              <a:rPr lang="fr-BE" dirty="0"/>
              <a:t> </a:t>
            </a:r>
            <a:r>
              <a:rPr lang="fr-BE" dirty="0" err="1"/>
              <a:t>it</a:t>
            </a:r>
            <a:r>
              <a:rPr lang="fr-BE" dirty="0"/>
              <a:t> </a:t>
            </a:r>
            <a:r>
              <a:rPr lang="fr-BE" dirty="0" err="1"/>
              <a:t>is</a:t>
            </a:r>
            <a:r>
              <a:rPr lang="fr-BE" dirty="0"/>
              <a:t> </a:t>
            </a:r>
            <a:r>
              <a:rPr lang="fr-BE" b="1" dirty="0"/>
              <a:t>short-</a:t>
            </a:r>
            <a:r>
              <a:rPr lang="fr-BE" b="1" dirty="0" err="1"/>
              <a:t>lived</a:t>
            </a:r>
            <a:r>
              <a:rPr lang="fr-BE" dirty="0"/>
              <a:t>. It </a:t>
            </a:r>
            <a:r>
              <a:rPr lang="fr-BE" dirty="0" err="1"/>
              <a:t>doesn’t</a:t>
            </a:r>
            <a:r>
              <a:rPr lang="fr-BE" dirty="0"/>
              <a:t> last over time.</a:t>
            </a:r>
          </a:p>
          <a:p>
            <a:pPr algn="ctr"/>
            <a:endParaRPr lang="fr-BE" dirty="0"/>
          </a:p>
          <a:p>
            <a:pPr algn="ctr"/>
            <a:r>
              <a:rPr lang="fr-BE" dirty="0" err="1"/>
              <a:t>Let’s</a:t>
            </a:r>
            <a:r>
              <a:rPr lang="fr-BE" dirty="0"/>
              <a:t> </a:t>
            </a:r>
            <a:r>
              <a:rPr lang="fr-BE" dirty="0" err="1"/>
              <a:t>manipulate</a:t>
            </a:r>
            <a:r>
              <a:rPr lang="fr-BE" dirty="0"/>
              <a:t> time in the blocking </a:t>
            </a:r>
            <a:r>
              <a:rPr lang="fr-BE" dirty="0" err="1"/>
              <a:t>effect</a:t>
            </a:r>
            <a:r>
              <a:rPr lang="fr-BE" dirty="0"/>
              <a:t>.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618790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lèche : droite 21">
            <a:extLst>
              <a:ext uri="{FF2B5EF4-FFF2-40B4-BE49-F238E27FC236}">
                <a16:creationId xmlns:a16="http://schemas.microsoft.com/office/drawing/2014/main" id="{4121FDD5-0E8B-4C93-849F-3D393B994FE8}"/>
              </a:ext>
            </a:extLst>
          </p:cNvPr>
          <p:cNvSpPr/>
          <p:nvPr/>
        </p:nvSpPr>
        <p:spPr bwMode="auto">
          <a:xfrm>
            <a:off x="2423591" y="5085184"/>
            <a:ext cx="7704858" cy="360040"/>
          </a:xfrm>
          <a:prstGeom prst="rightArrow">
            <a:avLst/>
          </a:prstGeom>
          <a:solidFill>
            <a:schemeClr val="tx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grpSp>
        <p:nvGrpSpPr>
          <p:cNvPr id="9" name="Groupe 8">
            <a:extLst>
              <a:ext uri="{FF2B5EF4-FFF2-40B4-BE49-F238E27FC236}">
                <a16:creationId xmlns:a16="http://schemas.microsoft.com/office/drawing/2014/main" id="{F0DE24D9-3754-4CD5-8968-6641C85D7004}"/>
              </a:ext>
            </a:extLst>
          </p:cNvPr>
          <p:cNvGrpSpPr/>
          <p:nvPr/>
        </p:nvGrpSpPr>
        <p:grpSpPr>
          <a:xfrm>
            <a:off x="911225" y="2993032"/>
            <a:ext cx="1436201" cy="1484735"/>
            <a:chOff x="911225" y="2993032"/>
            <a:chExt cx="1436201" cy="1484735"/>
          </a:xfrm>
        </p:grpSpPr>
        <p:pic>
          <p:nvPicPr>
            <p:cNvPr id="19" name="Image 18" descr="Une image contenant fruit, cerise&#10;&#10;Description générée automatiquement">
              <a:extLst>
                <a:ext uri="{FF2B5EF4-FFF2-40B4-BE49-F238E27FC236}">
                  <a16:creationId xmlns:a16="http://schemas.microsoft.com/office/drawing/2014/main" id="{298E1DEF-9CAE-41F1-84AB-CD69C9670AE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H="1">
              <a:off x="911225" y="2993032"/>
              <a:ext cx="1436201" cy="107715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23" name="ZoneTexte 22">
              <a:extLst>
                <a:ext uri="{FF2B5EF4-FFF2-40B4-BE49-F238E27FC236}">
                  <a16:creationId xmlns:a16="http://schemas.microsoft.com/office/drawing/2014/main" id="{2796C74E-1079-4E46-8443-F4070F699B0B}"/>
                </a:ext>
              </a:extLst>
            </p:cNvPr>
            <p:cNvSpPr txBox="1"/>
            <p:nvPr/>
          </p:nvSpPr>
          <p:spPr>
            <a:xfrm>
              <a:off x="1050216" y="4123824"/>
              <a:ext cx="1156086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BE" dirty="0"/>
                <a:t>« cherry »</a:t>
              </a:r>
              <a:endParaRPr lang="de-CH" dirty="0"/>
            </a:p>
          </p:txBody>
        </p:sp>
      </p:grpSp>
      <p:grpSp>
        <p:nvGrpSpPr>
          <p:cNvPr id="7" name="Groupe 6">
            <a:extLst>
              <a:ext uri="{FF2B5EF4-FFF2-40B4-BE49-F238E27FC236}">
                <a16:creationId xmlns:a16="http://schemas.microsoft.com/office/drawing/2014/main" id="{FA8CE61C-6B1B-4A4A-A1C1-6F1D510E5A47}"/>
              </a:ext>
            </a:extLst>
          </p:cNvPr>
          <p:cNvGrpSpPr/>
          <p:nvPr/>
        </p:nvGrpSpPr>
        <p:grpSpPr>
          <a:xfrm>
            <a:off x="3981091" y="2973490"/>
            <a:ext cx="1437344" cy="1514047"/>
            <a:chOff x="4511824" y="2988976"/>
            <a:chExt cx="1437344" cy="1514047"/>
          </a:xfrm>
        </p:grpSpPr>
        <p:pic>
          <p:nvPicPr>
            <p:cNvPr id="18" name="Image 17" descr="Une image contenant fruit, banane&#10;&#10;Description générée automatiquement">
              <a:extLst>
                <a:ext uri="{FF2B5EF4-FFF2-40B4-BE49-F238E27FC236}">
                  <a16:creationId xmlns:a16="http://schemas.microsoft.com/office/drawing/2014/main" id="{0FE6B651-9E21-4344-B348-96276487133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11824" y="2988976"/>
              <a:ext cx="1437344" cy="107800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24" name="ZoneTexte 23">
              <a:extLst>
                <a:ext uri="{FF2B5EF4-FFF2-40B4-BE49-F238E27FC236}">
                  <a16:creationId xmlns:a16="http://schemas.microsoft.com/office/drawing/2014/main" id="{61161FEB-43A1-4BBA-8A24-89BCB068C434}"/>
                </a:ext>
              </a:extLst>
            </p:cNvPr>
            <p:cNvSpPr txBox="1"/>
            <p:nvPr/>
          </p:nvSpPr>
          <p:spPr>
            <a:xfrm>
              <a:off x="4655840" y="4149080"/>
              <a:ext cx="1281120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BE" dirty="0"/>
                <a:t>« banana »</a:t>
              </a:r>
              <a:endParaRPr lang="de-CH" dirty="0"/>
            </a:p>
          </p:txBody>
        </p:sp>
      </p:grpSp>
      <p:grpSp>
        <p:nvGrpSpPr>
          <p:cNvPr id="6" name="Groupe 5">
            <a:extLst>
              <a:ext uri="{FF2B5EF4-FFF2-40B4-BE49-F238E27FC236}">
                <a16:creationId xmlns:a16="http://schemas.microsoft.com/office/drawing/2014/main" id="{B5371320-B501-4038-9181-EA0F0EAE5575}"/>
              </a:ext>
            </a:extLst>
          </p:cNvPr>
          <p:cNvGrpSpPr/>
          <p:nvPr/>
        </p:nvGrpSpPr>
        <p:grpSpPr>
          <a:xfrm>
            <a:off x="7052100" y="2993032"/>
            <a:ext cx="1440161" cy="1509991"/>
            <a:chOff x="6600056" y="2993032"/>
            <a:chExt cx="1440161" cy="1509991"/>
          </a:xfrm>
        </p:grpSpPr>
        <p:pic>
          <p:nvPicPr>
            <p:cNvPr id="17" name="Image 16" descr="Une image contenant fruit, pomme, rouge, cerise&#10;&#10;Description générée automatiquement">
              <a:extLst>
                <a:ext uri="{FF2B5EF4-FFF2-40B4-BE49-F238E27FC236}">
                  <a16:creationId xmlns:a16="http://schemas.microsoft.com/office/drawing/2014/main" id="{B17AD5B4-1065-40C8-ADCB-2A49A04C809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600056" y="2993032"/>
              <a:ext cx="1440161" cy="108012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25" name="ZoneTexte 24">
              <a:extLst>
                <a:ext uri="{FF2B5EF4-FFF2-40B4-BE49-F238E27FC236}">
                  <a16:creationId xmlns:a16="http://schemas.microsoft.com/office/drawing/2014/main" id="{FC73FDE3-83CC-4EAC-A934-A4F8F03362A6}"/>
                </a:ext>
              </a:extLst>
            </p:cNvPr>
            <p:cNvSpPr txBox="1"/>
            <p:nvPr/>
          </p:nvSpPr>
          <p:spPr>
            <a:xfrm>
              <a:off x="6816080" y="4149080"/>
              <a:ext cx="1085554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BE" dirty="0"/>
                <a:t>« </a:t>
              </a:r>
              <a:r>
                <a:rPr lang="fr-BE" dirty="0" err="1"/>
                <a:t>apple</a:t>
              </a:r>
              <a:r>
                <a:rPr lang="fr-BE" dirty="0"/>
                <a:t> »</a:t>
              </a:r>
              <a:endParaRPr lang="de-CH" dirty="0"/>
            </a:p>
          </p:txBody>
        </p:sp>
      </p:grpSp>
      <p:grpSp>
        <p:nvGrpSpPr>
          <p:cNvPr id="3" name="Groupe 2">
            <a:extLst>
              <a:ext uri="{FF2B5EF4-FFF2-40B4-BE49-F238E27FC236}">
                <a16:creationId xmlns:a16="http://schemas.microsoft.com/office/drawing/2014/main" id="{039C89E5-3A97-48C8-A8F4-F8D3C29972DF}"/>
              </a:ext>
            </a:extLst>
          </p:cNvPr>
          <p:cNvGrpSpPr/>
          <p:nvPr/>
        </p:nvGrpSpPr>
        <p:grpSpPr>
          <a:xfrm>
            <a:off x="10125927" y="2983260"/>
            <a:ext cx="1440161" cy="1514048"/>
            <a:chOff x="10125927" y="2988975"/>
            <a:chExt cx="1440161" cy="1514048"/>
          </a:xfrm>
        </p:grpSpPr>
        <p:pic>
          <p:nvPicPr>
            <p:cNvPr id="21" name="Image 20" descr="Une image contenant poire, fruit, orange&#10;&#10;Description générée automatiquement">
              <a:extLst>
                <a:ext uri="{FF2B5EF4-FFF2-40B4-BE49-F238E27FC236}">
                  <a16:creationId xmlns:a16="http://schemas.microsoft.com/office/drawing/2014/main" id="{28DD7D64-5440-4103-80D5-B6FAD95F3DA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125927" y="2988975"/>
              <a:ext cx="1440161" cy="108012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26" name="ZoneTexte 25">
              <a:extLst>
                <a:ext uri="{FF2B5EF4-FFF2-40B4-BE49-F238E27FC236}">
                  <a16:creationId xmlns:a16="http://schemas.microsoft.com/office/drawing/2014/main" id="{C542B6EF-993F-44F6-8002-899ACA4F255B}"/>
                </a:ext>
              </a:extLst>
            </p:cNvPr>
            <p:cNvSpPr txBox="1"/>
            <p:nvPr/>
          </p:nvSpPr>
          <p:spPr>
            <a:xfrm>
              <a:off x="10341951" y="4149080"/>
              <a:ext cx="987771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BE" dirty="0"/>
                <a:t>« </a:t>
              </a:r>
              <a:r>
                <a:rPr lang="fr-BE" dirty="0" err="1"/>
                <a:t>pear</a:t>
              </a:r>
              <a:r>
                <a:rPr lang="fr-BE" dirty="0"/>
                <a:t> »</a:t>
              </a:r>
              <a:endParaRPr lang="de-CH" dirty="0"/>
            </a:p>
          </p:txBody>
        </p:sp>
      </p:grpSp>
      <p:sp>
        <p:nvSpPr>
          <p:cNvPr id="30" name="ZoneTexte 29">
            <a:extLst>
              <a:ext uri="{FF2B5EF4-FFF2-40B4-BE49-F238E27FC236}">
                <a16:creationId xmlns:a16="http://schemas.microsoft.com/office/drawing/2014/main" id="{880ADBB1-F896-4AB5-BB3F-6F5756385775}"/>
              </a:ext>
            </a:extLst>
          </p:cNvPr>
          <p:cNvSpPr txBox="1"/>
          <p:nvPr/>
        </p:nvSpPr>
        <p:spPr>
          <a:xfrm>
            <a:off x="5879976" y="5425375"/>
            <a:ext cx="660694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dirty="0"/>
              <a:t>Time</a:t>
            </a:r>
            <a:endParaRPr lang="de-CH" dirty="0"/>
          </a:p>
        </p:txBody>
      </p:sp>
      <p:pic>
        <p:nvPicPr>
          <p:cNvPr id="12" name="Image 11" descr="Une image contenant meubles, table&#10;&#10;Description générée automatiquement">
            <a:extLst>
              <a:ext uri="{FF2B5EF4-FFF2-40B4-BE49-F238E27FC236}">
                <a16:creationId xmlns:a16="http://schemas.microsoft.com/office/drawing/2014/main" id="{271465B8-7760-48A4-8DD9-9CAB5F3F5A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3600000">
            <a:off x="2826686" y="3403701"/>
            <a:ext cx="406421" cy="457223"/>
          </a:xfrm>
          <a:prstGeom prst="rect">
            <a:avLst/>
          </a:prstGeom>
          <a:ln>
            <a:noFill/>
          </a:ln>
        </p:spPr>
      </p:pic>
      <p:sp>
        <p:nvSpPr>
          <p:cNvPr id="31" name="ZoneTexte 30">
            <a:extLst>
              <a:ext uri="{FF2B5EF4-FFF2-40B4-BE49-F238E27FC236}">
                <a16:creationId xmlns:a16="http://schemas.microsoft.com/office/drawing/2014/main" id="{1CEE018D-3F54-49F8-8BF6-BF4EC4FFD2E4}"/>
              </a:ext>
            </a:extLst>
          </p:cNvPr>
          <p:cNvSpPr txBox="1"/>
          <p:nvPr/>
        </p:nvSpPr>
        <p:spPr>
          <a:xfrm>
            <a:off x="2464246" y="1805938"/>
            <a:ext cx="7263528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BE" dirty="0" err="1"/>
              <a:t>Naming</a:t>
            </a:r>
            <a:r>
              <a:rPr lang="fr-BE" dirty="0"/>
              <a:t> </a:t>
            </a:r>
            <a:r>
              <a:rPr lang="fr-BE" dirty="0" err="1"/>
              <a:t>task</a:t>
            </a:r>
            <a:r>
              <a:rPr lang="fr-BE" dirty="0"/>
              <a:t> </a:t>
            </a:r>
            <a:r>
              <a:rPr lang="fr-BE" dirty="0" err="1"/>
              <a:t>interleaved</a:t>
            </a:r>
            <a:r>
              <a:rPr lang="fr-BE" dirty="0"/>
              <a:t> by mental rotations (i.e., visuospatial </a:t>
            </a:r>
            <a:r>
              <a:rPr lang="fr-BE" dirty="0" err="1"/>
              <a:t>distractors</a:t>
            </a:r>
            <a:r>
              <a:rPr lang="fr-BE" dirty="0"/>
              <a:t>)</a:t>
            </a:r>
            <a:endParaRPr lang="de-CH" dirty="0"/>
          </a:p>
        </p:txBody>
      </p:sp>
      <p:pic>
        <p:nvPicPr>
          <p:cNvPr id="33" name="Image 32" descr="Une image contenant meubles, table&#10;&#10;Description générée automatiquement">
            <a:extLst>
              <a:ext uri="{FF2B5EF4-FFF2-40B4-BE49-F238E27FC236}">
                <a16:creationId xmlns:a16="http://schemas.microsoft.com/office/drawing/2014/main" id="{52D5EB57-E483-497B-B9EB-D760A40ADA6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1700000" flipH="1">
            <a:off x="3287688" y="3473804"/>
            <a:ext cx="406420" cy="457223"/>
          </a:xfrm>
          <a:prstGeom prst="rect">
            <a:avLst/>
          </a:prstGeom>
          <a:ln>
            <a:noFill/>
          </a:ln>
        </p:spPr>
      </p:pic>
      <p:pic>
        <p:nvPicPr>
          <p:cNvPr id="34" name="Image 33" descr="Une image contenant meubles, table&#10;&#10;Description générée automatiquement">
            <a:extLst>
              <a:ext uri="{FF2B5EF4-FFF2-40B4-BE49-F238E27FC236}">
                <a16:creationId xmlns:a16="http://schemas.microsoft.com/office/drawing/2014/main" id="{1E419148-C29F-4581-91D0-AA623970AB5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 flipH="1">
            <a:off x="5820585" y="3437546"/>
            <a:ext cx="406420" cy="457223"/>
          </a:xfrm>
          <a:prstGeom prst="rect">
            <a:avLst/>
          </a:prstGeom>
          <a:ln>
            <a:noFill/>
          </a:ln>
        </p:spPr>
      </p:pic>
      <p:pic>
        <p:nvPicPr>
          <p:cNvPr id="35" name="Image 34" descr="Une image contenant meubles, table&#10;&#10;Description générée automatiquement">
            <a:extLst>
              <a:ext uri="{FF2B5EF4-FFF2-40B4-BE49-F238E27FC236}">
                <a16:creationId xmlns:a16="http://schemas.microsoft.com/office/drawing/2014/main" id="{F4913A34-0F6D-45D4-9591-FD22CEDEE8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3500000" flipH="1">
            <a:off x="6294055" y="3441877"/>
            <a:ext cx="406420" cy="457223"/>
          </a:xfrm>
          <a:prstGeom prst="rect">
            <a:avLst/>
          </a:prstGeom>
          <a:ln>
            <a:noFill/>
          </a:ln>
        </p:spPr>
      </p:pic>
      <p:pic>
        <p:nvPicPr>
          <p:cNvPr id="36" name="Image 35" descr="Une image contenant meubles, table&#10;&#10;Description générée automatiquement">
            <a:extLst>
              <a:ext uri="{FF2B5EF4-FFF2-40B4-BE49-F238E27FC236}">
                <a16:creationId xmlns:a16="http://schemas.microsoft.com/office/drawing/2014/main" id="{0DB2AF99-3FEB-4E23-9067-CBD05E2DD7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9408368" y="3342021"/>
            <a:ext cx="406420" cy="457223"/>
          </a:xfrm>
          <a:prstGeom prst="rect">
            <a:avLst/>
          </a:prstGeom>
          <a:ln>
            <a:noFill/>
          </a:ln>
        </p:spPr>
      </p:pic>
      <p:pic>
        <p:nvPicPr>
          <p:cNvPr id="37" name="Image 36" descr="Une image contenant meubles, table&#10;&#10;Description générée automatiquement">
            <a:extLst>
              <a:ext uri="{FF2B5EF4-FFF2-40B4-BE49-F238E27FC236}">
                <a16:creationId xmlns:a16="http://schemas.microsoft.com/office/drawing/2014/main" id="{4EA0F429-B18D-4304-AEBA-E080B9D40E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0800000">
            <a:off x="8857171" y="3365144"/>
            <a:ext cx="406421" cy="457223"/>
          </a:xfrm>
          <a:prstGeom prst="rect">
            <a:avLst/>
          </a:prstGeom>
          <a:ln>
            <a:noFill/>
          </a:ln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BED76086-EC71-4EF9-B92A-BA2AB5EC88F0}"/>
              </a:ext>
            </a:extLst>
          </p:cNvPr>
          <p:cNvSpPr txBox="1"/>
          <p:nvPr/>
        </p:nvSpPr>
        <p:spPr>
          <a:xfrm>
            <a:off x="1556674" y="4698120"/>
            <a:ext cx="5831340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dirty="0" err="1"/>
              <a:t>We</a:t>
            </a:r>
            <a:r>
              <a:rPr lang="fr-BE" dirty="0"/>
              <a:t> can </a:t>
            </a:r>
            <a:r>
              <a:rPr lang="fr-BE" dirty="0" err="1"/>
              <a:t>manipulate</a:t>
            </a:r>
            <a:r>
              <a:rPr lang="fr-BE" dirty="0"/>
              <a:t> the </a:t>
            </a:r>
            <a:r>
              <a:rPr lang="fr-BE" dirty="0" err="1"/>
              <a:t>number</a:t>
            </a:r>
            <a:r>
              <a:rPr lang="fr-BE" dirty="0"/>
              <a:t> of </a:t>
            </a:r>
            <a:r>
              <a:rPr lang="fr-BE" dirty="0" err="1"/>
              <a:t>distractors</a:t>
            </a:r>
            <a:r>
              <a:rPr lang="fr-BE" dirty="0"/>
              <a:t> (e.g., 0; 1; 2)</a:t>
            </a:r>
            <a:endParaRPr lang="de-CH" dirty="0"/>
          </a:p>
        </p:txBody>
      </p:sp>
      <p:cxnSp>
        <p:nvCxnSpPr>
          <p:cNvPr id="11" name="Connecteur droit avec flèche 10">
            <a:extLst>
              <a:ext uri="{FF2B5EF4-FFF2-40B4-BE49-F238E27FC236}">
                <a16:creationId xmlns:a16="http://schemas.microsoft.com/office/drawing/2014/main" id="{CAFC2146-4471-4B80-8AB8-1E8DA33557A5}"/>
              </a:ext>
            </a:extLst>
          </p:cNvPr>
          <p:cNvCxnSpPr>
            <a:cxnSpLocks/>
            <a:stCxn id="2" idx="0"/>
          </p:cNvCxnSpPr>
          <p:nvPr/>
        </p:nvCxnSpPr>
        <p:spPr bwMode="auto">
          <a:xfrm flipH="1" flipV="1">
            <a:off x="3329486" y="3955725"/>
            <a:ext cx="1142858" cy="74239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" name="ZoneTexte 3">
            <a:extLst>
              <a:ext uri="{FF2B5EF4-FFF2-40B4-BE49-F238E27FC236}">
                <a16:creationId xmlns:a16="http://schemas.microsoft.com/office/drawing/2014/main" id="{73307E4E-E023-4C93-A2F4-FFEA89291900}"/>
              </a:ext>
            </a:extLst>
          </p:cNvPr>
          <p:cNvSpPr txBox="1"/>
          <p:nvPr/>
        </p:nvSpPr>
        <p:spPr>
          <a:xfrm>
            <a:off x="265532" y="6314880"/>
            <a:ext cx="2187587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dirty="0"/>
              <a:t>Damian &amp; Als (2005)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3355268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9" descr="Une image contenant table&#10;&#10;Description générée automatiquement">
            <a:extLst>
              <a:ext uri="{FF2B5EF4-FFF2-40B4-BE49-F238E27FC236}">
                <a16:creationId xmlns:a16="http://schemas.microsoft.com/office/drawing/2014/main" id="{76057C44-6659-43C7-9589-9FA8B12055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200" y="1484784"/>
            <a:ext cx="5157058" cy="3474437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B0349993-62B9-4AC1-A016-E0E29A28AB0E}"/>
              </a:ext>
            </a:extLst>
          </p:cNvPr>
          <p:cNvSpPr txBox="1"/>
          <p:nvPr/>
        </p:nvSpPr>
        <p:spPr>
          <a:xfrm>
            <a:off x="6096000" y="3832502"/>
            <a:ext cx="5256584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dirty="0"/>
              <a:t>The </a:t>
            </a:r>
            <a:r>
              <a:rPr lang="fr-BE" dirty="0" err="1"/>
              <a:t>refractory</a:t>
            </a:r>
            <a:r>
              <a:rPr lang="fr-BE" dirty="0"/>
              <a:t> </a:t>
            </a:r>
            <a:r>
              <a:rPr lang="fr-BE" dirty="0" err="1"/>
              <a:t>is</a:t>
            </a:r>
            <a:r>
              <a:rPr lang="fr-BE" dirty="0"/>
              <a:t> </a:t>
            </a:r>
            <a:r>
              <a:rPr lang="fr-BE" dirty="0" err="1"/>
              <a:t>preserved</a:t>
            </a:r>
            <a:r>
              <a:rPr lang="fr-BE" dirty="0"/>
              <a:t>!!</a:t>
            </a:r>
          </a:p>
          <a:p>
            <a:r>
              <a:rPr lang="fr-BE" dirty="0"/>
              <a:t>It </a:t>
            </a:r>
            <a:r>
              <a:rPr lang="fr-BE" dirty="0" err="1"/>
              <a:t>doesn’t</a:t>
            </a:r>
            <a:r>
              <a:rPr lang="fr-BE" dirty="0"/>
              <a:t> </a:t>
            </a:r>
            <a:r>
              <a:rPr lang="fr-BE" dirty="0" err="1"/>
              <a:t>seem</a:t>
            </a:r>
            <a:r>
              <a:rPr lang="fr-BE" dirty="0"/>
              <a:t> to </a:t>
            </a:r>
            <a:r>
              <a:rPr lang="fr-BE" dirty="0" err="1"/>
              <a:t>be</a:t>
            </a:r>
            <a:r>
              <a:rPr lang="fr-BE" dirty="0"/>
              <a:t> </a:t>
            </a:r>
            <a:r>
              <a:rPr lang="fr-BE" dirty="0" err="1"/>
              <a:t>dramatically</a:t>
            </a:r>
            <a:r>
              <a:rPr lang="fr-BE" dirty="0"/>
              <a:t> </a:t>
            </a:r>
            <a:r>
              <a:rPr lang="fr-BE" dirty="0" err="1"/>
              <a:t>affected</a:t>
            </a:r>
            <a:r>
              <a:rPr lang="fr-BE" dirty="0"/>
              <a:t> by the </a:t>
            </a:r>
            <a:r>
              <a:rPr lang="fr-BE" dirty="0" err="1"/>
              <a:t>number</a:t>
            </a:r>
            <a:r>
              <a:rPr lang="fr-BE" dirty="0"/>
              <a:t> of </a:t>
            </a:r>
            <a:r>
              <a:rPr lang="fr-BE" dirty="0" err="1"/>
              <a:t>interleaved</a:t>
            </a:r>
            <a:r>
              <a:rPr lang="fr-BE" dirty="0"/>
              <a:t> </a:t>
            </a:r>
            <a:r>
              <a:rPr lang="fr-BE" dirty="0" err="1"/>
              <a:t>distractors</a:t>
            </a:r>
            <a:r>
              <a:rPr lang="fr-BE" dirty="0"/>
              <a:t>.</a:t>
            </a:r>
            <a:endParaRPr lang="de-CH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EF8F63E-2C2F-4F59-A9E9-A365E0F5526E}"/>
              </a:ext>
            </a:extLst>
          </p:cNvPr>
          <p:cNvSpPr txBox="1"/>
          <p:nvPr/>
        </p:nvSpPr>
        <p:spPr>
          <a:xfrm>
            <a:off x="4547828" y="5286399"/>
            <a:ext cx="5904656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b="1" dirty="0" err="1"/>
              <a:t>However</a:t>
            </a:r>
            <a:r>
              <a:rPr lang="fr-BE" dirty="0"/>
              <a:t>: </a:t>
            </a:r>
            <a:r>
              <a:rPr lang="fr-BE" dirty="0" err="1"/>
              <a:t>maybe</a:t>
            </a:r>
            <a:r>
              <a:rPr lang="fr-BE" dirty="0"/>
              <a:t> people can </a:t>
            </a:r>
            <a:r>
              <a:rPr lang="fr-BE" dirty="0" err="1"/>
              <a:t>keep</a:t>
            </a:r>
            <a:r>
              <a:rPr lang="fr-BE" dirty="0"/>
              <a:t> the items’ transient activation </a:t>
            </a:r>
            <a:r>
              <a:rPr lang="fr-BE" dirty="0" err="1"/>
              <a:t>when</a:t>
            </a:r>
            <a:r>
              <a:rPr lang="fr-BE" dirty="0"/>
              <a:t> no verbal </a:t>
            </a:r>
            <a:r>
              <a:rPr lang="fr-BE" dirty="0" err="1"/>
              <a:t>distractor</a:t>
            </a:r>
            <a:r>
              <a:rPr lang="fr-BE" dirty="0"/>
              <a:t> </a:t>
            </a:r>
            <a:r>
              <a:rPr lang="fr-BE" dirty="0" err="1"/>
              <a:t>is</a:t>
            </a:r>
            <a:r>
              <a:rPr lang="fr-BE" dirty="0"/>
              <a:t> </a:t>
            </a:r>
            <a:r>
              <a:rPr lang="fr-BE" dirty="0" err="1"/>
              <a:t>presented</a:t>
            </a:r>
            <a:endParaRPr lang="de-CH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93AA1B4-8B7E-4D7E-97D0-B6EC6D1CEA45}"/>
              </a:ext>
            </a:extLst>
          </p:cNvPr>
          <p:cNvSpPr/>
          <p:nvPr/>
        </p:nvSpPr>
        <p:spPr bwMode="auto">
          <a:xfrm>
            <a:off x="5231904" y="3861048"/>
            <a:ext cx="720080" cy="720080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0633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lèche : droite 21">
            <a:extLst>
              <a:ext uri="{FF2B5EF4-FFF2-40B4-BE49-F238E27FC236}">
                <a16:creationId xmlns:a16="http://schemas.microsoft.com/office/drawing/2014/main" id="{4121FDD5-0E8B-4C93-849F-3D393B994FE8}"/>
              </a:ext>
            </a:extLst>
          </p:cNvPr>
          <p:cNvSpPr/>
          <p:nvPr/>
        </p:nvSpPr>
        <p:spPr bwMode="auto">
          <a:xfrm>
            <a:off x="2423591" y="5085184"/>
            <a:ext cx="7704858" cy="360040"/>
          </a:xfrm>
          <a:prstGeom prst="rightArrow">
            <a:avLst/>
          </a:prstGeom>
          <a:solidFill>
            <a:schemeClr val="tx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grpSp>
        <p:nvGrpSpPr>
          <p:cNvPr id="9" name="Groupe 8">
            <a:extLst>
              <a:ext uri="{FF2B5EF4-FFF2-40B4-BE49-F238E27FC236}">
                <a16:creationId xmlns:a16="http://schemas.microsoft.com/office/drawing/2014/main" id="{F0DE24D9-3754-4CD5-8968-6641C85D7004}"/>
              </a:ext>
            </a:extLst>
          </p:cNvPr>
          <p:cNvGrpSpPr/>
          <p:nvPr/>
        </p:nvGrpSpPr>
        <p:grpSpPr>
          <a:xfrm>
            <a:off x="911225" y="2993032"/>
            <a:ext cx="1436201" cy="1484735"/>
            <a:chOff x="911225" y="2993032"/>
            <a:chExt cx="1436201" cy="1484735"/>
          </a:xfrm>
        </p:grpSpPr>
        <p:pic>
          <p:nvPicPr>
            <p:cNvPr id="19" name="Image 18" descr="Une image contenant fruit, cerise&#10;&#10;Description générée automatiquement">
              <a:extLst>
                <a:ext uri="{FF2B5EF4-FFF2-40B4-BE49-F238E27FC236}">
                  <a16:creationId xmlns:a16="http://schemas.microsoft.com/office/drawing/2014/main" id="{298E1DEF-9CAE-41F1-84AB-CD69C9670AE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H="1">
              <a:off x="911225" y="2993032"/>
              <a:ext cx="1436201" cy="107715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23" name="ZoneTexte 22">
              <a:extLst>
                <a:ext uri="{FF2B5EF4-FFF2-40B4-BE49-F238E27FC236}">
                  <a16:creationId xmlns:a16="http://schemas.microsoft.com/office/drawing/2014/main" id="{2796C74E-1079-4E46-8443-F4070F699B0B}"/>
                </a:ext>
              </a:extLst>
            </p:cNvPr>
            <p:cNvSpPr txBox="1"/>
            <p:nvPr/>
          </p:nvSpPr>
          <p:spPr>
            <a:xfrm>
              <a:off x="1050216" y="4123824"/>
              <a:ext cx="1156086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BE" dirty="0">
                  <a:solidFill>
                    <a:schemeClr val="accent6"/>
                  </a:solidFill>
                </a:rPr>
                <a:t>« cherry »</a:t>
              </a:r>
              <a:endParaRPr lang="de-CH" dirty="0">
                <a:solidFill>
                  <a:schemeClr val="accent6"/>
                </a:solidFill>
              </a:endParaRPr>
            </a:p>
          </p:txBody>
        </p:sp>
      </p:grpSp>
      <p:grpSp>
        <p:nvGrpSpPr>
          <p:cNvPr id="7" name="Groupe 6">
            <a:extLst>
              <a:ext uri="{FF2B5EF4-FFF2-40B4-BE49-F238E27FC236}">
                <a16:creationId xmlns:a16="http://schemas.microsoft.com/office/drawing/2014/main" id="{FA8CE61C-6B1B-4A4A-A1C1-6F1D510E5A47}"/>
              </a:ext>
            </a:extLst>
          </p:cNvPr>
          <p:cNvGrpSpPr/>
          <p:nvPr/>
        </p:nvGrpSpPr>
        <p:grpSpPr>
          <a:xfrm>
            <a:off x="3981091" y="2988976"/>
            <a:ext cx="1437344" cy="1514047"/>
            <a:chOff x="4511824" y="2988976"/>
            <a:chExt cx="1437344" cy="1514047"/>
          </a:xfrm>
        </p:grpSpPr>
        <p:pic>
          <p:nvPicPr>
            <p:cNvPr id="18" name="Image 17" descr="Une image contenant fruit, banane&#10;&#10;Description générée automatiquement">
              <a:extLst>
                <a:ext uri="{FF2B5EF4-FFF2-40B4-BE49-F238E27FC236}">
                  <a16:creationId xmlns:a16="http://schemas.microsoft.com/office/drawing/2014/main" id="{0FE6B651-9E21-4344-B348-96276487133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11824" y="2988976"/>
              <a:ext cx="1437344" cy="107800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24" name="ZoneTexte 23">
              <a:extLst>
                <a:ext uri="{FF2B5EF4-FFF2-40B4-BE49-F238E27FC236}">
                  <a16:creationId xmlns:a16="http://schemas.microsoft.com/office/drawing/2014/main" id="{61161FEB-43A1-4BBA-8A24-89BCB068C434}"/>
                </a:ext>
              </a:extLst>
            </p:cNvPr>
            <p:cNvSpPr txBox="1"/>
            <p:nvPr/>
          </p:nvSpPr>
          <p:spPr>
            <a:xfrm>
              <a:off x="4655840" y="4149080"/>
              <a:ext cx="1281120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BE" dirty="0">
                  <a:solidFill>
                    <a:schemeClr val="accent6"/>
                  </a:solidFill>
                </a:rPr>
                <a:t>« banana »</a:t>
              </a:r>
              <a:endParaRPr lang="de-CH" dirty="0">
                <a:solidFill>
                  <a:schemeClr val="accent6"/>
                </a:solidFill>
              </a:endParaRPr>
            </a:p>
          </p:txBody>
        </p:sp>
      </p:grpSp>
      <p:grpSp>
        <p:nvGrpSpPr>
          <p:cNvPr id="6" name="Groupe 5">
            <a:extLst>
              <a:ext uri="{FF2B5EF4-FFF2-40B4-BE49-F238E27FC236}">
                <a16:creationId xmlns:a16="http://schemas.microsoft.com/office/drawing/2014/main" id="{B5371320-B501-4038-9181-EA0F0EAE5575}"/>
              </a:ext>
            </a:extLst>
          </p:cNvPr>
          <p:cNvGrpSpPr/>
          <p:nvPr/>
        </p:nvGrpSpPr>
        <p:grpSpPr>
          <a:xfrm>
            <a:off x="7052100" y="2993032"/>
            <a:ext cx="1440161" cy="1509991"/>
            <a:chOff x="6600056" y="2993032"/>
            <a:chExt cx="1440161" cy="1509991"/>
          </a:xfrm>
        </p:grpSpPr>
        <p:pic>
          <p:nvPicPr>
            <p:cNvPr id="17" name="Image 16" descr="Une image contenant fruit, pomme, rouge, cerise&#10;&#10;Description générée automatiquement">
              <a:extLst>
                <a:ext uri="{FF2B5EF4-FFF2-40B4-BE49-F238E27FC236}">
                  <a16:creationId xmlns:a16="http://schemas.microsoft.com/office/drawing/2014/main" id="{B17AD5B4-1065-40C8-ADCB-2A49A04C809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600056" y="2993032"/>
              <a:ext cx="1440161" cy="108012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25" name="ZoneTexte 24">
              <a:extLst>
                <a:ext uri="{FF2B5EF4-FFF2-40B4-BE49-F238E27FC236}">
                  <a16:creationId xmlns:a16="http://schemas.microsoft.com/office/drawing/2014/main" id="{FC73FDE3-83CC-4EAC-A934-A4F8F03362A6}"/>
                </a:ext>
              </a:extLst>
            </p:cNvPr>
            <p:cNvSpPr txBox="1"/>
            <p:nvPr/>
          </p:nvSpPr>
          <p:spPr>
            <a:xfrm>
              <a:off x="6816080" y="4149080"/>
              <a:ext cx="1085554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BE" dirty="0">
                  <a:solidFill>
                    <a:schemeClr val="accent6"/>
                  </a:solidFill>
                </a:rPr>
                <a:t>« </a:t>
              </a:r>
              <a:r>
                <a:rPr lang="fr-BE" dirty="0" err="1">
                  <a:solidFill>
                    <a:schemeClr val="accent6"/>
                  </a:solidFill>
                </a:rPr>
                <a:t>apple</a:t>
              </a:r>
              <a:r>
                <a:rPr lang="fr-BE" dirty="0">
                  <a:solidFill>
                    <a:schemeClr val="accent6"/>
                  </a:solidFill>
                </a:rPr>
                <a:t> »</a:t>
              </a:r>
              <a:endParaRPr lang="de-CH" dirty="0">
                <a:solidFill>
                  <a:schemeClr val="accent6"/>
                </a:solidFill>
              </a:endParaRPr>
            </a:p>
          </p:txBody>
        </p:sp>
      </p:grpSp>
      <p:grpSp>
        <p:nvGrpSpPr>
          <p:cNvPr id="3" name="Groupe 2">
            <a:extLst>
              <a:ext uri="{FF2B5EF4-FFF2-40B4-BE49-F238E27FC236}">
                <a16:creationId xmlns:a16="http://schemas.microsoft.com/office/drawing/2014/main" id="{039C89E5-3A97-48C8-A8F4-F8D3C29972DF}"/>
              </a:ext>
            </a:extLst>
          </p:cNvPr>
          <p:cNvGrpSpPr/>
          <p:nvPr/>
        </p:nvGrpSpPr>
        <p:grpSpPr>
          <a:xfrm>
            <a:off x="10125927" y="2983260"/>
            <a:ext cx="1440161" cy="1514048"/>
            <a:chOff x="10125927" y="2988975"/>
            <a:chExt cx="1440161" cy="1514048"/>
          </a:xfrm>
        </p:grpSpPr>
        <p:pic>
          <p:nvPicPr>
            <p:cNvPr id="21" name="Image 20" descr="Une image contenant poire, fruit, orange&#10;&#10;Description générée automatiquement">
              <a:extLst>
                <a:ext uri="{FF2B5EF4-FFF2-40B4-BE49-F238E27FC236}">
                  <a16:creationId xmlns:a16="http://schemas.microsoft.com/office/drawing/2014/main" id="{28DD7D64-5440-4103-80D5-B6FAD95F3DA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125927" y="2988975"/>
              <a:ext cx="1440161" cy="108012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26" name="ZoneTexte 25">
              <a:extLst>
                <a:ext uri="{FF2B5EF4-FFF2-40B4-BE49-F238E27FC236}">
                  <a16:creationId xmlns:a16="http://schemas.microsoft.com/office/drawing/2014/main" id="{C542B6EF-993F-44F6-8002-899ACA4F255B}"/>
                </a:ext>
              </a:extLst>
            </p:cNvPr>
            <p:cNvSpPr txBox="1"/>
            <p:nvPr/>
          </p:nvSpPr>
          <p:spPr>
            <a:xfrm>
              <a:off x="10341951" y="4149080"/>
              <a:ext cx="987771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BE" dirty="0">
                  <a:solidFill>
                    <a:schemeClr val="accent6"/>
                  </a:solidFill>
                </a:rPr>
                <a:t>« </a:t>
              </a:r>
              <a:r>
                <a:rPr lang="fr-BE" dirty="0" err="1">
                  <a:solidFill>
                    <a:schemeClr val="accent6"/>
                  </a:solidFill>
                </a:rPr>
                <a:t>pear</a:t>
              </a:r>
              <a:r>
                <a:rPr lang="fr-BE" dirty="0">
                  <a:solidFill>
                    <a:schemeClr val="accent6"/>
                  </a:solidFill>
                </a:rPr>
                <a:t> »</a:t>
              </a:r>
              <a:endParaRPr lang="de-CH" dirty="0">
                <a:solidFill>
                  <a:schemeClr val="accent6"/>
                </a:solidFill>
              </a:endParaRPr>
            </a:p>
          </p:txBody>
        </p:sp>
      </p:grpSp>
      <p:sp>
        <p:nvSpPr>
          <p:cNvPr id="30" name="ZoneTexte 29">
            <a:extLst>
              <a:ext uri="{FF2B5EF4-FFF2-40B4-BE49-F238E27FC236}">
                <a16:creationId xmlns:a16="http://schemas.microsoft.com/office/drawing/2014/main" id="{880ADBB1-F896-4AB5-BB3F-6F5756385775}"/>
              </a:ext>
            </a:extLst>
          </p:cNvPr>
          <p:cNvSpPr txBox="1"/>
          <p:nvPr/>
        </p:nvSpPr>
        <p:spPr>
          <a:xfrm>
            <a:off x="5879976" y="5425375"/>
            <a:ext cx="660694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dirty="0"/>
              <a:t>Time</a:t>
            </a:r>
            <a:endParaRPr lang="de-CH" dirty="0"/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1CEE018D-3F54-49F8-8BF6-BF4EC4FFD2E4}"/>
              </a:ext>
            </a:extLst>
          </p:cNvPr>
          <p:cNvSpPr txBox="1"/>
          <p:nvPr/>
        </p:nvSpPr>
        <p:spPr>
          <a:xfrm>
            <a:off x="2279910" y="1828334"/>
            <a:ext cx="7632218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BE" dirty="0" err="1"/>
              <a:t>What</a:t>
            </a:r>
            <a:r>
              <a:rPr lang="fr-BE" dirty="0"/>
              <a:t> </a:t>
            </a:r>
            <a:r>
              <a:rPr lang="fr-BE" dirty="0" err="1"/>
              <a:t>happens</a:t>
            </a:r>
            <a:r>
              <a:rPr lang="fr-BE" dirty="0"/>
              <a:t> if </a:t>
            </a:r>
            <a:r>
              <a:rPr lang="fr-BE" dirty="0" err="1"/>
              <a:t>we</a:t>
            </a:r>
            <a:r>
              <a:rPr lang="fr-BE" dirty="0"/>
              <a:t> </a:t>
            </a:r>
            <a:r>
              <a:rPr lang="fr-BE" dirty="0" err="1"/>
              <a:t>interleave</a:t>
            </a:r>
            <a:r>
              <a:rPr lang="fr-BE" dirty="0"/>
              <a:t> the </a:t>
            </a:r>
            <a:r>
              <a:rPr lang="fr-BE" dirty="0" err="1"/>
              <a:t>related</a:t>
            </a:r>
            <a:r>
              <a:rPr lang="fr-BE" dirty="0"/>
              <a:t> items </a:t>
            </a:r>
            <a:r>
              <a:rPr lang="fr-BE" dirty="0" err="1"/>
              <a:t>with</a:t>
            </a:r>
            <a:r>
              <a:rPr lang="fr-BE" dirty="0"/>
              <a:t> </a:t>
            </a:r>
            <a:r>
              <a:rPr lang="fr-BE" dirty="0" err="1"/>
              <a:t>unrelated</a:t>
            </a:r>
            <a:r>
              <a:rPr lang="fr-BE" dirty="0"/>
              <a:t> </a:t>
            </a:r>
            <a:r>
              <a:rPr lang="fr-BE" dirty="0" err="1"/>
              <a:t>naming</a:t>
            </a:r>
            <a:r>
              <a:rPr lang="fr-BE" dirty="0"/>
              <a:t> trials?</a:t>
            </a:r>
            <a:endParaRPr lang="de-CH" dirty="0"/>
          </a:p>
        </p:txBody>
      </p:sp>
      <p:grpSp>
        <p:nvGrpSpPr>
          <p:cNvPr id="27" name="Groupe 26">
            <a:extLst>
              <a:ext uri="{FF2B5EF4-FFF2-40B4-BE49-F238E27FC236}">
                <a16:creationId xmlns:a16="http://schemas.microsoft.com/office/drawing/2014/main" id="{13D4F5D2-293C-491B-A578-EC820AE610BE}"/>
              </a:ext>
            </a:extLst>
          </p:cNvPr>
          <p:cNvGrpSpPr/>
          <p:nvPr/>
        </p:nvGrpSpPr>
        <p:grpSpPr>
          <a:xfrm>
            <a:off x="2464140" y="2980889"/>
            <a:ext cx="1435200" cy="1483984"/>
            <a:chOff x="2423591" y="2993783"/>
            <a:chExt cx="1435200" cy="1483984"/>
          </a:xfrm>
        </p:grpSpPr>
        <p:sp>
          <p:nvSpPr>
            <p:cNvPr id="28" name="ZoneTexte 27">
              <a:extLst>
                <a:ext uri="{FF2B5EF4-FFF2-40B4-BE49-F238E27FC236}">
                  <a16:creationId xmlns:a16="http://schemas.microsoft.com/office/drawing/2014/main" id="{0E1B7108-A889-41FD-8D46-526F024B8FA9}"/>
                </a:ext>
              </a:extLst>
            </p:cNvPr>
            <p:cNvSpPr txBox="1"/>
            <p:nvPr/>
          </p:nvSpPr>
          <p:spPr>
            <a:xfrm>
              <a:off x="2476822" y="4123824"/>
              <a:ext cx="1327608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fr-BE" dirty="0"/>
                <a:t>« </a:t>
              </a:r>
              <a:r>
                <a:rPr lang="fr-BE" dirty="0" err="1"/>
                <a:t>butterfly</a:t>
              </a:r>
              <a:r>
                <a:rPr lang="fr-BE" dirty="0"/>
                <a:t> »</a:t>
              </a:r>
              <a:endParaRPr lang="de-CH" dirty="0"/>
            </a:p>
          </p:txBody>
        </p:sp>
        <p:pic>
          <p:nvPicPr>
            <p:cNvPr id="29" name="Image 28" descr="Une image contenant insecte&#10;&#10;Description générée automatiquement">
              <a:extLst>
                <a:ext uri="{FF2B5EF4-FFF2-40B4-BE49-F238E27FC236}">
                  <a16:creationId xmlns:a16="http://schemas.microsoft.com/office/drawing/2014/main" id="{294292C3-136A-47DE-8B69-432BF13C64B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423591" y="2993783"/>
              <a:ext cx="1435200" cy="10764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  <p:grpSp>
        <p:nvGrpSpPr>
          <p:cNvPr id="40" name="Groupe 39">
            <a:extLst>
              <a:ext uri="{FF2B5EF4-FFF2-40B4-BE49-F238E27FC236}">
                <a16:creationId xmlns:a16="http://schemas.microsoft.com/office/drawing/2014/main" id="{13E32D47-4951-4CCA-9BF8-B5234A41AF9D}"/>
              </a:ext>
            </a:extLst>
          </p:cNvPr>
          <p:cNvGrpSpPr/>
          <p:nvPr/>
        </p:nvGrpSpPr>
        <p:grpSpPr>
          <a:xfrm>
            <a:off x="5519936" y="2996753"/>
            <a:ext cx="1435200" cy="1506270"/>
            <a:chOff x="6605017" y="2996753"/>
            <a:chExt cx="1435200" cy="1506270"/>
          </a:xfrm>
        </p:grpSpPr>
        <p:sp>
          <p:nvSpPr>
            <p:cNvPr id="41" name="ZoneTexte 40">
              <a:extLst>
                <a:ext uri="{FF2B5EF4-FFF2-40B4-BE49-F238E27FC236}">
                  <a16:creationId xmlns:a16="http://schemas.microsoft.com/office/drawing/2014/main" id="{A63D4456-C5D8-4B1A-9A6E-EFA1A0E39088}"/>
                </a:ext>
              </a:extLst>
            </p:cNvPr>
            <p:cNvSpPr txBox="1"/>
            <p:nvPr/>
          </p:nvSpPr>
          <p:spPr>
            <a:xfrm>
              <a:off x="6901840" y="4149080"/>
              <a:ext cx="914033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fr-BE" dirty="0"/>
                <a:t>« fork »</a:t>
              </a:r>
              <a:endParaRPr lang="de-CH" dirty="0"/>
            </a:p>
          </p:txBody>
        </p:sp>
        <p:pic>
          <p:nvPicPr>
            <p:cNvPr id="42" name="Image 41" descr="Une image contenant arts de la table, cuillère, fourchette&#10;&#10;Description générée automatiquement">
              <a:extLst>
                <a:ext uri="{FF2B5EF4-FFF2-40B4-BE49-F238E27FC236}">
                  <a16:creationId xmlns:a16="http://schemas.microsoft.com/office/drawing/2014/main" id="{16A74D68-D252-438E-B9F4-916DC7087B7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605017" y="2996753"/>
              <a:ext cx="1435200" cy="10764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  <p:grpSp>
        <p:nvGrpSpPr>
          <p:cNvPr id="43" name="Groupe 42">
            <a:extLst>
              <a:ext uri="{FF2B5EF4-FFF2-40B4-BE49-F238E27FC236}">
                <a16:creationId xmlns:a16="http://schemas.microsoft.com/office/drawing/2014/main" id="{0C122A83-4409-49AF-BF06-EA2D358EB62D}"/>
              </a:ext>
            </a:extLst>
          </p:cNvPr>
          <p:cNvGrpSpPr/>
          <p:nvPr/>
        </p:nvGrpSpPr>
        <p:grpSpPr>
          <a:xfrm>
            <a:off x="8688288" y="2988975"/>
            <a:ext cx="1435200" cy="1514048"/>
            <a:chOff x="8688288" y="2988975"/>
            <a:chExt cx="1435200" cy="1514048"/>
          </a:xfrm>
        </p:grpSpPr>
        <p:sp>
          <p:nvSpPr>
            <p:cNvPr id="44" name="ZoneTexte 43">
              <a:extLst>
                <a:ext uri="{FF2B5EF4-FFF2-40B4-BE49-F238E27FC236}">
                  <a16:creationId xmlns:a16="http://schemas.microsoft.com/office/drawing/2014/main" id="{8C2F1D68-BEDA-42E9-8128-8083BAAC51A0}"/>
                </a:ext>
              </a:extLst>
            </p:cNvPr>
            <p:cNvSpPr txBox="1"/>
            <p:nvPr/>
          </p:nvSpPr>
          <p:spPr>
            <a:xfrm>
              <a:off x="8855422" y="4149080"/>
              <a:ext cx="1085555" cy="3539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fr-BE" dirty="0"/>
                <a:t>« globe »</a:t>
              </a:r>
              <a:endParaRPr lang="de-CH" dirty="0"/>
            </a:p>
          </p:txBody>
        </p:sp>
        <p:pic>
          <p:nvPicPr>
            <p:cNvPr id="45" name="Image 44" descr="Une image contenant gants, habits, noir&#10;&#10;Description générée automatiquement">
              <a:extLst>
                <a:ext uri="{FF2B5EF4-FFF2-40B4-BE49-F238E27FC236}">
                  <a16:creationId xmlns:a16="http://schemas.microsoft.com/office/drawing/2014/main" id="{E9F72D28-1E65-4824-8682-4D515F53B74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688288" y="2988975"/>
              <a:ext cx="1435200" cy="10764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1658752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ZoneTexte 31">
            <a:extLst>
              <a:ext uri="{FF2B5EF4-FFF2-40B4-BE49-F238E27FC236}">
                <a16:creationId xmlns:a16="http://schemas.microsoft.com/office/drawing/2014/main" id="{93F3FF81-C2C0-4EFD-84C7-1B2B6E433286}"/>
              </a:ext>
            </a:extLst>
          </p:cNvPr>
          <p:cNvSpPr txBox="1"/>
          <p:nvPr/>
        </p:nvSpPr>
        <p:spPr>
          <a:xfrm>
            <a:off x="7320136" y="3717032"/>
            <a:ext cx="3327449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BE" dirty="0"/>
              <a:t>The blocking </a:t>
            </a:r>
            <a:r>
              <a:rPr lang="fr-BE" dirty="0" err="1"/>
              <a:t>effect</a:t>
            </a:r>
            <a:r>
              <a:rPr lang="fr-BE" dirty="0"/>
              <a:t> </a:t>
            </a:r>
            <a:r>
              <a:rPr lang="fr-BE" dirty="0" err="1"/>
              <a:t>is</a:t>
            </a:r>
            <a:r>
              <a:rPr lang="fr-BE" dirty="0"/>
              <a:t> </a:t>
            </a:r>
            <a:r>
              <a:rPr lang="fr-BE" dirty="0" err="1"/>
              <a:t>preserved</a:t>
            </a:r>
            <a:r>
              <a:rPr lang="fr-BE" dirty="0"/>
              <a:t>!</a:t>
            </a:r>
            <a:endParaRPr lang="de-CH" dirty="0"/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08B10D7B-D57C-4A18-904E-D00ED7D395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3712" y="1268760"/>
            <a:ext cx="2624733" cy="5013176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924E8C9A-3EC7-4112-B64B-02327E36AE21}"/>
              </a:ext>
            </a:extLst>
          </p:cNvPr>
          <p:cNvSpPr/>
          <p:nvPr/>
        </p:nvSpPr>
        <p:spPr bwMode="auto">
          <a:xfrm>
            <a:off x="3431704" y="3789040"/>
            <a:ext cx="2808312" cy="2592288"/>
          </a:xfrm>
          <a:prstGeom prst="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94479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5F54AC73-B678-42A5-BE46-B8DE019CD2ED}"/>
              </a:ext>
            </a:extLst>
          </p:cNvPr>
          <p:cNvSpPr txBox="1"/>
          <p:nvPr/>
        </p:nvSpPr>
        <p:spPr>
          <a:xfrm>
            <a:off x="2063552" y="2859614"/>
            <a:ext cx="8064896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dirty="0"/>
              <a:t>The </a:t>
            </a:r>
            <a:r>
              <a:rPr lang="fr-BE" dirty="0" err="1"/>
              <a:t>fact</a:t>
            </a:r>
            <a:r>
              <a:rPr lang="fr-BE" dirty="0"/>
              <a:t> </a:t>
            </a:r>
            <a:r>
              <a:rPr lang="fr-BE" dirty="0" err="1"/>
              <a:t>that</a:t>
            </a:r>
            <a:r>
              <a:rPr lang="fr-BE" dirty="0"/>
              <a:t> the blocking </a:t>
            </a:r>
            <a:r>
              <a:rPr lang="fr-BE" dirty="0" err="1"/>
              <a:t>effect</a:t>
            </a:r>
            <a:r>
              <a:rPr lang="fr-BE" dirty="0"/>
              <a:t> </a:t>
            </a:r>
            <a:r>
              <a:rPr lang="fr-BE" dirty="0" err="1"/>
              <a:t>is</a:t>
            </a:r>
            <a:r>
              <a:rPr lang="fr-BE" dirty="0"/>
              <a:t> </a:t>
            </a:r>
            <a:r>
              <a:rPr lang="fr-BE" dirty="0" err="1"/>
              <a:t>still</a:t>
            </a:r>
            <a:r>
              <a:rPr lang="fr-BE" dirty="0"/>
              <a:t> </a:t>
            </a:r>
            <a:r>
              <a:rPr lang="fr-BE" dirty="0" err="1"/>
              <a:t>observed</a:t>
            </a:r>
            <a:r>
              <a:rPr lang="fr-BE" dirty="0"/>
              <a:t> </a:t>
            </a:r>
            <a:r>
              <a:rPr lang="fr-BE" dirty="0" err="1"/>
              <a:t>when</a:t>
            </a:r>
            <a:r>
              <a:rPr lang="fr-BE" dirty="0"/>
              <a:t> </a:t>
            </a:r>
            <a:r>
              <a:rPr lang="fr-BE" dirty="0" err="1"/>
              <a:t>homogeneous</a:t>
            </a:r>
            <a:r>
              <a:rPr lang="fr-BE" dirty="0"/>
              <a:t> items are </a:t>
            </a:r>
            <a:r>
              <a:rPr lang="fr-BE" dirty="0" err="1"/>
              <a:t>interleaved</a:t>
            </a:r>
            <a:r>
              <a:rPr lang="fr-BE" dirty="0"/>
              <a:t> by </a:t>
            </a:r>
            <a:r>
              <a:rPr lang="fr-BE" dirty="0" err="1"/>
              <a:t>heterogeneous</a:t>
            </a:r>
            <a:r>
              <a:rPr lang="fr-BE" dirty="0"/>
              <a:t> items </a:t>
            </a:r>
            <a:r>
              <a:rPr lang="fr-BE" dirty="0" err="1"/>
              <a:t>means</a:t>
            </a:r>
            <a:r>
              <a:rPr lang="fr-BE" dirty="0"/>
              <a:t> </a:t>
            </a:r>
            <a:r>
              <a:rPr lang="fr-BE" dirty="0" err="1"/>
              <a:t>that</a:t>
            </a:r>
            <a:r>
              <a:rPr lang="fr-BE" dirty="0"/>
              <a:t> the </a:t>
            </a:r>
            <a:r>
              <a:rPr lang="fr-BE" dirty="0" err="1"/>
              <a:t>effect</a:t>
            </a:r>
            <a:r>
              <a:rPr lang="fr-BE" dirty="0"/>
              <a:t> </a:t>
            </a:r>
            <a:r>
              <a:rPr lang="fr-BE" dirty="0" err="1"/>
              <a:t>cannot</a:t>
            </a:r>
            <a:r>
              <a:rPr lang="fr-BE" dirty="0"/>
              <a:t> </a:t>
            </a:r>
            <a:r>
              <a:rPr lang="fr-BE" dirty="0" err="1"/>
              <a:t>be</a:t>
            </a:r>
            <a:r>
              <a:rPr lang="fr-BE" dirty="0"/>
              <a:t> </a:t>
            </a:r>
            <a:r>
              <a:rPr lang="fr-BE" dirty="0" err="1"/>
              <a:t>attributed</a:t>
            </a:r>
            <a:r>
              <a:rPr lang="fr-BE" dirty="0"/>
              <a:t> to </a:t>
            </a:r>
            <a:r>
              <a:rPr lang="fr-BE" dirty="0" err="1"/>
              <a:t>residual</a:t>
            </a:r>
            <a:r>
              <a:rPr lang="fr-BE" dirty="0"/>
              <a:t> </a:t>
            </a:r>
            <a:r>
              <a:rPr lang="fr-BE" dirty="0" err="1"/>
              <a:t>semantic</a:t>
            </a:r>
            <a:r>
              <a:rPr lang="fr-BE" dirty="0"/>
              <a:t> priming. This </a:t>
            </a:r>
            <a:r>
              <a:rPr lang="fr-BE" dirty="0" err="1"/>
              <a:t>is</a:t>
            </a:r>
            <a:r>
              <a:rPr lang="fr-BE" dirty="0"/>
              <a:t> </a:t>
            </a:r>
            <a:r>
              <a:rPr lang="fr-BE" dirty="0" err="1"/>
              <a:t>because</a:t>
            </a:r>
            <a:r>
              <a:rPr lang="fr-BE" dirty="0"/>
              <a:t> </a:t>
            </a:r>
            <a:r>
              <a:rPr lang="fr-BE" dirty="0" err="1"/>
              <a:t>residual</a:t>
            </a:r>
            <a:r>
              <a:rPr lang="fr-BE" dirty="0"/>
              <a:t> </a:t>
            </a:r>
            <a:r>
              <a:rPr lang="fr-BE" dirty="0" err="1"/>
              <a:t>spreading</a:t>
            </a:r>
            <a:r>
              <a:rPr lang="fr-BE" dirty="0"/>
              <a:t> of activation </a:t>
            </a:r>
            <a:r>
              <a:rPr lang="fr-BE" dirty="0" err="1"/>
              <a:t>is</a:t>
            </a:r>
            <a:r>
              <a:rPr lang="fr-BE" dirty="0"/>
              <a:t> </a:t>
            </a:r>
            <a:r>
              <a:rPr lang="fr-BE" dirty="0" err="1"/>
              <a:t>supposed</a:t>
            </a:r>
            <a:r>
              <a:rPr lang="fr-BE" dirty="0"/>
              <a:t> to </a:t>
            </a:r>
            <a:r>
              <a:rPr lang="fr-BE" dirty="0" err="1"/>
              <a:t>be</a:t>
            </a:r>
            <a:r>
              <a:rPr lang="fr-BE" dirty="0"/>
              <a:t> short-</a:t>
            </a:r>
            <a:r>
              <a:rPr lang="fr-BE" dirty="0" err="1"/>
              <a:t>lived</a:t>
            </a:r>
            <a:r>
              <a:rPr lang="fr-BE" dirty="0"/>
              <a:t>.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98656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E3920F26-1A1D-4C43-A466-6987F851228B}"/>
              </a:ext>
            </a:extLst>
          </p:cNvPr>
          <p:cNvSpPr txBox="1"/>
          <p:nvPr/>
        </p:nvSpPr>
        <p:spPr>
          <a:xfrm>
            <a:off x="119336" y="6370736"/>
            <a:ext cx="21130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sz="1400" dirty="0"/>
              <a:t>Oppenheim et al. (2010)</a:t>
            </a:r>
            <a:endParaRPr lang="de-CH" sz="1400" dirty="0"/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762A4498-6B7B-4CF5-908D-835A06FCCF60}"/>
              </a:ext>
            </a:extLst>
          </p:cNvPr>
          <p:cNvSpPr/>
          <p:nvPr/>
        </p:nvSpPr>
        <p:spPr bwMode="auto">
          <a:xfrm>
            <a:off x="3527124" y="2636912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AC4DD5B2-F7B4-4BD1-86A9-BC38B1073534}"/>
              </a:ext>
            </a:extLst>
          </p:cNvPr>
          <p:cNvSpPr/>
          <p:nvPr/>
        </p:nvSpPr>
        <p:spPr bwMode="auto">
          <a:xfrm>
            <a:off x="3970136" y="2636912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081D2638-4A36-49D3-BFE4-C0BD5DB4F77C}"/>
              </a:ext>
            </a:extLst>
          </p:cNvPr>
          <p:cNvSpPr/>
          <p:nvPr/>
        </p:nvSpPr>
        <p:spPr bwMode="auto">
          <a:xfrm>
            <a:off x="4413148" y="2636912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F6599155-4357-4AEE-89DA-9B3FA42A5704}"/>
              </a:ext>
            </a:extLst>
          </p:cNvPr>
          <p:cNvSpPr/>
          <p:nvPr/>
        </p:nvSpPr>
        <p:spPr bwMode="auto">
          <a:xfrm>
            <a:off x="4856160" y="2632844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D6B0A2AE-59CD-47F7-8006-D15A7E70F704}"/>
              </a:ext>
            </a:extLst>
          </p:cNvPr>
          <p:cNvSpPr/>
          <p:nvPr/>
        </p:nvSpPr>
        <p:spPr bwMode="auto">
          <a:xfrm>
            <a:off x="5299172" y="2632844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DF136A81-11F5-4A1B-97CC-A6F72E64B6B7}"/>
              </a:ext>
            </a:extLst>
          </p:cNvPr>
          <p:cNvSpPr/>
          <p:nvPr/>
        </p:nvSpPr>
        <p:spPr bwMode="auto">
          <a:xfrm>
            <a:off x="5742184" y="2632844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6B2574E3-783B-40C9-B836-CDBAF66241EF}"/>
              </a:ext>
            </a:extLst>
          </p:cNvPr>
          <p:cNvSpPr/>
          <p:nvPr/>
        </p:nvSpPr>
        <p:spPr bwMode="auto">
          <a:xfrm>
            <a:off x="6185196" y="2632844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3DD52389-D857-4936-A8C0-998F1384B27F}"/>
              </a:ext>
            </a:extLst>
          </p:cNvPr>
          <p:cNvSpPr/>
          <p:nvPr/>
        </p:nvSpPr>
        <p:spPr bwMode="auto">
          <a:xfrm>
            <a:off x="6628208" y="2632844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A54A72A4-F7EE-40AF-838C-7EBF8B03CD13}"/>
              </a:ext>
            </a:extLst>
          </p:cNvPr>
          <p:cNvSpPr/>
          <p:nvPr/>
        </p:nvSpPr>
        <p:spPr bwMode="auto">
          <a:xfrm>
            <a:off x="7071220" y="2632844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B2ED6783-91D0-4063-AC44-D8FEF3555193}"/>
              </a:ext>
            </a:extLst>
          </p:cNvPr>
          <p:cNvSpPr/>
          <p:nvPr/>
        </p:nvSpPr>
        <p:spPr bwMode="auto">
          <a:xfrm>
            <a:off x="7514232" y="2628776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C3BCE191-EDCD-445A-BFBF-5BCE8F517416}"/>
              </a:ext>
            </a:extLst>
          </p:cNvPr>
          <p:cNvSpPr/>
          <p:nvPr/>
        </p:nvSpPr>
        <p:spPr bwMode="auto">
          <a:xfrm>
            <a:off x="7957244" y="2628776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9BDC260C-3825-4A37-8787-4810FFFA48FC}"/>
              </a:ext>
            </a:extLst>
          </p:cNvPr>
          <p:cNvSpPr/>
          <p:nvPr/>
        </p:nvSpPr>
        <p:spPr bwMode="auto">
          <a:xfrm>
            <a:off x="8400256" y="2628776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97848FF1-2331-4D9D-AA8C-285D79F2E50A}"/>
              </a:ext>
            </a:extLst>
          </p:cNvPr>
          <p:cNvSpPr txBox="1"/>
          <p:nvPr/>
        </p:nvSpPr>
        <p:spPr>
          <a:xfrm>
            <a:off x="874753" y="2643009"/>
            <a:ext cx="1946367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dirty="0" err="1"/>
              <a:t>Semantic</a:t>
            </a:r>
            <a:r>
              <a:rPr lang="fr-BE" dirty="0"/>
              <a:t> </a:t>
            </a:r>
            <a:r>
              <a:rPr lang="fr-BE" dirty="0" err="1"/>
              <a:t>features</a:t>
            </a:r>
            <a:endParaRPr lang="de-CH" dirty="0"/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97174677-3FD9-4B8E-94C7-502D373D23CF}"/>
              </a:ext>
            </a:extLst>
          </p:cNvPr>
          <p:cNvSpPr/>
          <p:nvPr/>
        </p:nvSpPr>
        <p:spPr bwMode="auto">
          <a:xfrm>
            <a:off x="3527124" y="4365104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531D25D9-A68F-43DE-A3FF-96FB465BD722}"/>
              </a:ext>
            </a:extLst>
          </p:cNvPr>
          <p:cNvSpPr/>
          <p:nvPr/>
        </p:nvSpPr>
        <p:spPr bwMode="auto">
          <a:xfrm>
            <a:off x="3970136" y="4365104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BA36602D-7C40-4566-9335-41BCC126C352}"/>
              </a:ext>
            </a:extLst>
          </p:cNvPr>
          <p:cNvSpPr/>
          <p:nvPr/>
        </p:nvSpPr>
        <p:spPr bwMode="auto">
          <a:xfrm>
            <a:off x="4413148" y="4365104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404AEEA0-95E1-4D29-A998-9C66B9ECAA12}"/>
              </a:ext>
            </a:extLst>
          </p:cNvPr>
          <p:cNvSpPr/>
          <p:nvPr/>
        </p:nvSpPr>
        <p:spPr bwMode="auto">
          <a:xfrm>
            <a:off x="4856160" y="4361036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4224C6A8-6BFE-410F-A4D0-7E01889943BA}"/>
              </a:ext>
            </a:extLst>
          </p:cNvPr>
          <p:cNvSpPr/>
          <p:nvPr/>
        </p:nvSpPr>
        <p:spPr bwMode="auto">
          <a:xfrm>
            <a:off x="5299172" y="4361036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57BA31D5-DFD8-4A29-8AC6-EDCB6845B56B}"/>
              </a:ext>
            </a:extLst>
          </p:cNvPr>
          <p:cNvSpPr/>
          <p:nvPr/>
        </p:nvSpPr>
        <p:spPr bwMode="auto">
          <a:xfrm>
            <a:off x="5742184" y="4361036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226A8083-D450-40A0-A6D2-D1443CE5AF15}"/>
              </a:ext>
            </a:extLst>
          </p:cNvPr>
          <p:cNvSpPr/>
          <p:nvPr/>
        </p:nvSpPr>
        <p:spPr bwMode="auto">
          <a:xfrm>
            <a:off x="6185196" y="4361036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63DDD2B0-4C6B-4734-B750-ED9B2A3CE953}"/>
              </a:ext>
            </a:extLst>
          </p:cNvPr>
          <p:cNvSpPr/>
          <p:nvPr/>
        </p:nvSpPr>
        <p:spPr bwMode="auto">
          <a:xfrm>
            <a:off x="6628208" y="4361036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05B2F9F9-6BF8-4E61-9BC6-4B9A47F9BDC4}"/>
              </a:ext>
            </a:extLst>
          </p:cNvPr>
          <p:cNvSpPr/>
          <p:nvPr/>
        </p:nvSpPr>
        <p:spPr bwMode="auto">
          <a:xfrm>
            <a:off x="7071220" y="4361036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27" name="Ellipse 26">
            <a:extLst>
              <a:ext uri="{FF2B5EF4-FFF2-40B4-BE49-F238E27FC236}">
                <a16:creationId xmlns:a16="http://schemas.microsoft.com/office/drawing/2014/main" id="{AF3DE239-EF74-4092-A32F-09F235E09415}"/>
              </a:ext>
            </a:extLst>
          </p:cNvPr>
          <p:cNvSpPr/>
          <p:nvPr/>
        </p:nvSpPr>
        <p:spPr bwMode="auto">
          <a:xfrm>
            <a:off x="7514232" y="4356968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28" name="Ellipse 27">
            <a:extLst>
              <a:ext uri="{FF2B5EF4-FFF2-40B4-BE49-F238E27FC236}">
                <a16:creationId xmlns:a16="http://schemas.microsoft.com/office/drawing/2014/main" id="{3DAD93B0-C6C2-429E-BAA9-6B7097368260}"/>
              </a:ext>
            </a:extLst>
          </p:cNvPr>
          <p:cNvSpPr/>
          <p:nvPr/>
        </p:nvSpPr>
        <p:spPr bwMode="auto">
          <a:xfrm>
            <a:off x="7957244" y="4356968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29" name="Ellipse 28">
            <a:extLst>
              <a:ext uri="{FF2B5EF4-FFF2-40B4-BE49-F238E27FC236}">
                <a16:creationId xmlns:a16="http://schemas.microsoft.com/office/drawing/2014/main" id="{050FD96F-5F88-4AD9-9C8A-E91BB63A643F}"/>
              </a:ext>
            </a:extLst>
          </p:cNvPr>
          <p:cNvSpPr/>
          <p:nvPr/>
        </p:nvSpPr>
        <p:spPr bwMode="auto">
          <a:xfrm>
            <a:off x="8400256" y="4356968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4B7A5BED-064A-4BBB-8A9E-F2E24EA0AC0A}"/>
              </a:ext>
            </a:extLst>
          </p:cNvPr>
          <p:cNvSpPr txBox="1"/>
          <p:nvPr/>
        </p:nvSpPr>
        <p:spPr>
          <a:xfrm>
            <a:off x="1154477" y="4387864"/>
            <a:ext cx="1386918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dirty="0"/>
              <a:t>Lexical </a:t>
            </a:r>
            <a:r>
              <a:rPr lang="fr-BE" dirty="0" err="1"/>
              <a:t>units</a:t>
            </a:r>
            <a:endParaRPr lang="de-CH" dirty="0"/>
          </a:p>
        </p:txBody>
      </p:sp>
      <p:cxnSp>
        <p:nvCxnSpPr>
          <p:cNvPr id="32" name="Connecteur droit 31">
            <a:extLst>
              <a:ext uri="{FF2B5EF4-FFF2-40B4-BE49-F238E27FC236}">
                <a16:creationId xmlns:a16="http://schemas.microsoft.com/office/drawing/2014/main" id="{46059D1B-9064-42B7-8851-84DA42194939}"/>
              </a:ext>
            </a:extLst>
          </p:cNvPr>
          <p:cNvCxnSpPr>
            <a:cxnSpLocks/>
            <a:stCxn id="3" idx="4"/>
            <a:endCxn id="20" idx="0"/>
          </p:cNvCxnSpPr>
          <p:nvPr/>
        </p:nvCxnSpPr>
        <p:spPr bwMode="auto">
          <a:xfrm>
            <a:off x="3707144" y="2996952"/>
            <a:ext cx="886024" cy="136815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3" name="Connecteur droit 32">
            <a:extLst>
              <a:ext uri="{FF2B5EF4-FFF2-40B4-BE49-F238E27FC236}">
                <a16:creationId xmlns:a16="http://schemas.microsoft.com/office/drawing/2014/main" id="{5BD0A687-2FA4-467B-A6C0-1902FAB5FF5A}"/>
              </a:ext>
            </a:extLst>
          </p:cNvPr>
          <p:cNvCxnSpPr>
            <a:cxnSpLocks/>
            <a:stCxn id="6" idx="4"/>
            <a:endCxn id="20" idx="0"/>
          </p:cNvCxnSpPr>
          <p:nvPr/>
        </p:nvCxnSpPr>
        <p:spPr bwMode="auto">
          <a:xfrm>
            <a:off x="4150156" y="2996952"/>
            <a:ext cx="443012" cy="136815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6" name="Connecteur droit 35">
            <a:extLst>
              <a:ext uri="{FF2B5EF4-FFF2-40B4-BE49-F238E27FC236}">
                <a16:creationId xmlns:a16="http://schemas.microsoft.com/office/drawing/2014/main" id="{FF44849B-38C3-44C7-ACE2-6DE2C6C9AF6B}"/>
              </a:ext>
            </a:extLst>
          </p:cNvPr>
          <p:cNvCxnSpPr>
            <a:cxnSpLocks/>
            <a:stCxn id="7" idx="4"/>
            <a:endCxn id="20" idx="0"/>
          </p:cNvCxnSpPr>
          <p:nvPr/>
        </p:nvCxnSpPr>
        <p:spPr bwMode="auto">
          <a:xfrm>
            <a:off x="4593168" y="2996952"/>
            <a:ext cx="0" cy="136815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" name="Connecteur droit 40">
            <a:extLst>
              <a:ext uri="{FF2B5EF4-FFF2-40B4-BE49-F238E27FC236}">
                <a16:creationId xmlns:a16="http://schemas.microsoft.com/office/drawing/2014/main" id="{2C0C915D-4EB9-4D15-9D38-842986A6B962}"/>
              </a:ext>
            </a:extLst>
          </p:cNvPr>
          <p:cNvCxnSpPr>
            <a:cxnSpLocks/>
            <a:stCxn id="9" idx="4"/>
            <a:endCxn id="20" idx="0"/>
          </p:cNvCxnSpPr>
          <p:nvPr/>
        </p:nvCxnSpPr>
        <p:spPr bwMode="auto">
          <a:xfrm flipH="1">
            <a:off x="4593168" y="2992884"/>
            <a:ext cx="443012" cy="137222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71E4ACD2-3A84-4F08-810F-5E20B05B9255}"/>
              </a:ext>
            </a:extLst>
          </p:cNvPr>
          <p:cNvCxnSpPr>
            <a:cxnSpLocks/>
            <a:stCxn id="10" idx="4"/>
            <a:endCxn id="20" idx="0"/>
          </p:cNvCxnSpPr>
          <p:nvPr/>
        </p:nvCxnSpPr>
        <p:spPr bwMode="auto">
          <a:xfrm flipH="1">
            <a:off x="4593168" y="2992884"/>
            <a:ext cx="886024" cy="137222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7" name="Connecteur droit 46">
            <a:extLst>
              <a:ext uri="{FF2B5EF4-FFF2-40B4-BE49-F238E27FC236}">
                <a16:creationId xmlns:a16="http://schemas.microsoft.com/office/drawing/2014/main" id="{BE8F64AA-F43C-4566-94BF-9978EBB57E2A}"/>
              </a:ext>
            </a:extLst>
          </p:cNvPr>
          <p:cNvCxnSpPr>
            <a:cxnSpLocks/>
            <a:stCxn id="9" idx="4"/>
            <a:endCxn id="23" idx="0"/>
          </p:cNvCxnSpPr>
          <p:nvPr/>
        </p:nvCxnSpPr>
        <p:spPr bwMode="auto">
          <a:xfrm>
            <a:off x="5036180" y="2992884"/>
            <a:ext cx="886024" cy="136815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1" name="Connecteur droit 50">
            <a:extLst>
              <a:ext uri="{FF2B5EF4-FFF2-40B4-BE49-F238E27FC236}">
                <a16:creationId xmlns:a16="http://schemas.microsoft.com/office/drawing/2014/main" id="{C92BF4F6-A18F-40A6-8BAB-FC966ABA8F66}"/>
              </a:ext>
            </a:extLst>
          </p:cNvPr>
          <p:cNvCxnSpPr>
            <a:cxnSpLocks/>
            <a:stCxn id="10" idx="4"/>
            <a:endCxn id="23" idx="0"/>
          </p:cNvCxnSpPr>
          <p:nvPr/>
        </p:nvCxnSpPr>
        <p:spPr bwMode="auto">
          <a:xfrm>
            <a:off x="5479192" y="2992884"/>
            <a:ext cx="443012" cy="136815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4" name="Connecteur droit 53">
            <a:extLst>
              <a:ext uri="{FF2B5EF4-FFF2-40B4-BE49-F238E27FC236}">
                <a16:creationId xmlns:a16="http://schemas.microsoft.com/office/drawing/2014/main" id="{A7D555C8-C26B-4F1D-ABA4-692CE5138B1D}"/>
              </a:ext>
            </a:extLst>
          </p:cNvPr>
          <p:cNvCxnSpPr>
            <a:cxnSpLocks/>
            <a:stCxn id="11" idx="4"/>
            <a:endCxn id="23" idx="0"/>
          </p:cNvCxnSpPr>
          <p:nvPr/>
        </p:nvCxnSpPr>
        <p:spPr bwMode="auto">
          <a:xfrm>
            <a:off x="5922204" y="2992884"/>
            <a:ext cx="0" cy="136815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7" name="Connecteur droit 56">
            <a:extLst>
              <a:ext uri="{FF2B5EF4-FFF2-40B4-BE49-F238E27FC236}">
                <a16:creationId xmlns:a16="http://schemas.microsoft.com/office/drawing/2014/main" id="{2EB8F875-2F80-4688-A18B-95A31D3458E0}"/>
              </a:ext>
            </a:extLst>
          </p:cNvPr>
          <p:cNvCxnSpPr>
            <a:cxnSpLocks/>
            <a:stCxn id="12" idx="4"/>
            <a:endCxn id="23" idx="0"/>
          </p:cNvCxnSpPr>
          <p:nvPr/>
        </p:nvCxnSpPr>
        <p:spPr bwMode="auto">
          <a:xfrm flipH="1">
            <a:off x="5922204" y="2992884"/>
            <a:ext cx="443012" cy="136815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0" name="Connecteur droit 59">
            <a:extLst>
              <a:ext uri="{FF2B5EF4-FFF2-40B4-BE49-F238E27FC236}">
                <a16:creationId xmlns:a16="http://schemas.microsoft.com/office/drawing/2014/main" id="{AEA0D9DE-4E6D-4186-AA13-8A50B8CE2212}"/>
              </a:ext>
            </a:extLst>
          </p:cNvPr>
          <p:cNvCxnSpPr>
            <a:cxnSpLocks/>
            <a:stCxn id="13" idx="4"/>
            <a:endCxn id="23" idx="0"/>
          </p:cNvCxnSpPr>
          <p:nvPr/>
        </p:nvCxnSpPr>
        <p:spPr bwMode="auto">
          <a:xfrm flipH="1">
            <a:off x="5922204" y="2992884"/>
            <a:ext cx="886024" cy="136815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2634120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E3920F26-1A1D-4C43-A466-6987F851228B}"/>
              </a:ext>
            </a:extLst>
          </p:cNvPr>
          <p:cNvSpPr txBox="1"/>
          <p:nvPr/>
        </p:nvSpPr>
        <p:spPr>
          <a:xfrm>
            <a:off x="119336" y="6370736"/>
            <a:ext cx="21130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sz="1400" dirty="0"/>
              <a:t>Oppenheim et al. (2010)</a:t>
            </a:r>
            <a:endParaRPr lang="de-CH" sz="1400" dirty="0"/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762A4498-6B7B-4CF5-908D-835A06FCCF60}"/>
              </a:ext>
            </a:extLst>
          </p:cNvPr>
          <p:cNvSpPr/>
          <p:nvPr/>
        </p:nvSpPr>
        <p:spPr bwMode="auto">
          <a:xfrm>
            <a:off x="3527124" y="2636912"/>
            <a:ext cx="360040" cy="360040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AC4DD5B2-F7B4-4BD1-86A9-BC38B1073534}"/>
              </a:ext>
            </a:extLst>
          </p:cNvPr>
          <p:cNvSpPr/>
          <p:nvPr/>
        </p:nvSpPr>
        <p:spPr bwMode="auto">
          <a:xfrm>
            <a:off x="3970136" y="2636912"/>
            <a:ext cx="360040" cy="360040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081D2638-4A36-49D3-BFE4-C0BD5DB4F77C}"/>
              </a:ext>
            </a:extLst>
          </p:cNvPr>
          <p:cNvSpPr/>
          <p:nvPr/>
        </p:nvSpPr>
        <p:spPr bwMode="auto">
          <a:xfrm>
            <a:off x="4413148" y="2636912"/>
            <a:ext cx="360040" cy="360040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F6599155-4357-4AEE-89DA-9B3FA42A5704}"/>
              </a:ext>
            </a:extLst>
          </p:cNvPr>
          <p:cNvSpPr/>
          <p:nvPr/>
        </p:nvSpPr>
        <p:spPr bwMode="auto">
          <a:xfrm>
            <a:off x="4856160" y="2632844"/>
            <a:ext cx="360040" cy="360040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D6B0A2AE-59CD-47F7-8006-D15A7E70F704}"/>
              </a:ext>
            </a:extLst>
          </p:cNvPr>
          <p:cNvSpPr/>
          <p:nvPr/>
        </p:nvSpPr>
        <p:spPr bwMode="auto">
          <a:xfrm>
            <a:off x="5299172" y="2632844"/>
            <a:ext cx="360040" cy="360040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DF136A81-11F5-4A1B-97CC-A6F72E64B6B7}"/>
              </a:ext>
            </a:extLst>
          </p:cNvPr>
          <p:cNvSpPr/>
          <p:nvPr/>
        </p:nvSpPr>
        <p:spPr bwMode="auto">
          <a:xfrm>
            <a:off x="5742184" y="2632844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6B2574E3-783B-40C9-B836-CDBAF66241EF}"/>
              </a:ext>
            </a:extLst>
          </p:cNvPr>
          <p:cNvSpPr/>
          <p:nvPr/>
        </p:nvSpPr>
        <p:spPr bwMode="auto">
          <a:xfrm>
            <a:off x="6185196" y="2632844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3DD52389-D857-4936-A8C0-998F1384B27F}"/>
              </a:ext>
            </a:extLst>
          </p:cNvPr>
          <p:cNvSpPr/>
          <p:nvPr/>
        </p:nvSpPr>
        <p:spPr bwMode="auto">
          <a:xfrm>
            <a:off x="6628208" y="2632844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A54A72A4-F7EE-40AF-838C-7EBF8B03CD13}"/>
              </a:ext>
            </a:extLst>
          </p:cNvPr>
          <p:cNvSpPr/>
          <p:nvPr/>
        </p:nvSpPr>
        <p:spPr bwMode="auto">
          <a:xfrm>
            <a:off x="7071220" y="2632844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B2ED6783-91D0-4063-AC44-D8FEF3555193}"/>
              </a:ext>
            </a:extLst>
          </p:cNvPr>
          <p:cNvSpPr/>
          <p:nvPr/>
        </p:nvSpPr>
        <p:spPr bwMode="auto">
          <a:xfrm>
            <a:off x="7514232" y="2628776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C3BCE191-EDCD-445A-BFBF-5BCE8F517416}"/>
              </a:ext>
            </a:extLst>
          </p:cNvPr>
          <p:cNvSpPr/>
          <p:nvPr/>
        </p:nvSpPr>
        <p:spPr bwMode="auto">
          <a:xfrm>
            <a:off x="7957244" y="2628776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9BDC260C-3825-4A37-8787-4810FFFA48FC}"/>
              </a:ext>
            </a:extLst>
          </p:cNvPr>
          <p:cNvSpPr/>
          <p:nvPr/>
        </p:nvSpPr>
        <p:spPr bwMode="auto">
          <a:xfrm>
            <a:off x="8400256" y="2628776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97848FF1-2331-4D9D-AA8C-285D79F2E50A}"/>
              </a:ext>
            </a:extLst>
          </p:cNvPr>
          <p:cNvSpPr txBox="1"/>
          <p:nvPr/>
        </p:nvSpPr>
        <p:spPr>
          <a:xfrm>
            <a:off x="874753" y="2643009"/>
            <a:ext cx="1946367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dirty="0" err="1"/>
              <a:t>Semantic</a:t>
            </a:r>
            <a:r>
              <a:rPr lang="fr-BE" dirty="0"/>
              <a:t> </a:t>
            </a:r>
            <a:r>
              <a:rPr lang="fr-BE" dirty="0" err="1"/>
              <a:t>features</a:t>
            </a:r>
            <a:endParaRPr lang="de-CH" dirty="0"/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97174677-3FD9-4B8E-94C7-502D373D23CF}"/>
              </a:ext>
            </a:extLst>
          </p:cNvPr>
          <p:cNvSpPr/>
          <p:nvPr/>
        </p:nvSpPr>
        <p:spPr bwMode="auto">
          <a:xfrm>
            <a:off x="3527124" y="4365104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531D25D9-A68F-43DE-A3FF-96FB465BD722}"/>
              </a:ext>
            </a:extLst>
          </p:cNvPr>
          <p:cNvSpPr/>
          <p:nvPr/>
        </p:nvSpPr>
        <p:spPr bwMode="auto">
          <a:xfrm>
            <a:off x="3970136" y="4365104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BA36602D-7C40-4566-9335-41BCC126C352}"/>
              </a:ext>
            </a:extLst>
          </p:cNvPr>
          <p:cNvSpPr/>
          <p:nvPr/>
        </p:nvSpPr>
        <p:spPr bwMode="auto">
          <a:xfrm>
            <a:off x="4413148" y="4365104"/>
            <a:ext cx="360040" cy="360040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404AEEA0-95E1-4D29-A998-9C66B9ECAA12}"/>
              </a:ext>
            </a:extLst>
          </p:cNvPr>
          <p:cNvSpPr/>
          <p:nvPr/>
        </p:nvSpPr>
        <p:spPr bwMode="auto">
          <a:xfrm>
            <a:off x="4856160" y="4361036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4224C6A8-6BFE-410F-A4D0-7E01889943BA}"/>
              </a:ext>
            </a:extLst>
          </p:cNvPr>
          <p:cNvSpPr/>
          <p:nvPr/>
        </p:nvSpPr>
        <p:spPr bwMode="auto">
          <a:xfrm>
            <a:off x="5299172" y="4361036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57BA31D5-DFD8-4A29-8AC6-EDCB6845B56B}"/>
              </a:ext>
            </a:extLst>
          </p:cNvPr>
          <p:cNvSpPr/>
          <p:nvPr/>
        </p:nvSpPr>
        <p:spPr bwMode="auto">
          <a:xfrm>
            <a:off x="5742184" y="4361036"/>
            <a:ext cx="360040" cy="36004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226A8083-D450-40A0-A6D2-D1443CE5AF15}"/>
              </a:ext>
            </a:extLst>
          </p:cNvPr>
          <p:cNvSpPr/>
          <p:nvPr/>
        </p:nvSpPr>
        <p:spPr bwMode="auto">
          <a:xfrm>
            <a:off x="6185196" y="4361036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63DDD2B0-4C6B-4734-B750-ED9B2A3CE953}"/>
              </a:ext>
            </a:extLst>
          </p:cNvPr>
          <p:cNvSpPr/>
          <p:nvPr/>
        </p:nvSpPr>
        <p:spPr bwMode="auto">
          <a:xfrm>
            <a:off x="6628208" y="4361036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05B2F9F9-6BF8-4E61-9BC6-4B9A47F9BDC4}"/>
              </a:ext>
            </a:extLst>
          </p:cNvPr>
          <p:cNvSpPr/>
          <p:nvPr/>
        </p:nvSpPr>
        <p:spPr bwMode="auto">
          <a:xfrm>
            <a:off x="7071220" y="4361036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27" name="Ellipse 26">
            <a:extLst>
              <a:ext uri="{FF2B5EF4-FFF2-40B4-BE49-F238E27FC236}">
                <a16:creationId xmlns:a16="http://schemas.microsoft.com/office/drawing/2014/main" id="{AF3DE239-EF74-4092-A32F-09F235E09415}"/>
              </a:ext>
            </a:extLst>
          </p:cNvPr>
          <p:cNvSpPr/>
          <p:nvPr/>
        </p:nvSpPr>
        <p:spPr bwMode="auto">
          <a:xfrm>
            <a:off x="7514232" y="4356968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28" name="Ellipse 27">
            <a:extLst>
              <a:ext uri="{FF2B5EF4-FFF2-40B4-BE49-F238E27FC236}">
                <a16:creationId xmlns:a16="http://schemas.microsoft.com/office/drawing/2014/main" id="{3DAD93B0-C6C2-429E-BAA9-6B7097368260}"/>
              </a:ext>
            </a:extLst>
          </p:cNvPr>
          <p:cNvSpPr/>
          <p:nvPr/>
        </p:nvSpPr>
        <p:spPr bwMode="auto">
          <a:xfrm>
            <a:off x="7957244" y="4356968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29" name="Ellipse 28">
            <a:extLst>
              <a:ext uri="{FF2B5EF4-FFF2-40B4-BE49-F238E27FC236}">
                <a16:creationId xmlns:a16="http://schemas.microsoft.com/office/drawing/2014/main" id="{050FD96F-5F88-4AD9-9C8A-E91BB63A643F}"/>
              </a:ext>
            </a:extLst>
          </p:cNvPr>
          <p:cNvSpPr/>
          <p:nvPr/>
        </p:nvSpPr>
        <p:spPr bwMode="auto">
          <a:xfrm>
            <a:off x="8400256" y="4356968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4B7A5BED-064A-4BBB-8A9E-F2E24EA0AC0A}"/>
              </a:ext>
            </a:extLst>
          </p:cNvPr>
          <p:cNvSpPr txBox="1"/>
          <p:nvPr/>
        </p:nvSpPr>
        <p:spPr>
          <a:xfrm>
            <a:off x="1154477" y="4387864"/>
            <a:ext cx="1386918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dirty="0"/>
              <a:t>Lexical </a:t>
            </a:r>
            <a:r>
              <a:rPr lang="fr-BE" dirty="0" err="1"/>
              <a:t>units</a:t>
            </a:r>
            <a:endParaRPr lang="de-CH" dirty="0"/>
          </a:p>
        </p:txBody>
      </p:sp>
      <p:cxnSp>
        <p:nvCxnSpPr>
          <p:cNvPr id="32" name="Connecteur droit 31">
            <a:extLst>
              <a:ext uri="{FF2B5EF4-FFF2-40B4-BE49-F238E27FC236}">
                <a16:creationId xmlns:a16="http://schemas.microsoft.com/office/drawing/2014/main" id="{46059D1B-9064-42B7-8851-84DA42194939}"/>
              </a:ext>
            </a:extLst>
          </p:cNvPr>
          <p:cNvCxnSpPr>
            <a:cxnSpLocks/>
            <a:stCxn id="3" idx="4"/>
            <a:endCxn id="20" idx="0"/>
          </p:cNvCxnSpPr>
          <p:nvPr/>
        </p:nvCxnSpPr>
        <p:spPr bwMode="auto">
          <a:xfrm>
            <a:off x="3707144" y="2996952"/>
            <a:ext cx="886024" cy="136815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3" name="Connecteur droit 32">
            <a:extLst>
              <a:ext uri="{FF2B5EF4-FFF2-40B4-BE49-F238E27FC236}">
                <a16:creationId xmlns:a16="http://schemas.microsoft.com/office/drawing/2014/main" id="{5BD0A687-2FA4-467B-A6C0-1902FAB5FF5A}"/>
              </a:ext>
            </a:extLst>
          </p:cNvPr>
          <p:cNvCxnSpPr>
            <a:cxnSpLocks/>
            <a:stCxn id="6" idx="4"/>
            <a:endCxn id="20" idx="0"/>
          </p:cNvCxnSpPr>
          <p:nvPr/>
        </p:nvCxnSpPr>
        <p:spPr bwMode="auto">
          <a:xfrm>
            <a:off x="4150156" y="2996952"/>
            <a:ext cx="443012" cy="136815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6" name="Connecteur droit 35">
            <a:extLst>
              <a:ext uri="{FF2B5EF4-FFF2-40B4-BE49-F238E27FC236}">
                <a16:creationId xmlns:a16="http://schemas.microsoft.com/office/drawing/2014/main" id="{FF44849B-38C3-44C7-ACE2-6DE2C6C9AF6B}"/>
              </a:ext>
            </a:extLst>
          </p:cNvPr>
          <p:cNvCxnSpPr>
            <a:cxnSpLocks/>
            <a:stCxn id="7" idx="4"/>
            <a:endCxn id="20" idx="0"/>
          </p:cNvCxnSpPr>
          <p:nvPr/>
        </p:nvCxnSpPr>
        <p:spPr bwMode="auto">
          <a:xfrm>
            <a:off x="4593168" y="2996952"/>
            <a:ext cx="0" cy="136815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" name="Connecteur droit 40">
            <a:extLst>
              <a:ext uri="{FF2B5EF4-FFF2-40B4-BE49-F238E27FC236}">
                <a16:creationId xmlns:a16="http://schemas.microsoft.com/office/drawing/2014/main" id="{2C0C915D-4EB9-4D15-9D38-842986A6B962}"/>
              </a:ext>
            </a:extLst>
          </p:cNvPr>
          <p:cNvCxnSpPr>
            <a:cxnSpLocks/>
            <a:stCxn id="9" idx="4"/>
            <a:endCxn id="20" idx="0"/>
          </p:cNvCxnSpPr>
          <p:nvPr/>
        </p:nvCxnSpPr>
        <p:spPr bwMode="auto">
          <a:xfrm flipH="1">
            <a:off x="4593168" y="2992884"/>
            <a:ext cx="443012" cy="137222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71E4ACD2-3A84-4F08-810F-5E20B05B9255}"/>
              </a:ext>
            </a:extLst>
          </p:cNvPr>
          <p:cNvCxnSpPr>
            <a:cxnSpLocks/>
            <a:stCxn id="10" idx="4"/>
            <a:endCxn id="20" idx="0"/>
          </p:cNvCxnSpPr>
          <p:nvPr/>
        </p:nvCxnSpPr>
        <p:spPr bwMode="auto">
          <a:xfrm flipH="1">
            <a:off x="4593168" y="2992884"/>
            <a:ext cx="886024" cy="137222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7" name="Connecteur droit 46">
            <a:extLst>
              <a:ext uri="{FF2B5EF4-FFF2-40B4-BE49-F238E27FC236}">
                <a16:creationId xmlns:a16="http://schemas.microsoft.com/office/drawing/2014/main" id="{BE8F64AA-F43C-4566-94BF-9978EBB57E2A}"/>
              </a:ext>
            </a:extLst>
          </p:cNvPr>
          <p:cNvCxnSpPr>
            <a:cxnSpLocks/>
            <a:stCxn id="9" idx="4"/>
            <a:endCxn id="23" idx="0"/>
          </p:cNvCxnSpPr>
          <p:nvPr/>
        </p:nvCxnSpPr>
        <p:spPr bwMode="auto">
          <a:xfrm>
            <a:off x="5036180" y="2992884"/>
            <a:ext cx="886024" cy="136815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1" name="Connecteur droit 50">
            <a:extLst>
              <a:ext uri="{FF2B5EF4-FFF2-40B4-BE49-F238E27FC236}">
                <a16:creationId xmlns:a16="http://schemas.microsoft.com/office/drawing/2014/main" id="{C92BF4F6-A18F-40A6-8BAB-FC966ABA8F66}"/>
              </a:ext>
            </a:extLst>
          </p:cNvPr>
          <p:cNvCxnSpPr>
            <a:cxnSpLocks/>
            <a:stCxn id="10" idx="4"/>
            <a:endCxn id="23" idx="0"/>
          </p:cNvCxnSpPr>
          <p:nvPr/>
        </p:nvCxnSpPr>
        <p:spPr bwMode="auto">
          <a:xfrm>
            <a:off x="5479192" y="2992884"/>
            <a:ext cx="443012" cy="136815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4" name="Connecteur droit 53">
            <a:extLst>
              <a:ext uri="{FF2B5EF4-FFF2-40B4-BE49-F238E27FC236}">
                <a16:creationId xmlns:a16="http://schemas.microsoft.com/office/drawing/2014/main" id="{A7D555C8-C26B-4F1D-ABA4-692CE5138B1D}"/>
              </a:ext>
            </a:extLst>
          </p:cNvPr>
          <p:cNvCxnSpPr>
            <a:cxnSpLocks/>
            <a:stCxn id="11" idx="4"/>
            <a:endCxn id="23" idx="0"/>
          </p:cNvCxnSpPr>
          <p:nvPr/>
        </p:nvCxnSpPr>
        <p:spPr bwMode="auto">
          <a:xfrm>
            <a:off x="5922204" y="2992884"/>
            <a:ext cx="0" cy="136815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7" name="Connecteur droit 56">
            <a:extLst>
              <a:ext uri="{FF2B5EF4-FFF2-40B4-BE49-F238E27FC236}">
                <a16:creationId xmlns:a16="http://schemas.microsoft.com/office/drawing/2014/main" id="{2EB8F875-2F80-4688-A18B-95A31D3458E0}"/>
              </a:ext>
            </a:extLst>
          </p:cNvPr>
          <p:cNvCxnSpPr>
            <a:cxnSpLocks/>
            <a:stCxn id="12" idx="4"/>
            <a:endCxn id="23" idx="0"/>
          </p:cNvCxnSpPr>
          <p:nvPr/>
        </p:nvCxnSpPr>
        <p:spPr bwMode="auto">
          <a:xfrm flipH="1">
            <a:off x="5922204" y="2992884"/>
            <a:ext cx="443012" cy="136815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0" name="Connecteur droit 59">
            <a:extLst>
              <a:ext uri="{FF2B5EF4-FFF2-40B4-BE49-F238E27FC236}">
                <a16:creationId xmlns:a16="http://schemas.microsoft.com/office/drawing/2014/main" id="{AEA0D9DE-4E6D-4186-AA13-8A50B8CE2212}"/>
              </a:ext>
            </a:extLst>
          </p:cNvPr>
          <p:cNvCxnSpPr>
            <a:cxnSpLocks/>
            <a:stCxn id="13" idx="4"/>
            <a:endCxn id="23" idx="0"/>
          </p:cNvCxnSpPr>
          <p:nvPr/>
        </p:nvCxnSpPr>
        <p:spPr bwMode="auto">
          <a:xfrm flipH="1">
            <a:off x="5922204" y="2992884"/>
            <a:ext cx="886024" cy="136815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" name="ZoneTexte 1">
            <a:extLst>
              <a:ext uri="{FF2B5EF4-FFF2-40B4-BE49-F238E27FC236}">
                <a16:creationId xmlns:a16="http://schemas.microsoft.com/office/drawing/2014/main" id="{05C7BDF7-AEC1-4503-9BFB-43D58A4A7DAD}"/>
              </a:ext>
            </a:extLst>
          </p:cNvPr>
          <p:cNvSpPr txBox="1"/>
          <p:nvPr/>
        </p:nvSpPr>
        <p:spPr>
          <a:xfrm>
            <a:off x="4160442" y="5445224"/>
            <a:ext cx="3805850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dirty="0" err="1"/>
              <a:t>Competition</a:t>
            </a:r>
            <a:r>
              <a:rPr lang="fr-BE" dirty="0"/>
              <a:t> </a:t>
            </a:r>
            <a:r>
              <a:rPr lang="fr-BE" dirty="0" err="1"/>
              <a:t>based</a:t>
            </a:r>
            <a:r>
              <a:rPr lang="fr-BE" dirty="0"/>
              <a:t> on activation </a:t>
            </a:r>
            <a:r>
              <a:rPr lang="fr-BE" dirty="0" err="1"/>
              <a:t>level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963037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E3920F26-1A1D-4C43-A466-6987F851228B}"/>
              </a:ext>
            </a:extLst>
          </p:cNvPr>
          <p:cNvSpPr txBox="1"/>
          <p:nvPr/>
        </p:nvSpPr>
        <p:spPr>
          <a:xfrm>
            <a:off x="119336" y="6370736"/>
            <a:ext cx="21130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sz="1400" dirty="0"/>
              <a:t>Oppenheim et al. (2010)</a:t>
            </a:r>
            <a:endParaRPr lang="de-CH" sz="1400" dirty="0"/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762A4498-6B7B-4CF5-908D-835A06FCCF60}"/>
              </a:ext>
            </a:extLst>
          </p:cNvPr>
          <p:cNvSpPr/>
          <p:nvPr/>
        </p:nvSpPr>
        <p:spPr bwMode="auto">
          <a:xfrm>
            <a:off x="3527124" y="2636912"/>
            <a:ext cx="360040" cy="360040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AC4DD5B2-F7B4-4BD1-86A9-BC38B1073534}"/>
              </a:ext>
            </a:extLst>
          </p:cNvPr>
          <p:cNvSpPr/>
          <p:nvPr/>
        </p:nvSpPr>
        <p:spPr bwMode="auto">
          <a:xfrm>
            <a:off x="3970136" y="2636912"/>
            <a:ext cx="360040" cy="360040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081D2638-4A36-49D3-BFE4-C0BD5DB4F77C}"/>
              </a:ext>
            </a:extLst>
          </p:cNvPr>
          <p:cNvSpPr/>
          <p:nvPr/>
        </p:nvSpPr>
        <p:spPr bwMode="auto">
          <a:xfrm>
            <a:off x="4413148" y="2636912"/>
            <a:ext cx="360040" cy="360040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F6599155-4357-4AEE-89DA-9B3FA42A5704}"/>
              </a:ext>
            </a:extLst>
          </p:cNvPr>
          <p:cNvSpPr/>
          <p:nvPr/>
        </p:nvSpPr>
        <p:spPr bwMode="auto">
          <a:xfrm>
            <a:off x="4856160" y="2632844"/>
            <a:ext cx="360040" cy="360040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D6B0A2AE-59CD-47F7-8006-D15A7E70F704}"/>
              </a:ext>
            </a:extLst>
          </p:cNvPr>
          <p:cNvSpPr/>
          <p:nvPr/>
        </p:nvSpPr>
        <p:spPr bwMode="auto">
          <a:xfrm>
            <a:off x="5299172" y="2632844"/>
            <a:ext cx="360040" cy="360040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DF136A81-11F5-4A1B-97CC-A6F72E64B6B7}"/>
              </a:ext>
            </a:extLst>
          </p:cNvPr>
          <p:cNvSpPr/>
          <p:nvPr/>
        </p:nvSpPr>
        <p:spPr bwMode="auto">
          <a:xfrm>
            <a:off x="5742184" y="2632844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6B2574E3-783B-40C9-B836-CDBAF66241EF}"/>
              </a:ext>
            </a:extLst>
          </p:cNvPr>
          <p:cNvSpPr/>
          <p:nvPr/>
        </p:nvSpPr>
        <p:spPr bwMode="auto">
          <a:xfrm>
            <a:off x="6185196" y="2632844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3DD52389-D857-4936-A8C0-998F1384B27F}"/>
              </a:ext>
            </a:extLst>
          </p:cNvPr>
          <p:cNvSpPr/>
          <p:nvPr/>
        </p:nvSpPr>
        <p:spPr bwMode="auto">
          <a:xfrm>
            <a:off x="6628208" y="2632844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A54A72A4-F7EE-40AF-838C-7EBF8B03CD13}"/>
              </a:ext>
            </a:extLst>
          </p:cNvPr>
          <p:cNvSpPr/>
          <p:nvPr/>
        </p:nvSpPr>
        <p:spPr bwMode="auto">
          <a:xfrm>
            <a:off x="7071220" y="2632844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B2ED6783-91D0-4063-AC44-D8FEF3555193}"/>
              </a:ext>
            </a:extLst>
          </p:cNvPr>
          <p:cNvSpPr/>
          <p:nvPr/>
        </p:nvSpPr>
        <p:spPr bwMode="auto">
          <a:xfrm>
            <a:off x="7514232" y="2628776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C3BCE191-EDCD-445A-BFBF-5BCE8F517416}"/>
              </a:ext>
            </a:extLst>
          </p:cNvPr>
          <p:cNvSpPr/>
          <p:nvPr/>
        </p:nvSpPr>
        <p:spPr bwMode="auto">
          <a:xfrm>
            <a:off x="7957244" y="2628776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9BDC260C-3825-4A37-8787-4810FFFA48FC}"/>
              </a:ext>
            </a:extLst>
          </p:cNvPr>
          <p:cNvSpPr/>
          <p:nvPr/>
        </p:nvSpPr>
        <p:spPr bwMode="auto">
          <a:xfrm>
            <a:off x="8400256" y="2628776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97848FF1-2331-4D9D-AA8C-285D79F2E50A}"/>
              </a:ext>
            </a:extLst>
          </p:cNvPr>
          <p:cNvSpPr txBox="1"/>
          <p:nvPr/>
        </p:nvSpPr>
        <p:spPr>
          <a:xfrm>
            <a:off x="874753" y="2643009"/>
            <a:ext cx="1946367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dirty="0" err="1"/>
              <a:t>Semantic</a:t>
            </a:r>
            <a:r>
              <a:rPr lang="fr-BE" dirty="0"/>
              <a:t> </a:t>
            </a:r>
            <a:r>
              <a:rPr lang="fr-BE" dirty="0" err="1"/>
              <a:t>features</a:t>
            </a:r>
            <a:endParaRPr lang="de-CH" dirty="0"/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97174677-3FD9-4B8E-94C7-502D373D23CF}"/>
              </a:ext>
            </a:extLst>
          </p:cNvPr>
          <p:cNvSpPr/>
          <p:nvPr/>
        </p:nvSpPr>
        <p:spPr bwMode="auto">
          <a:xfrm>
            <a:off x="3527124" y="4365104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531D25D9-A68F-43DE-A3FF-96FB465BD722}"/>
              </a:ext>
            </a:extLst>
          </p:cNvPr>
          <p:cNvSpPr/>
          <p:nvPr/>
        </p:nvSpPr>
        <p:spPr bwMode="auto">
          <a:xfrm>
            <a:off x="3970136" y="4365104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BA36602D-7C40-4566-9335-41BCC126C352}"/>
              </a:ext>
            </a:extLst>
          </p:cNvPr>
          <p:cNvSpPr/>
          <p:nvPr/>
        </p:nvSpPr>
        <p:spPr bwMode="auto">
          <a:xfrm>
            <a:off x="4413148" y="4365104"/>
            <a:ext cx="360040" cy="360040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404AEEA0-95E1-4D29-A998-9C66B9ECAA12}"/>
              </a:ext>
            </a:extLst>
          </p:cNvPr>
          <p:cNvSpPr/>
          <p:nvPr/>
        </p:nvSpPr>
        <p:spPr bwMode="auto">
          <a:xfrm>
            <a:off x="4856160" y="4361036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4224C6A8-6BFE-410F-A4D0-7E01889943BA}"/>
              </a:ext>
            </a:extLst>
          </p:cNvPr>
          <p:cNvSpPr/>
          <p:nvPr/>
        </p:nvSpPr>
        <p:spPr bwMode="auto">
          <a:xfrm>
            <a:off x="5299172" y="4361036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57BA31D5-DFD8-4A29-8AC6-EDCB6845B56B}"/>
              </a:ext>
            </a:extLst>
          </p:cNvPr>
          <p:cNvSpPr/>
          <p:nvPr/>
        </p:nvSpPr>
        <p:spPr bwMode="auto">
          <a:xfrm>
            <a:off x="5742184" y="4361036"/>
            <a:ext cx="360040" cy="36004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226A8083-D450-40A0-A6D2-D1443CE5AF15}"/>
              </a:ext>
            </a:extLst>
          </p:cNvPr>
          <p:cNvSpPr/>
          <p:nvPr/>
        </p:nvSpPr>
        <p:spPr bwMode="auto">
          <a:xfrm>
            <a:off x="6185196" y="4361036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63DDD2B0-4C6B-4734-B750-ED9B2A3CE953}"/>
              </a:ext>
            </a:extLst>
          </p:cNvPr>
          <p:cNvSpPr/>
          <p:nvPr/>
        </p:nvSpPr>
        <p:spPr bwMode="auto">
          <a:xfrm>
            <a:off x="6628208" y="4361036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05B2F9F9-6BF8-4E61-9BC6-4B9A47F9BDC4}"/>
              </a:ext>
            </a:extLst>
          </p:cNvPr>
          <p:cNvSpPr/>
          <p:nvPr/>
        </p:nvSpPr>
        <p:spPr bwMode="auto">
          <a:xfrm>
            <a:off x="7071220" y="4361036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27" name="Ellipse 26">
            <a:extLst>
              <a:ext uri="{FF2B5EF4-FFF2-40B4-BE49-F238E27FC236}">
                <a16:creationId xmlns:a16="http://schemas.microsoft.com/office/drawing/2014/main" id="{AF3DE239-EF74-4092-A32F-09F235E09415}"/>
              </a:ext>
            </a:extLst>
          </p:cNvPr>
          <p:cNvSpPr/>
          <p:nvPr/>
        </p:nvSpPr>
        <p:spPr bwMode="auto">
          <a:xfrm>
            <a:off x="7514232" y="4356968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28" name="Ellipse 27">
            <a:extLst>
              <a:ext uri="{FF2B5EF4-FFF2-40B4-BE49-F238E27FC236}">
                <a16:creationId xmlns:a16="http://schemas.microsoft.com/office/drawing/2014/main" id="{3DAD93B0-C6C2-429E-BAA9-6B7097368260}"/>
              </a:ext>
            </a:extLst>
          </p:cNvPr>
          <p:cNvSpPr/>
          <p:nvPr/>
        </p:nvSpPr>
        <p:spPr bwMode="auto">
          <a:xfrm>
            <a:off x="7957244" y="4356968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29" name="Ellipse 28">
            <a:extLst>
              <a:ext uri="{FF2B5EF4-FFF2-40B4-BE49-F238E27FC236}">
                <a16:creationId xmlns:a16="http://schemas.microsoft.com/office/drawing/2014/main" id="{050FD96F-5F88-4AD9-9C8A-E91BB63A643F}"/>
              </a:ext>
            </a:extLst>
          </p:cNvPr>
          <p:cNvSpPr/>
          <p:nvPr/>
        </p:nvSpPr>
        <p:spPr bwMode="auto">
          <a:xfrm>
            <a:off x="8400256" y="4356968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4B7A5BED-064A-4BBB-8A9E-F2E24EA0AC0A}"/>
              </a:ext>
            </a:extLst>
          </p:cNvPr>
          <p:cNvSpPr txBox="1"/>
          <p:nvPr/>
        </p:nvSpPr>
        <p:spPr>
          <a:xfrm>
            <a:off x="1154477" y="4387864"/>
            <a:ext cx="1386918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dirty="0"/>
              <a:t>Lexical </a:t>
            </a:r>
            <a:r>
              <a:rPr lang="fr-BE" dirty="0" err="1"/>
              <a:t>units</a:t>
            </a:r>
            <a:endParaRPr lang="de-CH" dirty="0"/>
          </a:p>
        </p:txBody>
      </p:sp>
      <p:cxnSp>
        <p:nvCxnSpPr>
          <p:cNvPr id="32" name="Connecteur droit 31">
            <a:extLst>
              <a:ext uri="{FF2B5EF4-FFF2-40B4-BE49-F238E27FC236}">
                <a16:creationId xmlns:a16="http://schemas.microsoft.com/office/drawing/2014/main" id="{46059D1B-9064-42B7-8851-84DA42194939}"/>
              </a:ext>
            </a:extLst>
          </p:cNvPr>
          <p:cNvCxnSpPr>
            <a:cxnSpLocks/>
            <a:stCxn id="3" idx="4"/>
            <a:endCxn id="20" idx="0"/>
          </p:cNvCxnSpPr>
          <p:nvPr/>
        </p:nvCxnSpPr>
        <p:spPr bwMode="auto">
          <a:xfrm>
            <a:off x="3707144" y="2996952"/>
            <a:ext cx="886024" cy="136815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3" name="Connecteur droit 32">
            <a:extLst>
              <a:ext uri="{FF2B5EF4-FFF2-40B4-BE49-F238E27FC236}">
                <a16:creationId xmlns:a16="http://schemas.microsoft.com/office/drawing/2014/main" id="{5BD0A687-2FA4-467B-A6C0-1902FAB5FF5A}"/>
              </a:ext>
            </a:extLst>
          </p:cNvPr>
          <p:cNvCxnSpPr>
            <a:cxnSpLocks/>
            <a:stCxn id="6" idx="4"/>
            <a:endCxn id="20" idx="0"/>
          </p:cNvCxnSpPr>
          <p:nvPr/>
        </p:nvCxnSpPr>
        <p:spPr bwMode="auto">
          <a:xfrm>
            <a:off x="4150156" y="2996952"/>
            <a:ext cx="443012" cy="136815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6" name="Connecteur droit 35">
            <a:extLst>
              <a:ext uri="{FF2B5EF4-FFF2-40B4-BE49-F238E27FC236}">
                <a16:creationId xmlns:a16="http://schemas.microsoft.com/office/drawing/2014/main" id="{FF44849B-38C3-44C7-ACE2-6DE2C6C9AF6B}"/>
              </a:ext>
            </a:extLst>
          </p:cNvPr>
          <p:cNvCxnSpPr>
            <a:cxnSpLocks/>
            <a:stCxn id="7" idx="4"/>
            <a:endCxn id="20" idx="0"/>
          </p:cNvCxnSpPr>
          <p:nvPr/>
        </p:nvCxnSpPr>
        <p:spPr bwMode="auto">
          <a:xfrm>
            <a:off x="4593168" y="2996952"/>
            <a:ext cx="0" cy="136815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" name="Connecteur droit 40">
            <a:extLst>
              <a:ext uri="{FF2B5EF4-FFF2-40B4-BE49-F238E27FC236}">
                <a16:creationId xmlns:a16="http://schemas.microsoft.com/office/drawing/2014/main" id="{2C0C915D-4EB9-4D15-9D38-842986A6B962}"/>
              </a:ext>
            </a:extLst>
          </p:cNvPr>
          <p:cNvCxnSpPr>
            <a:cxnSpLocks/>
            <a:stCxn id="9" idx="4"/>
            <a:endCxn id="20" idx="0"/>
          </p:cNvCxnSpPr>
          <p:nvPr/>
        </p:nvCxnSpPr>
        <p:spPr bwMode="auto">
          <a:xfrm flipH="1">
            <a:off x="4593168" y="2992884"/>
            <a:ext cx="443012" cy="137222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71E4ACD2-3A84-4F08-810F-5E20B05B9255}"/>
              </a:ext>
            </a:extLst>
          </p:cNvPr>
          <p:cNvCxnSpPr>
            <a:cxnSpLocks/>
            <a:stCxn id="10" idx="4"/>
            <a:endCxn id="20" idx="0"/>
          </p:cNvCxnSpPr>
          <p:nvPr/>
        </p:nvCxnSpPr>
        <p:spPr bwMode="auto">
          <a:xfrm flipH="1">
            <a:off x="4593168" y="2992884"/>
            <a:ext cx="886024" cy="137222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7" name="Connecteur droit 46">
            <a:extLst>
              <a:ext uri="{FF2B5EF4-FFF2-40B4-BE49-F238E27FC236}">
                <a16:creationId xmlns:a16="http://schemas.microsoft.com/office/drawing/2014/main" id="{BE8F64AA-F43C-4566-94BF-9978EBB57E2A}"/>
              </a:ext>
            </a:extLst>
          </p:cNvPr>
          <p:cNvCxnSpPr>
            <a:cxnSpLocks/>
            <a:stCxn id="9" idx="4"/>
            <a:endCxn id="23" idx="0"/>
          </p:cNvCxnSpPr>
          <p:nvPr/>
        </p:nvCxnSpPr>
        <p:spPr bwMode="auto">
          <a:xfrm>
            <a:off x="5036180" y="2992884"/>
            <a:ext cx="886024" cy="136815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1" name="Connecteur droit 50">
            <a:extLst>
              <a:ext uri="{FF2B5EF4-FFF2-40B4-BE49-F238E27FC236}">
                <a16:creationId xmlns:a16="http://schemas.microsoft.com/office/drawing/2014/main" id="{C92BF4F6-A18F-40A6-8BAB-FC966ABA8F66}"/>
              </a:ext>
            </a:extLst>
          </p:cNvPr>
          <p:cNvCxnSpPr>
            <a:cxnSpLocks/>
            <a:stCxn id="10" idx="4"/>
            <a:endCxn id="23" idx="0"/>
          </p:cNvCxnSpPr>
          <p:nvPr/>
        </p:nvCxnSpPr>
        <p:spPr bwMode="auto">
          <a:xfrm>
            <a:off x="5479192" y="2992884"/>
            <a:ext cx="443012" cy="136815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4" name="Connecteur droit 53">
            <a:extLst>
              <a:ext uri="{FF2B5EF4-FFF2-40B4-BE49-F238E27FC236}">
                <a16:creationId xmlns:a16="http://schemas.microsoft.com/office/drawing/2014/main" id="{A7D555C8-C26B-4F1D-ABA4-692CE5138B1D}"/>
              </a:ext>
            </a:extLst>
          </p:cNvPr>
          <p:cNvCxnSpPr>
            <a:cxnSpLocks/>
            <a:stCxn id="11" idx="4"/>
            <a:endCxn id="23" idx="0"/>
          </p:cNvCxnSpPr>
          <p:nvPr/>
        </p:nvCxnSpPr>
        <p:spPr bwMode="auto">
          <a:xfrm>
            <a:off x="5922204" y="2992884"/>
            <a:ext cx="0" cy="136815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7" name="Connecteur droit 56">
            <a:extLst>
              <a:ext uri="{FF2B5EF4-FFF2-40B4-BE49-F238E27FC236}">
                <a16:creationId xmlns:a16="http://schemas.microsoft.com/office/drawing/2014/main" id="{2EB8F875-2F80-4688-A18B-95A31D3458E0}"/>
              </a:ext>
            </a:extLst>
          </p:cNvPr>
          <p:cNvCxnSpPr>
            <a:cxnSpLocks/>
            <a:stCxn id="12" idx="4"/>
            <a:endCxn id="23" idx="0"/>
          </p:cNvCxnSpPr>
          <p:nvPr/>
        </p:nvCxnSpPr>
        <p:spPr bwMode="auto">
          <a:xfrm flipH="1">
            <a:off x="5922204" y="2992884"/>
            <a:ext cx="443012" cy="136815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0" name="Connecteur droit 59">
            <a:extLst>
              <a:ext uri="{FF2B5EF4-FFF2-40B4-BE49-F238E27FC236}">
                <a16:creationId xmlns:a16="http://schemas.microsoft.com/office/drawing/2014/main" id="{AEA0D9DE-4E6D-4186-AA13-8A50B8CE2212}"/>
              </a:ext>
            </a:extLst>
          </p:cNvPr>
          <p:cNvCxnSpPr>
            <a:cxnSpLocks/>
            <a:stCxn id="13" idx="4"/>
            <a:endCxn id="23" idx="0"/>
          </p:cNvCxnSpPr>
          <p:nvPr/>
        </p:nvCxnSpPr>
        <p:spPr bwMode="auto">
          <a:xfrm flipH="1">
            <a:off x="5922204" y="2992884"/>
            <a:ext cx="886024" cy="136815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1" name="Flèche : haut 30">
            <a:extLst>
              <a:ext uri="{FF2B5EF4-FFF2-40B4-BE49-F238E27FC236}">
                <a16:creationId xmlns:a16="http://schemas.microsoft.com/office/drawing/2014/main" id="{D971AA0D-94B3-4E9F-A3CA-442F6C87C40C}"/>
              </a:ext>
            </a:extLst>
          </p:cNvPr>
          <p:cNvSpPr/>
          <p:nvPr/>
        </p:nvSpPr>
        <p:spPr bwMode="auto">
          <a:xfrm>
            <a:off x="4485156" y="4862780"/>
            <a:ext cx="216024" cy="432048"/>
          </a:xfrm>
          <a:prstGeom prst="upArrow">
            <a:avLst/>
          </a:prstGeom>
          <a:solidFill>
            <a:schemeClr val="tx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94981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E3920F26-1A1D-4C43-A466-6987F851228B}"/>
              </a:ext>
            </a:extLst>
          </p:cNvPr>
          <p:cNvSpPr txBox="1"/>
          <p:nvPr/>
        </p:nvSpPr>
        <p:spPr>
          <a:xfrm>
            <a:off x="119336" y="6370736"/>
            <a:ext cx="21130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sz="1400" dirty="0"/>
              <a:t>Oppenheim et al. (2010)</a:t>
            </a:r>
            <a:endParaRPr lang="de-CH" sz="1400" dirty="0"/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762A4498-6B7B-4CF5-908D-835A06FCCF60}"/>
              </a:ext>
            </a:extLst>
          </p:cNvPr>
          <p:cNvSpPr/>
          <p:nvPr/>
        </p:nvSpPr>
        <p:spPr bwMode="auto">
          <a:xfrm>
            <a:off x="3527124" y="2636912"/>
            <a:ext cx="360040" cy="360040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AC4DD5B2-F7B4-4BD1-86A9-BC38B1073534}"/>
              </a:ext>
            </a:extLst>
          </p:cNvPr>
          <p:cNvSpPr/>
          <p:nvPr/>
        </p:nvSpPr>
        <p:spPr bwMode="auto">
          <a:xfrm>
            <a:off x="3970136" y="2636912"/>
            <a:ext cx="360040" cy="360040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081D2638-4A36-49D3-BFE4-C0BD5DB4F77C}"/>
              </a:ext>
            </a:extLst>
          </p:cNvPr>
          <p:cNvSpPr/>
          <p:nvPr/>
        </p:nvSpPr>
        <p:spPr bwMode="auto">
          <a:xfrm>
            <a:off x="4413148" y="2636912"/>
            <a:ext cx="360040" cy="360040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F6599155-4357-4AEE-89DA-9B3FA42A5704}"/>
              </a:ext>
            </a:extLst>
          </p:cNvPr>
          <p:cNvSpPr/>
          <p:nvPr/>
        </p:nvSpPr>
        <p:spPr bwMode="auto">
          <a:xfrm>
            <a:off x="4856160" y="2632844"/>
            <a:ext cx="360040" cy="360040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D6B0A2AE-59CD-47F7-8006-D15A7E70F704}"/>
              </a:ext>
            </a:extLst>
          </p:cNvPr>
          <p:cNvSpPr/>
          <p:nvPr/>
        </p:nvSpPr>
        <p:spPr bwMode="auto">
          <a:xfrm>
            <a:off x="5299172" y="2632844"/>
            <a:ext cx="360040" cy="360040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DF136A81-11F5-4A1B-97CC-A6F72E64B6B7}"/>
              </a:ext>
            </a:extLst>
          </p:cNvPr>
          <p:cNvSpPr/>
          <p:nvPr/>
        </p:nvSpPr>
        <p:spPr bwMode="auto">
          <a:xfrm>
            <a:off x="5742184" y="2632844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6B2574E3-783B-40C9-B836-CDBAF66241EF}"/>
              </a:ext>
            </a:extLst>
          </p:cNvPr>
          <p:cNvSpPr/>
          <p:nvPr/>
        </p:nvSpPr>
        <p:spPr bwMode="auto">
          <a:xfrm>
            <a:off x="6185196" y="2632844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3DD52389-D857-4936-A8C0-998F1384B27F}"/>
              </a:ext>
            </a:extLst>
          </p:cNvPr>
          <p:cNvSpPr/>
          <p:nvPr/>
        </p:nvSpPr>
        <p:spPr bwMode="auto">
          <a:xfrm>
            <a:off x="6628208" y="2632844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A54A72A4-F7EE-40AF-838C-7EBF8B03CD13}"/>
              </a:ext>
            </a:extLst>
          </p:cNvPr>
          <p:cNvSpPr/>
          <p:nvPr/>
        </p:nvSpPr>
        <p:spPr bwMode="auto">
          <a:xfrm>
            <a:off x="7071220" y="2632844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B2ED6783-91D0-4063-AC44-D8FEF3555193}"/>
              </a:ext>
            </a:extLst>
          </p:cNvPr>
          <p:cNvSpPr/>
          <p:nvPr/>
        </p:nvSpPr>
        <p:spPr bwMode="auto">
          <a:xfrm>
            <a:off x="7514232" y="2628776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C3BCE191-EDCD-445A-BFBF-5BCE8F517416}"/>
              </a:ext>
            </a:extLst>
          </p:cNvPr>
          <p:cNvSpPr/>
          <p:nvPr/>
        </p:nvSpPr>
        <p:spPr bwMode="auto">
          <a:xfrm>
            <a:off x="7957244" y="2628776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9BDC260C-3825-4A37-8787-4810FFFA48FC}"/>
              </a:ext>
            </a:extLst>
          </p:cNvPr>
          <p:cNvSpPr/>
          <p:nvPr/>
        </p:nvSpPr>
        <p:spPr bwMode="auto">
          <a:xfrm>
            <a:off x="8400256" y="2628776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97848FF1-2331-4D9D-AA8C-285D79F2E50A}"/>
              </a:ext>
            </a:extLst>
          </p:cNvPr>
          <p:cNvSpPr txBox="1"/>
          <p:nvPr/>
        </p:nvSpPr>
        <p:spPr>
          <a:xfrm>
            <a:off x="874753" y="2643009"/>
            <a:ext cx="1946367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dirty="0" err="1"/>
              <a:t>Semantic</a:t>
            </a:r>
            <a:r>
              <a:rPr lang="fr-BE" dirty="0"/>
              <a:t> </a:t>
            </a:r>
            <a:r>
              <a:rPr lang="fr-BE" dirty="0" err="1"/>
              <a:t>features</a:t>
            </a:r>
            <a:endParaRPr lang="de-CH" dirty="0"/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97174677-3FD9-4B8E-94C7-502D373D23CF}"/>
              </a:ext>
            </a:extLst>
          </p:cNvPr>
          <p:cNvSpPr/>
          <p:nvPr/>
        </p:nvSpPr>
        <p:spPr bwMode="auto">
          <a:xfrm>
            <a:off x="3527124" y="4365104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531D25D9-A68F-43DE-A3FF-96FB465BD722}"/>
              </a:ext>
            </a:extLst>
          </p:cNvPr>
          <p:cNvSpPr/>
          <p:nvPr/>
        </p:nvSpPr>
        <p:spPr bwMode="auto">
          <a:xfrm>
            <a:off x="3970136" y="4365104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BA36602D-7C40-4566-9335-41BCC126C352}"/>
              </a:ext>
            </a:extLst>
          </p:cNvPr>
          <p:cNvSpPr/>
          <p:nvPr/>
        </p:nvSpPr>
        <p:spPr bwMode="auto">
          <a:xfrm>
            <a:off x="4413148" y="4365104"/>
            <a:ext cx="360040" cy="360040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404AEEA0-95E1-4D29-A998-9C66B9ECAA12}"/>
              </a:ext>
            </a:extLst>
          </p:cNvPr>
          <p:cNvSpPr/>
          <p:nvPr/>
        </p:nvSpPr>
        <p:spPr bwMode="auto">
          <a:xfrm>
            <a:off x="4856160" y="4361036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4224C6A8-6BFE-410F-A4D0-7E01889943BA}"/>
              </a:ext>
            </a:extLst>
          </p:cNvPr>
          <p:cNvSpPr/>
          <p:nvPr/>
        </p:nvSpPr>
        <p:spPr bwMode="auto">
          <a:xfrm>
            <a:off x="5299172" y="4361036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57BA31D5-DFD8-4A29-8AC6-EDCB6845B56B}"/>
              </a:ext>
            </a:extLst>
          </p:cNvPr>
          <p:cNvSpPr/>
          <p:nvPr/>
        </p:nvSpPr>
        <p:spPr bwMode="auto">
          <a:xfrm>
            <a:off x="5742184" y="4361036"/>
            <a:ext cx="360040" cy="36004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226A8083-D450-40A0-A6D2-D1443CE5AF15}"/>
              </a:ext>
            </a:extLst>
          </p:cNvPr>
          <p:cNvSpPr/>
          <p:nvPr/>
        </p:nvSpPr>
        <p:spPr bwMode="auto">
          <a:xfrm>
            <a:off x="6185196" y="4361036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63DDD2B0-4C6B-4734-B750-ED9B2A3CE953}"/>
              </a:ext>
            </a:extLst>
          </p:cNvPr>
          <p:cNvSpPr/>
          <p:nvPr/>
        </p:nvSpPr>
        <p:spPr bwMode="auto">
          <a:xfrm>
            <a:off x="6628208" y="4361036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05B2F9F9-6BF8-4E61-9BC6-4B9A47F9BDC4}"/>
              </a:ext>
            </a:extLst>
          </p:cNvPr>
          <p:cNvSpPr/>
          <p:nvPr/>
        </p:nvSpPr>
        <p:spPr bwMode="auto">
          <a:xfrm>
            <a:off x="7071220" y="4361036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27" name="Ellipse 26">
            <a:extLst>
              <a:ext uri="{FF2B5EF4-FFF2-40B4-BE49-F238E27FC236}">
                <a16:creationId xmlns:a16="http://schemas.microsoft.com/office/drawing/2014/main" id="{AF3DE239-EF74-4092-A32F-09F235E09415}"/>
              </a:ext>
            </a:extLst>
          </p:cNvPr>
          <p:cNvSpPr/>
          <p:nvPr/>
        </p:nvSpPr>
        <p:spPr bwMode="auto">
          <a:xfrm>
            <a:off x="7514232" y="4356968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28" name="Ellipse 27">
            <a:extLst>
              <a:ext uri="{FF2B5EF4-FFF2-40B4-BE49-F238E27FC236}">
                <a16:creationId xmlns:a16="http://schemas.microsoft.com/office/drawing/2014/main" id="{3DAD93B0-C6C2-429E-BAA9-6B7097368260}"/>
              </a:ext>
            </a:extLst>
          </p:cNvPr>
          <p:cNvSpPr/>
          <p:nvPr/>
        </p:nvSpPr>
        <p:spPr bwMode="auto">
          <a:xfrm>
            <a:off x="7957244" y="4356968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29" name="Ellipse 28">
            <a:extLst>
              <a:ext uri="{FF2B5EF4-FFF2-40B4-BE49-F238E27FC236}">
                <a16:creationId xmlns:a16="http://schemas.microsoft.com/office/drawing/2014/main" id="{050FD96F-5F88-4AD9-9C8A-E91BB63A643F}"/>
              </a:ext>
            </a:extLst>
          </p:cNvPr>
          <p:cNvSpPr/>
          <p:nvPr/>
        </p:nvSpPr>
        <p:spPr bwMode="auto">
          <a:xfrm>
            <a:off x="8400256" y="4356968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4B7A5BED-064A-4BBB-8A9E-F2E24EA0AC0A}"/>
              </a:ext>
            </a:extLst>
          </p:cNvPr>
          <p:cNvSpPr txBox="1"/>
          <p:nvPr/>
        </p:nvSpPr>
        <p:spPr>
          <a:xfrm>
            <a:off x="1154477" y="4387864"/>
            <a:ext cx="1386918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dirty="0"/>
              <a:t>Lexical </a:t>
            </a:r>
            <a:r>
              <a:rPr lang="fr-BE" dirty="0" err="1"/>
              <a:t>units</a:t>
            </a:r>
            <a:endParaRPr lang="de-CH" dirty="0"/>
          </a:p>
        </p:txBody>
      </p:sp>
      <p:cxnSp>
        <p:nvCxnSpPr>
          <p:cNvPr id="32" name="Connecteur droit 31">
            <a:extLst>
              <a:ext uri="{FF2B5EF4-FFF2-40B4-BE49-F238E27FC236}">
                <a16:creationId xmlns:a16="http://schemas.microsoft.com/office/drawing/2014/main" id="{46059D1B-9064-42B7-8851-84DA42194939}"/>
              </a:ext>
            </a:extLst>
          </p:cNvPr>
          <p:cNvCxnSpPr>
            <a:cxnSpLocks/>
            <a:stCxn id="3" idx="4"/>
            <a:endCxn id="20" idx="0"/>
          </p:cNvCxnSpPr>
          <p:nvPr/>
        </p:nvCxnSpPr>
        <p:spPr bwMode="auto">
          <a:xfrm>
            <a:off x="3707144" y="2996952"/>
            <a:ext cx="886024" cy="1368152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3" name="Connecteur droit 32">
            <a:extLst>
              <a:ext uri="{FF2B5EF4-FFF2-40B4-BE49-F238E27FC236}">
                <a16:creationId xmlns:a16="http://schemas.microsoft.com/office/drawing/2014/main" id="{5BD0A687-2FA4-467B-A6C0-1902FAB5FF5A}"/>
              </a:ext>
            </a:extLst>
          </p:cNvPr>
          <p:cNvCxnSpPr>
            <a:cxnSpLocks/>
            <a:stCxn id="6" idx="4"/>
            <a:endCxn id="20" idx="0"/>
          </p:cNvCxnSpPr>
          <p:nvPr/>
        </p:nvCxnSpPr>
        <p:spPr bwMode="auto">
          <a:xfrm>
            <a:off x="4150156" y="2996952"/>
            <a:ext cx="443012" cy="1368152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6" name="Connecteur droit 35">
            <a:extLst>
              <a:ext uri="{FF2B5EF4-FFF2-40B4-BE49-F238E27FC236}">
                <a16:creationId xmlns:a16="http://schemas.microsoft.com/office/drawing/2014/main" id="{FF44849B-38C3-44C7-ACE2-6DE2C6C9AF6B}"/>
              </a:ext>
            </a:extLst>
          </p:cNvPr>
          <p:cNvCxnSpPr>
            <a:cxnSpLocks/>
            <a:stCxn id="7" idx="4"/>
            <a:endCxn id="20" idx="0"/>
          </p:cNvCxnSpPr>
          <p:nvPr/>
        </p:nvCxnSpPr>
        <p:spPr bwMode="auto">
          <a:xfrm>
            <a:off x="4593168" y="2996952"/>
            <a:ext cx="0" cy="1368152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" name="Connecteur droit 40">
            <a:extLst>
              <a:ext uri="{FF2B5EF4-FFF2-40B4-BE49-F238E27FC236}">
                <a16:creationId xmlns:a16="http://schemas.microsoft.com/office/drawing/2014/main" id="{2C0C915D-4EB9-4D15-9D38-842986A6B962}"/>
              </a:ext>
            </a:extLst>
          </p:cNvPr>
          <p:cNvCxnSpPr>
            <a:cxnSpLocks/>
            <a:stCxn id="9" idx="4"/>
            <a:endCxn id="20" idx="0"/>
          </p:cNvCxnSpPr>
          <p:nvPr/>
        </p:nvCxnSpPr>
        <p:spPr bwMode="auto">
          <a:xfrm flipH="1">
            <a:off x="4593168" y="2992884"/>
            <a:ext cx="443012" cy="137222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71E4ACD2-3A84-4F08-810F-5E20B05B9255}"/>
              </a:ext>
            </a:extLst>
          </p:cNvPr>
          <p:cNvCxnSpPr>
            <a:cxnSpLocks/>
            <a:stCxn id="10" idx="4"/>
            <a:endCxn id="20" idx="0"/>
          </p:cNvCxnSpPr>
          <p:nvPr/>
        </p:nvCxnSpPr>
        <p:spPr bwMode="auto">
          <a:xfrm flipH="1">
            <a:off x="4593168" y="2992884"/>
            <a:ext cx="886024" cy="137222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7" name="Connecteur droit 46">
            <a:extLst>
              <a:ext uri="{FF2B5EF4-FFF2-40B4-BE49-F238E27FC236}">
                <a16:creationId xmlns:a16="http://schemas.microsoft.com/office/drawing/2014/main" id="{BE8F64AA-F43C-4566-94BF-9978EBB57E2A}"/>
              </a:ext>
            </a:extLst>
          </p:cNvPr>
          <p:cNvCxnSpPr>
            <a:cxnSpLocks/>
            <a:stCxn id="9" idx="4"/>
            <a:endCxn id="23" idx="0"/>
          </p:cNvCxnSpPr>
          <p:nvPr/>
        </p:nvCxnSpPr>
        <p:spPr bwMode="auto">
          <a:xfrm>
            <a:off x="5036180" y="2992884"/>
            <a:ext cx="886024" cy="136815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1" name="Connecteur droit 50">
            <a:extLst>
              <a:ext uri="{FF2B5EF4-FFF2-40B4-BE49-F238E27FC236}">
                <a16:creationId xmlns:a16="http://schemas.microsoft.com/office/drawing/2014/main" id="{C92BF4F6-A18F-40A6-8BAB-FC966ABA8F66}"/>
              </a:ext>
            </a:extLst>
          </p:cNvPr>
          <p:cNvCxnSpPr>
            <a:cxnSpLocks/>
            <a:stCxn id="10" idx="4"/>
            <a:endCxn id="23" idx="0"/>
          </p:cNvCxnSpPr>
          <p:nvPr/>
        </p:nvCxnSpPr>
        <p:spPr bwMode="auto">
          <a:xfrm>
            <a:off x="5479192" y="2992884"/>
            <a:ext cx="443012" cy="136815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4" name="Connecteur droit 53">
            <a:extLst>
              <a:ext uri="{FF2B5EF4-FFF2-40B4-BE49-F238E27FC236}">
                <a16:creationId xmlns:a16="http://schemas.microsoft.com/office/drawing/2014/main" id="{A7D555C8-C26B-4F1D-ABA4-692CE5138B1D}"/>
              </a:ext>
            </a:extLst>
          </p:cNvPr>
          <p:cNvCxnSpPr>
            <a:cxnSpLocks/>
            <a:stCxn id="11" idx="4"/>
            <a:endCxn id="23" idx="0"/>
          </p:cNvCxnSpPr>
          <p:nvPr/>
        </p:nvCxnSpPr>
        <p:spPr bwMode="auto">
          <a:xfrm>
            <a:off x="5922204" y="2992884"/>
            <a:ext cx="0" cy="136815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7" name="Connecteur droit 56">
            <a:extLst>
              <a:ext uri="{FF2B5EF4-FFF2-40B4-BE49-F238E27FC236}">
                <a16:creationId xmlns:a16="http://schemas.microsoft.com/office/drawing/2014/main" id="{2EB8F875-2F80-4688-A18B-95A31D3458E0}"/>
              </a:ext>
            </a:extLst>
          </p:cNvPr>
          <p:cNvCxnSpPr>
            <a:cxnSpLocks/>
            <a:stCxn id="12" idx="4"/>
            <a:endCxn id="23" idx="0"/>
          </p:cNvCxnSpPr>
          <p:nvPr/>
        </p:nvCxnSpPr>
        <p:spPr bwMode="auto">
          <a:xfrm flipH="1">
            <a:off x="5922204" y="2992884"/>
            <a:ext cx="443012" cy="136815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0" name="Connecteur droit 59">
            <a:extLst>
              <a:ext uri="{FF2B5EF4-FFF2-40B4-BE49-F238E27FC236}">
                <a16:creationId xmlns:a16="http://schemas.microsoft.com/office/drawing/2014/main" id="{AEA0D9DE-4E6D-4186-AA13-8A50B8CE2212}"/>
              </a:ext>
            </a:extLst>
          </p:cNvPr>
          <p:cNvCxnSpPr>
            <a:cxnSpLocks/>
            <a:stCxn id="13" idx="4"/>
            <a:endCxn id="23" idx="0"/>
          </p:cNvCxnSpPr>
          <p:nvPr/>
        </p:nvCxnSpPr>
        <p:spPr bwMode="auto">
          <a:xfrm flipH="1">
            <a:off x="5922204" y="2992884"/>
            <a:ext cx="886024" cy="136815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1" name="Flèche : haut 30">
            <a:extLst>
              <a:ext uri="{FF2B5EF4-FFF2-40B4-BE49-F238E27FC236}">
                <a16:creationId xmlns:a16="http://schemas.microsoft.com/office/drawing/2014/main" id="{D971AA0D-94B3-4E9F-A3CA-442F6C87C40C}"/>
              </a:ext>
            </a:extLst>
          </p:cNvPr>
          <p:cNvSpPr/>
          <p:nvPr/>
        </p:nvSpPr>
        <p:spPr bwMode="auto">
          <a:xfrm>
            <a:off x="4485156" y="4862780"/>
            <a:ext cx="216024" cy="432048"/>
          </a:xfrm>
          <a:prstGeom prst="upArrow">
            <a:avLst/>
          </a:prstGeom>
          <a:solidFill>
            <a:schemeClr val="tx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B2C477B3-2435-49F3-825D-C207C14D5A9D}"/>
              </a:ext>
            </a:extLst>
          </p:cNvPr>
          <p:cNvSpPr txBox="1"/>
          <p:nvPr/>
        </p:nvSpPr>
        <p:spPr>
          <a:xfrm>
            <a:off x="1855596" y="3515436"/>
            <a:ext cx="2247025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dirty="0" err="1">
                <a:solidFill>
                  <a:schemeClr val="accent6"/>
                </a:solidFill>
              </a:rPr>
              <a:t>Weight</a:t>
            </a:r>
            <a:r>
              <a:rPr lang="fr-BE" dirty="0">
                <a:solidFill>
                  <a:schemeClr val="accent6"/>
                </a:solidFill>
              </a:rPr>
              <a:t> </a:t>
            </a:r>
            <a:r>
              <a:rPr lang="fr-BE" dirty="0" err="1">
                <a:solidFill>
                  <a:schemeClr val="accent6"/>
                </a:solidFill>
              </a:rPr>
              <a:t>strenghtening</a:t>
            </a:r>
            <a:endParaRPr lang="de-CH" dirty="0">
              <a:solidFill>
                <a:schemeClr val="accent6"/>
              </a:solidFill>
            </a:endParaRPr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7B2FCBF2-C844-41B1-8334-F817863D1B5F}"/>
              </a:ext>
            </a:extLst>
          </p:cNvPr>
          <p:cNvSpPr txBox="1"/>
          <p:nvPr/>
        </p:nvSpPr>
        <p:spPr>
          <a:xfrm>
            <a:off x="6511647" y="3515436"/>
            <a:ext cx="1966500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dirty="0" err="1">
                <a:solidFill>
                  <a:srgbClr val="FF0000"/>
                </a:solidFill>
              </a:rPr>
              <a:t>Weight</a:t>
            </a:r>
            <a:r>
              <a:rPr lang="fr-BE" dirty="0">
                <a:solidFill>
                  <a:srgbClr val="FF0000"/>
                </a:solidFill>
              </a:rPr>
              <a:t> </a:t>
            </a:r>
            <a:r>
              <a:rPr lang="fr-BE" dirty="0" err="1">
                <a:solidFill>
                  <a:srgbClr val="FF0000"/>
                </a:solidFill>
              </a:rPr>
              <a:t>weakening</a:t>
            </a:r>
            <a:endParaRPr lang="de-CH" dirty="0">
              <a:solidFill>
                <a:srgbClr val="FF0000"/>
              </a:solidFill>
            </a:endParaRP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095B350D-EE24-466C-8F67-56B6E353757D}"/>
              </a:ext>
            </a:extLst>
          </p:cNvPr>
          <p:cNvSpPr txBox="1"/>
          <p:nvPr/>
        </p:nvSpPr>
        <p:spPr>
          <a:xfrm>
            <a:off x="3945198" y="2132856"/>
            <a:ext cx="126496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dirty="0"/>
              <a:t>Target item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953360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E3920F26-1A1D-4C43-A466-6987F851228B}"/>
              </a:ext>
            </a:extLst>
          </p:cNvPr>
          <p:cNvSpPr txBox="1"/>
          <p:nvPr/>
        </p:nvSpPr>
        <p:spPr>
          <a:xfrm>
            <a:off x="119336" y="6370736"/>
            <a:ext cx="21130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sz="1400" dirty="0"/>
              <a:t>Oppenheim et al. (2010)</a:t>
            </a:r>
            <a:endParaRPr lang="de-CH" sz="1400" dirty="0"/>
          </a:p>
        </p:txBody>
      </p:sp>
      <p:sp>
        <p:nvSpPr>
          <p:cNvPr id="3" name="Ellipse 2">
            <a:extLst>
              <a:ext uri="{FF2B5EF4-FFF2-40B4-BE49-F238E27FC236}">
                <a16:creationId xmlns:a16="http://schemas.microsoft.com/office/drawing/2014/main" id="{762A4498-6B7B-4CF5-908D-835A06FCCF60}"/>
              </a:ext>
            </a:extLst>
          </p:cNvPr>
          <p:cNvSpPr/>
          <p:nvPr/>
        </p:nvSpPr>
        <p:spPr bwMode="auto">
          <a:xfrm>
            <a:off x="3527124" y="2636912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AC4DD5B2-F7B4-4BD1-86A9-BC38B1073534}"/>
              </a:ext>
            </a:extLst>
          </p:cNvPr>
          <p:cNvSpPr/>
          <p:nvPr/>
        </p:nvSpPr>
        <p:spPr bwMode="auto">
          <a:xfrm>
            <a:off x="3970136" y="2636912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081D2638-4A36-49D3-BFE4-C0BD5DB4F77C}"/>
              </a:ext>
            </a:extLst>
          </p:cNvPr>
          <p:cNvSpPr/>
          <p:nvPr/>
        </p:nvSpPr>
        <p:spPr bwMode="auto">
          <a:xfrm>
            <a:off x="4413148" y="2636912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F6599155-4357-4AEE-89DA-9B3FA42A5704}"/>
              </a:ext>
            </a:extLst>
          </p:cNvPr>
          <p:cNvSpPr/>
          <p:nvPr/>
        </p:nvSpPr>
        <p:spPr bwMode="auto">
          <a:xfrm>
            <a:off x="4856160" y="2632844"/>
            <a:ext cx="360040" cy="360040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D6B0A2AE-59CD-47F7-8006-D15A7E70F704}"/>
              </a:ext>
            </a:extLst>
          </p:cNvPr>
          <p:cNvSpPr/>
          <p:nvPr/>
        </p:nvSpPr>
        <p:spPr bwMode="auto">
          <a:xfrm>
            <a:off x="5299172" y="2632844"/>
            <a:ext cx="360040" cy="360040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DF136A81-11F5-4A1B-97CC-A6F72E64B6B7}"/>
              </a:ext>
            </a:extLst>
          </p:cNvPr>
          <p:cNvSpPr/>
          <p:nvPr/>
        </p:nvSpPr>
        <p:spPr bwMode="auto">
          <a:xfrm>
            <a:off x="5742184" y="2632844"/>
            <a:ext cx="360040" cy="360040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6B2574E3-783B-40C9-B836-CDBAF66241EF}"/>
              </a:ext>
            </a:extLst>
          </p:cNvPr>
          <p:cNvSpPr/>
          <p:nvPr/>
        </p:nvSpPr>
        <p:spPr bwMode="auto">
          <a:xfrm>
            <a:off x="6185196" y="2632844"/>
            <a:ext cx="360040" cy="360040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3DD52389-D857-4936-A8C0-998F1384B27F}"/>
              </a:ext>
            </a:extLst>
          </p:cNvPr>
          <p:cNvSpPr/>
          <p:nvPr/>
        </p:nvSpPr>
        <p:spPr bwMode="auto">
          <a:xfrm>
            <a:off x="6628208" y="2632844"/>
            <a:ext cx="360040" cy="360040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A54A72A4-F7EE-40AF-838C-7EBF8B03CD13}"/>
              </a:ext>
            </a:extLst>
          </p:cNvPr>
          <p:cNvSpPr/>
          <p:nvPr/>
        </p:nvSpPr>
        <p:spPr bwMode="auto">
          <a:xfrm>
            <a:off x="7071220" y="2632844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B2ED6783-91D0-4063-AC44-D8FEF3555193}"/>
              </a:ext>
            </a:extLst>
          </p:cNvPr>
          <p:cNvSpPr/>
          <p:nvPr/>
        </p:nvSpPr>
        <p:spPr bwMode="auto">
          <a:xfrm>
            <a:off x="7514232" y="2628776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C3BCE191-EDCD-445A-BFBF-5BCE8F517416}"/>
              </a:ext>
            </a:extLst>
          </p:cNvPr>
          <p:cNvSpPr/>
          <p:nvPr/>
        </p:nvSpPr>
        <p:spPr bwMode="auto">
          <a:xfrm>
            <a:off x="7957244" y="2628776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9BDC260C-3825-4A37-8787-4810FFFA48FC}"/>
              </a:ext>
            </a:extLst>
          </p:cNvPr>
          <p:cNvSpPr/>
          <p:nvPr/>
        </p:nvSpPr>
        <p:spPr bwMode="auto">
          <a:xfrm>
            <a:off x="8400256" y="2628776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97848FF1-2331-4D9D-AA8C-285D79F2E50A}"/>
              </a:ext>
            </a:extLst>
          </p:cNvPr>
          <p:cNvSpPr txBox="1"/>
          <p:nvPr/>
        </p:nvSpPr>
        <p:spPr>
          <a:xfrm>
            <a:off x="874753" y="2643009"/>
            <a:ext cx="1946367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dirty="0" err="1"/>
              <a:t>Semantic</a:t>
            </a:r>
            <a:r>
              <a:rPr lang="fr-BE" dirty="0"/>
              <a:t> </a:t>
            </a:r>
            <a:r>
              <a:rPr lang="fr-BE" dirty="0" err="1"/>
              <a:t>features</a:t>
            </a:r>
            <a:endParaRPr lang="de-CH" dirty="0"/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97174677-3FD9-4B8E-94C7-502D373D23CF}"/>
              </a:ext>
            </a:extLst>
          </p:cNvPr>
          <p:cNvSpPr/>
          <p:nvPr/>
        </p:nvSpPr>
        <p:spPr bwMode="auto">
          <a:xfrm>
            <a:off x="3527124" y="4365104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531D25D9-A68F-43DE-A3FF-96FB465BD722}"/>
              </a:ext>
            </a:extLst>
          </p:cNvPr>
          <p:cNvSpPr/>
          <p:nvPr/>
        </p:nvSpPr>
        <p:spPr bwMode="auto">
          <a:xfrm>
            <a:off x="3970136" y="4365104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BA36602D-7C40-4566-9335-41BCC126C352}"/>
              </a:ext>
            </a:extLst>
          </p:cNvPr>
          <p:cNvSpPr/>
          <p:nvPr/>
        </p:nvSpPr>
        <p:spPr bwMode="auto">
          <a:xfrm>
            <a:off x="4413148" y="4365104"/>
            <a:ext cx="360040" cy="36004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404AEEA0-95E1-4D29-A998-9C66B9ECAA12}"/>
              </a:ext>
            </a:extLst>
          </p:cNvPr>
          <p:cNvSpPr/>
          <p:nvPr/>
        </p:nvSpPr>
        <p:spPr bwMode="auto">
          <a:xfrm>
            <a:off x="4856160" y="4361036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4224C6A8-6BFE-410F-A4D0-7E01889943BA}"/>
              </a:ext>
            </a:extLst>
          </p:cNvPr>
          <p:cNvSpPr/>
          <p:nvPr/>
        </p:nvSpPr>
        <p:spPr bwMode="auto">
          <a:xfrm>
            <a:off x="5299172" y="4361036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57BA31D5-DFD8-4A29-8AC6-EDCB6845B56B}"/>
              </a:ext>
            </a:extLst>
          </p:cNvPr>
          <p:cNvSpPr/>
          <p:nvPr/>
        </p:nvSpPr>
        <p:spPr bwMode="auto">
          <a:xfrm>
            <a:off x="5742184" y="4361036"/>
            <a:ext cx="360040" cy="36004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226A8083-D450-40A0-A6D2-D1443CE5AF15}"/>
              </a:ext>
            </a:extLst>
          </p:cNvPr>
          <p:cNvSpPr/>
          <p:nvPr/>
        </p:nvSpPr>
        <p:spPr bwMode="auto">
          <a:xfrm>
            <a:off x="6185196" y="4361036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63DDD2B0-4C6B-4734-B750-ED9B2A3CE953}"/>
              </a:ext>
            </a:extLst>
          </p:cNvPr>
          <p:cNvSpPr/>
          <p:nvPr/>
        </p:nvSpPr>
        <p:spPr bwMode="auto">
          <a:xfrm>
            <a:off x="6628208" y="4361036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05B2F9F9-6BF8-4E61-9BC6-4B9A47F9BDC4}"/>
              </a:ext>
            </a:extLst>
          </p:cNvPr>
          <p:cNvSpPr/>
          <p:nvPr/>
        </p:nvSpPr>
        <p:spPr bwMode="auto">
          <a:xfrm>
            <a:off x="7071220" y="4361036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27" name="Ellipse 26">
            <a:extLst>
              <a:ext uri="{FF2B5EF4-FFF2-40B4-BE49-F238E27FC236}">
                <a16:creationId xmlns:a16="http://schemas.microsoft.com/office/drawing/2014/main" id="{AF3DE239-EF74-4092-A32F-09F235E09415}"/>
              </a:ext>
            </a:extLst>
          </p:cNvPr>
          <p:cNvSpPr/>
          <p:nvPr/>
        </p:nvSpPr>
        <p:spPr bwMode="auto">
          <a:xfrm>
            <a:off x="7514232" y="4356968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28" name="Ellipse 27">
            <a:extLst>
              <a:ext uri="{FF2B5EF4-FFF2-40B4-BE49-F238E27FC236}">
                <a16:creationId xmlns:a16="http://schemas.microsoft.com/office/drawing/2014/main" id="{3DAD93B0-C6C2-429E-BAA9-6B7097368260}"/>
              </a:ext>
            </a:extLst>
          </p:cNvPr>
          <p:cNvSpPr/>
          <p:nvPr/>
        </p:nvSpPr>
        <p:spPr bwMode="auto">
          <a:xfrm>
            <a:off x="7957244" y="4356968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29" name="Ellipse 28">
            <a:extLst>
              <a:ext uri="{FF2B5EF4-FFF2-40B4-BE49-F238E27FC236}">
                <a16:creationId xmlns:a16="http://schemas.microsoft.com/office/drawing/2014/main" id="{050FD96F-5F88-4AD9-9C8A-E91BB63A643F}"/>
              </a:ext>
            </a:extLst>
          </p:cNvPr>
          <p:cNvSpPr/>
          <p:nvPr/>
        </p:nvSpPr>
        <p:spPr bwMode="auto">
          <a:xfrm>
            <a:off x="8400256" y="4356968"/>
            <a:ext cx="360040" cy="360040"/>
          </a:xfrm>
          <a:prstGeom prst="ellips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CH" sz="24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ＭＳ Ｐゴシック" charset="0"/>
              <a:cs typeface="Arial" charset="0"/>
            </a:endParaRP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4B7A5BED-064A-4BBB-8A9E-F2E24EA0AC0A}"/>
              </a:ext>
            </a:extLst>
          </p:cNvPr>
          <p:cNvSpPr txBox="1"/>
          <p:nvPr/>
        </p:nvSpPr>
        <p:spPr>
          <a:xfrm>
            <a:off x="1154477" y="4387864"/>
            <a:ext cx="1386918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dirty="0"/>
              <a:t>Lexical </a:t>
            </a:r>
            <a:r>
              <a:rPr lang="fr-BE" dirty="0" err="1"/>
              <a:t>units</a:t>
            </a:r>
            <a:endParaRPr lang="de-CH" dirty="0"/>
          </a:p>
        </p:txBody>
      </p:sp>
      <p:cxnSp>
        <p:nvCxnSpPr>
          <p:cNvPr id="32" name="Connecteur droit 31">
            <a:extLst>
              <a:ext uri="{FF2B5EF4-FFF2-40B4-BE49-F238E27FC236}">
                <a16:creationId xmlns:a16="http://schemas.microsoft.com/office/drawing/2014/main" id="{46059D1B-9064-42B7-8851-84DA42194939}"/>
              </a:ext>
            </a:extLst>
          </p:cNvPr>
          <p:cNvCxnSpPr>
            <a:cxnSpLocks/>
            <a:stCxn id="3" idx="4"/>
            <a:endCxn id="20" idx="0"/>
          </p:cNvCxnSpPr>
          <p:nvPr/>
        </p:nvCxnSpPr>
        <p:spPr bwMode="auto">
          <a:xfrm>
            <a:off x="3707144" y="2996952"/>
            <a:ext cx="886024" cy="1368152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3" name="Connecteur droit 32">
            <a:extLst>
              <a:ext uri="{FF2B5EF4-FFF2-40B4-BE49-F238E27FC236}">
                <a16:creationId xmlns:a16="http://schemas.microsoft.com/office/drawing/2014/main" id="{5BD0A687-2FA4-467B-A6C0-1902FAB5FF5A}"/>
              </a:ext>
            </a:extLst>
          </p:cNvPr>
          <p:cNvCxnSpPr>
            <a:cxnSpLocks/>
            <a:stCxn id="6" idx="4"/>
            <a:endCxn id="20" idx="0"/>
          </p:cNvCxnSpPr>
          <p:nvPr/>
        </p:nvCxnSpPr>
        <p:spPr bwMode="auto">
          <a:xfrm>
            <a:off x="4150156" y="2996952"/>
            <a:ext cx="443012" cy="1368152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6" name="Connecteur droit 35">
            <a:extLst>
              <a:ext uri="{FF2B5EF4-FFF2-40B4-BE49-F238E27FC236}">
                <a16:creationId xmlns:a16="http://schemas.microsoft.com/office/drawing/2014/main" id="{FF44849B-38C3-44C7-ACE2-6DE2C6C9AF6B}"/>
              </a:ext>
            </a:extLst>
          </p:cNvPr>
          <p:cNvCxnSpPr>
            <a:cxnSpLocks/>
            <a:stCxn id="7" idx="4"/>
            <a:endCxn id="20" idx="0"/>
          </p:cNvCxnSpPr>
          <p:nvPr/>
        </p:nvCxnSpPr>
        <p:spPr bwMode="auto">
          <a:xfrm>
            <a:off x="4593168" y="2996952"/>
            <a:ext cx="0" cy="1368152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" name="Connecteur droit 40">
            <a:extLst>
              <a:ext uri="{FF2B5EF4-FFF2-40B4-BE49-F238E27FC236}">
                <a16:creationId xmlns:a16="http://schemas.microsoft.com/office/drawing/2014/main" id="{2C0C915D-4EB9-4D15-9D38-842986A6B962}"/>
              </a:ext>
            </a:extLst>
          </p:cNvPr>
          <p:cNvCxnSpPr>
            <a:cxnSpLocks/>
            <a:stCxn id="9" idx="4"/>
            <a:endCxn id="20" idx="0"/>
          </p:cNvCxnSpPr>
          <p:nvPr/>
        </p:nvCxnSpPr>
        <p:spPr bwMode="auto">
          <a:xfrm flipH="1">
            <a:off x="4593168" y="2992884"/>
            <a:ext cx="443012" cy="137222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71E4ACD2-3A84-4F08-810F-5E20B05B9255}"/>
              </a:ext>
            </a:extLst>
          </p:cNvPr>
          <p:cNvCxnSpPr>
            <a:cxnSpLocks/>
            <a:stCxn id="10" idx="4"/>
            <a:endCxn id="20" idx="0"/>
          </p:cNvCxnSpPr>
          <p:nvPr/>
        </p:nvCxnSpPr>
        <p:spPr bwMode="auto">
          <a:xfrm flipH="1">
            <a:off x="4593168" y="2992884"/>
            <a:ext cx="886024" cy="137222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7" name="Connecteur droit 46">
            <a:extLst>
              <a:ext uri="{FF2B5EF4-FFF2-40B4-BE49-F238E27FC236}">
                <a16:creationId xmlns:a16="http://schemas.microsoft.com/office/drawing/2014/main" id="{BE8F64AA-F43C-4566-94BF-9978EBB57E2A}"/>
              </a:ext>
            </a:extLst>
          </p:cNvPr>
          <p:cNvCxnSpPr>
            <a:cxnSpLocks/>
            <a:stCxn id="9" idx="4"/>
            <a:endCxn id="23" idx="0"/>
          </p:cNvCxnSpPr>
          <p:nvPr/>
        </p:nvCxnSpPr>
        <p:spPr bwMode="auto">
          <a:xfrm>
            <a:off x="5036180" y="2992884"/>
            <a:ext cx="886024" cy="136815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1" name="Connecteur droit 50">
            <a:extLst>
              <a:ext uri="{FF2B5EF4-FFF2-40B4-BE49-F238E27FC236}">
                <a16:creationId xmlns:a16="http://schemas.microsoft.com/office/drawing/2014/main" id="{C92BF4F6-A18F-40A6-8BAB-FC966ABA8F66}"/>
              </a:ext>
            </a:extLst>
          </p:cNvPr>
          <p:cNvCxnSpPr>
            <a:cxnSpLocks/>
            <a:stCxn id="10" idx="4"/>
            <a:endCxn id="23" idx="0"/>
          </p:cNvCxnSpPr>
          <p:nvPr/>
        </p:nvCxnSpPr>
        <p:spPr bwMode="auto">
          <a:xfrm>
            <a:off x="5479192" y="2992884"/>
            <a:ext cx="443012" cy="136815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9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4" name="Connecteur droit 53">
            <a:extLst>
              <a:ext uri="{FF2B5EF4-FFF2-40B4-BE49-F238E27FC236}">
                <a16:creationId xmlns:a16="http://schemas.microsoft.com/office/drawing/2014/main" id="{A7D555C8-C26B-4F1D-ABA4-692CE5138B1D}"/>
              </a:ext>
            </a:extLst>
          </p:cNvPr>
          <p:cNvCxnSpPr>
            <a:cxnSpLocks/>
            <a:stCxn id="11" idx="4"/>
            <a:endCxn id="23" idx="0"/>
          </p:cNvCxnSpPr>
          <p:nvPr/>
        </p:nvCxnSpPr>
        <p:spPr bwMode="auto">
          <a:xfrm>
            <a:off x="5922204" y="2992884"/>
            <a:ext cx="0" cy="136815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7" name="Connecteur droit 56">
            <a:extLst>
              <a:ext uri="{FF2B5EF4-FFF2-40B4-BE49-F238E27FC236}">
                <a16:creationId xmlns:a16="http://schemas.microsoft.com/office/drawing/2014/main" id="{2EB8F875-2F80-4688-A18B-95A31D3458E0}"/>
              </a:ext>
            </a:extLst>
          </p:cNvPr>
          <p:cNvCxnSpPr>
            <a:cxnSpLocks/>
            <a:stCxn id="12" idx="4"/>
            <a:endCxn id="23" idx="0"/>
          </p:cNvCxnSpPr>
          <p:nvPr/>
        </p:nvCxnSpPr>
        <p:spPr bwMode="auto">
          <a:xfrm flipH="1">
            <a:off x="5922204" y="2992884"/>
            <a:ext cx="443012" cy="136815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0" name="Connecteur droit 59">
            <a:extLst>
              <a:ext uri="{FF2B5EF4-FFF2-40B4-BE49-F238E27FC236}">
                <a16:creationId xmlns:a16="http://schemas.microsoft.com/office/drawing/2014/main" id="{AEA0D9DE-4E6D-4186-AA13-8A50B8CE2212}"/>
              </a:ext>
            </a:extLst>
          </p:cNvPr>
          <p:cNvCxnSpPr>
            <a:cxnSpLocks/>
            <a:stCxn id="13" idx="4"/>
            <a:endCxn id="23" idx="0"/>
          </p:cNvCxnSpPr>
          <p:nvPr/>
        </p:nvCxnSpPr>
        <p:spPr bwMode="auto">
          <a:xfrm flipH="1">
            <a:off x="5922204" y="2992884"/>
            <a:ext cx="886024" cy="136815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3" name="ZoneTexte 42">
            <a:extLst>
              <a:ext uri="{FF2B5EF4-FFF2-40B4-BE49-F238E27FC236}">
                <a16:creationId xmlns:a16="http://schemas.microsoft.com/office/drawing/2014/main" id="{86D5D363-B79E-4F11-9A58-749DBF8CE0EB}"/>
              </a:ext>
            </a:extLst>
          </p:cNvPr>
          <p:cNvSpPr txBox="1"/>
          <p:nvPr/>
        </p:nvSpPr>
        <p:spPr>
          <a:xfrm>
            <a:off x="4160442" y="5445224"/>
            <a:ext cx="2444900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dirty="0" err="1"/>
              <a:t>Increased</a:t>
            </a:r>
            <a:r>
              <a:rPr lang="fr-BE" dirty="0"/>
              <a:t> </a:t>
            </a:r>
            <a:r>
              <a:rPr lang="fr-BE" dirty="0" err="1"/>
              <a:t>competition</a:t>
            </a:r>
            <a:r>
              <a:rPr lang="fr-BE" dirty="0"/>
              <a:t>!!</a:t>
            </a:r>
            <a:endParaRPr lang="de-CH" dirty="0"/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941583AE-02AF-48AF-9D1D-55A311D09B63}"/>
              </a:ext>
            </a:extLst>
          </p:cNvPr>
          <p:cNvSpPr txBox="1"/>
          <p:nvPr/>
        </p:nvSpPr>
        <p:spPr>
          <a:xfrm>
            <a:off x="4753780" y="2132856"/>
            <a:ext cx="2584362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dirty="0" err="1"/>
              <a:t>Semantically</a:t>
            </a:r>
            <a:r>
              <a:rPr lang="fr-BE" dirty="0"/>
              <a:t> </a:t>
            </a:r>
            <a:r>
              <a:rPr lang="fr-BE" dirty="0" err="1"/>
              <a:t>similar</a:t>
            </a:r>
            <a:r>
              <a:rPr lang="fr-BE" dirty="0"/>
              <a:t> item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455427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E3920F26-1A1D-4C43-A466-6987F851228B}"/>
              </a:ext>
            </a:extLst>
          </p:cNvPr>
          <p:cNvSpPr txBox="1"/>
          <p:nvPr/>
        </p:nvSpPr>
        <p:spPr>
          <a:xfrm>
            <a:off x="119336" y="6370736"/>
            <a:ext cx="21130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sz="1400" dirty="0"/>
              <a:t>Oppenheim et al. (2010)</a:t>
            </a:r>
            <a:endParaRPr lang="de-CH" sz="1400" dirty="0"/>
          </a:p>
        </p:txBody>
      </p:sp>
      <p:pic>
        <p:nvPicPr>
          <p:cNvPr id="31" name="Image 30">
            <a:extLst>
              <a:ext uri="{FF2B5EF4-FFF2-40B4-BE49-F238E27FC236}">
                <a16:creationId xmlns:a16="http://schemas.microsoft.com/office/drawing/2014/main" id="{83058B87-0F73-4998-AE29-33C42E622A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1916" y="2653006"/>
            <a:ext cx="7608168" cy="3052344"/>
          </a:xfrm>
          <a:prstGeom prst="rect">
            <a:avLst/>
          </a:prstGeom>
        </p:spPr>
      </p:pic>
      <p:sp>
        <p:nvSpPr>
          <p:cNvPr id="34" name="ZoneTexte 33">
            <a:extLst>
              <a:ext uri="{FF2B5EF4-FFF2-40B4-BE49-F238E27FC236}">
                <a16:creationId xmlns:a16="http://schemas.microsoft.com/office/drawing/2014/main" id="{202B88BC-B6CD-49B8-9BCA-A07F53F4B293}"/>
              </a:ext>
            </a:extLst>
          </p:cNvPr>
          <p:cNvSpPr txBox="1"/>
          <p:nvPr/>
        </p:nvSpPr>
        <p:spPr>
          <a:xfrm>
            <a:off x="2065089" y="1402547"/>
            <a:ext cx="8061822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BE" dirty="0" err="1"/>
              <a:t>Response</a:t>
            </a:r>
            <a:r>
              <a:rPr lang="fr-BE" dirty="0"/>
              <a:t> times </a:t>
            </a:r>
            <a:r>
              <a:rPr lang="fr-BE" dirty="0" err="1"/>
              <a:t>increase</a:t>
            </a:r>
            <a:r>
              <a:rPr lang="fr-BE" dirty="0"/>
              <a:t> </a:t>
            </a:r>
            <a:r>
              <a:rPr lang="fr-BE" dirty="0" err="1"/>
              <a:t>within</a:t>
            </a:r>
            <a:r>
              <a:rPr lang="fr-BE" dirty="0"/>
              <a:t> a cycle.</a:t>
            </a:r>
          </a:p>
          <a:p>
            <a:pPr algn="ctr"/>
            <a:r>
              <a:rPr lang="fr-BE" dirty="0" err="1"/>
              <a:t>Explanation</a:t>
            </a:r>
            <a:r>
              <a:rPr lang="fr-BE" dirty="0"/>
              <a:t>: </a:t>
            </a:r>
            <a:r>
              <a:rPr lang="fr-BE" dirty="0" err="1"/>
              <a:t>increased</a:t>
            </a:r>
            <a:r>
              <a:rPr lang="fr-BE" dirty="0"/>
              <a:t> </a:t>
            </a:r>
            <a:r>
              <a:rPr lang="fr-BE" dirty="0" err="1"/>
              <a:t>competition</a:t>
            </a:r>
            <a:r>
              <a:rPr lang="fr-BE" dirty="0"/>
              <a:t> (i.e., </a:t>
            </a:r>
            <a:r>
              <a:rPr lang="fr-BE" dirty="0" err="1"/>
              <a:t>shared</a:t>
            </a:r>
            <a:r>
              <a:rPr lang="fr-BE" dirty="0"/>
              <a:t> activation + </a:t>
            </a:r>
            <a:r>
              <a:rPr lang="fr-BE" dirty="0" err="1"/>
              <a:t>incremental</a:t>
            </a:r>
            <a:r>
              <a:rPr lang="fr-BE" dirty="0"/>
              <a:t> </a:t>
            </a:r>
            <a:r>
              <a:rPr lang="fr-BE" dirty="0" err="1"/>
              <a:t>learning</a:t>
            </a:r>
            <a:r>
              <a:rPr lang="fr-BE" dirty="0"/>
              <a:t>)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067670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E3920F26-1A1D-4C43-A466-6987F851228B}"/>
              </a:ext>
            </a:extLst>
          </p:cNvPr>
          <p:cNvSpPr txBox="1"/>
          <p:nvPr/>
        </p:nvSpPr>
        <p:spPr>
          <a:xfrm>
            <a:off x="119336" y="6370736"/>
            <a:ext cx="21130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sz="1400" dirty="0"/>
              <a:t>Oppenheim et al. (2010)</a:t>
            </a:r>
            <a:endParaRPr lang="de-CH" sz="1400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8C788872-398B-40F1-B2EB-E3FA70D569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3864" y="2924944"/>
            <a:ext cx="8544272" cy="2787996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AAEE31E9-C29C-4B0D-B92F-7820AF6DA933}"/>
              </a:ext>
            </a:extLst>
          </p:cNvPr>
          <p:cNvSpPr txBox="1"/>
          <p:nvPr/>
        </p:nvSpPr>
        <p:spPr>
          <a:xfrm>
            <a:off x="2657718" y="1628800"/>
            <a:ext cx="6876565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dirty="0"/>
              <a:t>Due to </a:t>
            </a:r>
            <a:r>
              <a:rPr lang="fr-BE" dirty="0" err="1"/>
              <a:t>incremental</a:t>
            </a:r>
            <a:r>
              <a:rPr lang="fr-BE" dirty="0"/>
              <a:t> </a:t>
            </a:r>
            <a:r>
              <a:rPr lang="fr-BE" dirty="0" err="1"/>
              <a:t>learning</a:t>
            </a:r>
            <a:r>
              <a:rPr lang="fr-BE" dirty="0"/>
              <a:t> (i.e., </a:t>
            </a:r>
            <a:r>
              <a:rPr lang="fr-BE" dirty="0" err="1"/>
              <a:t>reinforcing</a:t>
            </a:r>
            <a:r>
              <a:rPr lang="fr-BE" dirty="0"/>
              <a:t> the links </a:t>
            </a:r>
            <a:r>
              <a:rPr lang="fr-BE" dirty="0" err="1"/>
              <a:t>between</a:t>
            </a:r>
            <a:r>
              <a:rPr lang="fr-BE" dirty="0"/>
              <a:t> the </a:t>
            </a:r>
            <a:r>
              <a:rPr lang="fr-BE" dirty="0" err="1"/>
              <a:t>target</a:t>
            </a:r>
            <a:r>
              <a:rPr lang="fr-BE" dirty="0"/>
              <a:t> and </a:t>
            </a:r>
            <a:r>
              <a:rPr lang="fr-BE" dirty="0" err="1"/>
              <a:t>its</a:t>
            </a:r>
            <a:r>
              <a:rPr lang="fr-BE" dirty="0"/>
              <a:t> </a:t>
            </a:r>
            <a:r>
              <a:rPr lang="fr-BE" dirty="0" err="1"/>
              <a:t>features</a:t>
            </a:r>
            <a:r>
              <a:rPr lang="fr-BE" dirty="0"/>
              <a:t>), the model </a:t>
            </a:r>
            <a:r>
              <a:rPr lang="fr-BE" dirty="0" err="1"/>
              <a:t>predicts</a:t>
            </a:r>
            <a:r>
              <a:rPr lang="fr-BE" dirty="0"/>
              <a:t> </a:t>
            </a:r>
            <a:r>
              <a:rPr lang="fr-BE" dirty="0" err="1"/>
              <a:t>repetition</a:t>
            </a:r>
            <a:r>
              <a:rPr lang="fr-BE" dirty="0"/>
              <a:t> priming.</a:t>
            </a:r>
            <a:endParaRPr lang="de-CH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FEC72A44-9981-41BC-B47D-7B215569F4C2}"/>
              </a:ext>
            </a:extLst>
          </p:cNvPr>
          <p:cNvSpPr txBox="1"/>
          <p:nvPr/>
        </p:nvSpPr>
        <p:spPr>
          <a:xfrm>
            <a:off x="2994382" y="2636912"/>
            <a:ext cx="2005677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dirty="0"/>
              <a:t>First item </a:t>
            </a:r>
            <a:r>
              <a:rPr lang="fr-BE" dirty="0" err="1"/>
              <a:t>repeated</a:t>
            </a:r>
            <a:endParaRPr lang="de-CH" dirty="0"/>
          </a:p>
        </p:txBody>
      </p:sp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9EC5444B-CFCC-425D-A06B-3722D1B33FDD}"/>
              </a:ext>
            </a:extLst>
          </p:cNvPr>
          <p:cNvCxnSpPr/>
          <p:nvPr/>
        </p:nvCxnSpPr>
        <p:spPr bwMode="auto">
          <a:xfrm>
            <a:off x="4007768" y="2990855"/>
            <a:ext cx="216024" cy="1622793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triangle"/>
          </a:ln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D252C45B-A87E-4F45-9455-E6E9666C9C78}"/>
              </a:ext>
            </a:extLst>
          </p:cNvPr>
          <p:cNvCxnSpPr>
            <a:cxnSpLocks/>
            <a:stCxn id="2" idx="2"/>
          </p:cNvCxnSpPr>
          <p:nvPr/>
        </p:nvCxnSpPr>
        <p:spPr bwMode="auto">
          <a:xfrm>
            <a:off x="3997221" y="2990855"/>
            <a:ext cx="946651" cy="1590273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triangle"/>
          </a:ln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868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E3920F26-1A1D-4C43-A466-6987F851228B}"/>
              </a:ext>
            </a:extLst>
          </p:cNvPr>
          <p:cNvSpPr txBox="1"/>
          <p:nvPr/>
        </p:nvSpPr>
        <p:spPr>
          <a:xfrm>
            <a:off x="119336" y="6370736"/>
            <a:ext cx="21130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sz="1400" dirty="0"/>
              <a:t>Oppenheim et al. (2010)</a:t>
            </a:r>
            <a:endParaRPr lang="de-CH" sz="1400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16C551AC-724D-4644-B283-1D1C7CE6D2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3747" y="1339051"/>
            <a:ext cx="6464506" cy="5065221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5445D612-AB6F-4F14-96A1-BD9AE3737034}"/>
              </a:ext>
            </a:extLst>
          </p:cNvPr>
          <p:cNvSpPr txBox="1"/>
          <p:nvPr/>
        </p:nvSpPr>
        <p:spPr>
          <a:xfrm>
            <a:off x="5303912" y="620688"/>
            <a:ext cx="5210978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dirty="0"/>
              <a:t>1. This </a:t>
            </a:r>
            <a:r>
              <a:rPr lang="fr-BE" dirty="0" err="1"/>
              <a:t>decrease</a:t>
            </a:r>
            <a:r>
              <a:rPr lang="fr-BE" dirty="0"/>
              <a:t> </a:t>
            </a:r>
            <a:r>
              <a:rPr lang="fr-BE" dirty="0" err="1"/>
              <a:t>is</a:t>
            </a:r>
            <a:r>
              <a:rPr lang="fr-BE" dirty="0"/>
              <a:t> due to </a:t>
            </a:r>
            <a:r>
              <a:rPr lang="fr-BE" dirty="0" err="1"/>
              <a:t>general</a:t>
            </a:r>
            <a:r>
              <a:rPr lang="fr-BE" dirty="0"/>
              <a:t> </a:t>
            </a:r>
            <a:r>
              <a:rPr lang="fr-BE" dirty="0" err="1"/>
              <a:t>repetition</a:t>
            </a:r>
            <a:r>
              <a:rPr lang="fr-BE" dirty="0"/>
              <a:t> priming</a:t>
            </a:r>
            <a:endParaRPr lang="de-CH" dirty="0"/>
          </a:p>
        </p:txBody>
      </p:sp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7FBCD1B6-D3D1-4BE5-A549-B91CF60289A9}"/>
              </a:ext>
            </a:extLst>
          </p:cNvPr>
          <p:cNvCxnSpPr>
            <a:stCxn id="7" idx="2"/>
          </p:cNvCxnSpPr>
          <p:nvPr/>
        </p:nvCxnSpPr>
        <p:spPr bwMode="auto">
          <a:xfrm flipH="1">
            <a:off x="7248128" y="974631"/>
            <a:ext cx="661273" cy="130224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1" name="ZoneTexte 10">
            <a:extLst>
              <a:ext uri="{FF2B5EF4-FFF2-40B4-BE49-F238E27FC236}">
                <a16:creationId xmlns:a16="http://schemas.microsoft.com/office/drawing/2014/main" id="{B1DECDAC-C1AA-4645-A1AD-3EBDD18345B2}"/>
              </a:ext>
            </a:extLst>
          </p:cNvPr>
          <p:cNvSpPr txBox="1"/>
          <p:nvPr/>
        </p:nvSpPr>
        <p:spPr>
          <a:xfrm>
            <a:off x="7608169" y="3789040"/>
            <a:ext cx="403244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BE" dirty="0"/>
              <a:t>2. The </a:t>
            </a:r>
            <a:r>
              <a:rPr lang="fr-BE" dirty="0" err="1"/>
              <a:t>refractory</a:t>
            </a:r>
            <a:r>
              <a:rPr lang="fr-BE" dirty="0"/>
              <a:t> </a:t>
            </a:r>
            <a:r>
              <a:rPr lang="fr-BE" dirty="0" err="1"/>
              <a:t>effect</a:t>
            </a:r>
            <a:r>
              <a:rPr lang="fr-BE" dirty="0"/>
              <a:t> </a:t>
            </a:r>
            <a:r>
              <a:rPr lang="fr-BE" dirty="0" err="1"/>
              <a:t>appears</a:t>
            </a:r>
            <a:r>
              <a:rPr lang="fr-BE" dirty="0"/>
              <a:t> </a:t>
            </a:r>
            <a:r>
              <a:rPr lang="fr-BE" dirty="0" err="1"/>
              <a:t>progressively</a:t>
            </a:r>
            <a:r>
              <a:rPr lang="fr-BE" dirty="0"/>
              <a:t> </a:t>
            </a:r>
            <a:r>
              <a:rPr lang="fr-BE" dirty="0" err="1"/>
              <a:t>across</a:t>
            </a:r>
            <a:r>
              <a:rPr lang="fr-BE" dirty="0"/>
              <a:t> cycles</a:t>
            </a:r>
            <a:endParaRPr lang="de-CH" dirty="0"/>
          </a:p>
        </p:txBody>
      </p:sp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21D67F06-C955-4824-AF72-91948AC8A5D6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7968208" y="2996952"/>
            <a:ext cx="1360045" cy="87470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5" name="ZoneTexte 14">
            <a:extLst>
              <a:ext uri="{FF2B5EF4-FFF2-40B4-BE49-F238E27FC236}">
                <a16:creationId xmlns:a16="http://schemas.microsoft.com/office/drawing/2014/main" id="{0AD58EE1-C7E7-4051-A074-07827169A373}"/>
              </a:ext>
            </a:extLst>
          </p:cNvPr>
          <p:cNvSpPr txBox="1"/>
          <p:nvPr/>
        </p:nvSpPr>
        <p:spPr>
          <a:xfrm>
            <a:off x="9002877" y="1174488"/>
            <a:ext cx="3136369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dirty="0"/>
              <a:t>3. </a:t>
            </a:r>
            <a:r>
              <a:rPr lang="fr-BE" dirty="0" err="1"/>
              <a:t>Bounce</a:t>
            </a:r>
            <a:r>
              <a:rPr lang="fr-BE" dirty="0"/>
              <a:t> </a:t>
            </a:r>
            <a:r>
              <a:rPr lang="fr-BE" dirty="0" err="1"/>
              <a:t>is</a:t>
            </a:r>
            <a:r>
              <a:rPr lang="fr-BE" dirty="0"/>
              <a:t> due to a </a:t>
            </a:r>
            <a:r>
              <a:rPr lang="fr-BE" dirty="0" err="1"/>
              <a:t>lack</a:t>
            </a:r>
            <a:r>
              <a:rPr lang="fr-BE" dirty="0"/>
              <a:t> of </a:t>
            </a:r>
            <a:r>
              <a:rPr lang="fr-BE" dirty="0" err="1"/>
              <a:t>repetition</a:t>
            </a:r>
            <a:r>
              <a:rPr lang="fr-BE" dirty="0"/>
              <a:t> priming</a:t>
            </a:r>
            <a:endParaRPr lang="de-CH" dirty="0"/>
          </a:p>
        </p:txBody>
      </p:sp>
      <p:cxnSp>
        <p:nvCxnSpPr>
          <p:cNvPr id="16" name="Connecteur droit avec flèche 15">
            <a:extLst>
              <a:ext uri="{FF2B5EF4-FFF2-40B4-BE49-F238E27FC236}">
                <a16:creationId xmlns:a16="http://schemas.microsoft.com/office/drawing/2014/main" id="{9D13C9AB-1CB9-43A2-A189-2CB55BC095A0}"/>
              </a:ext>
            </a:extLst>
          </p:cNvPr>
          <p:cNvCxnSpPr>
            <a:cxnSpLocks/>
            <a:stCxn id="15" idx="1"/>
          </p:cNvCxnSpPr>
          <p:nvPr/>
        </p:nvCxnSpPr>
        <p:spPr bwMode="auto">
          <a:xfrm flipH="1">
            <a:off x="8231162" y="1482265"/>
            <a:ext cx="771715" cy="30777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0" name="ZoneTexte 19">
            <a:extLst>
              <a:ext uri="{FF2B5EF4-FFF2-40B4-BE49-F238E27FC236}">
                <a16:creationId xmlns:a16="http://schemas.microsoft.com/office/drawing/2014/main" id="{9DAC85F1-28BB-4851-91AC-7FB1A2253E44}"/>
              </a:ext>
            </a:extLst>
          </p:cNvPr>
          <p:cNvSpPr txBox="1"/>
          <p:nvPr/>
        </p:nvSpPr>
        <p:spPr>
          <a:xfrm>
            <a:off x="9523940" y="2360831"/>
            <a:ext cx="3136369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dirty="0"/>
              <a:t>4. </a:t>
            </a:r>
            <a:r>
              <a:rPr lang="fr-BE" dirty="0" err="1"/>
              <a:t>Refractory</a:t>
            </a:r>
            <a:r>
              <a:rPr lang="fr-BE" dirty="0"/>
              <a:t> </a:t>
            </a:r>
            <a:r>
              <a:rPr lang="fr-BE" dirty="0" err="1"/>
              <a:t>effects</a:t>
            </a:r>
            <a:r>
              <a:rPr lang="fr-BE" dirty="0"/>
              <a:t> </a:t>
            </a:r>
            <a:r>
              <a:rPr lang="fr-BE" dirty="0" err="1"/>
              <a:t>generalizes</a:t>
            </a:r>
            <a:r>
              <a:rPr lang="fr-BE" dirty="0"/>
              <a:t> to new items</a:t>
            </a:r>
            <a:endParaRPr lang="de-CH" dirty="0"/>
          </a:p>
        </p:txBody>
      </p:sp>
      <p:cxnSp>
        <p:nvCxnSpPr>
          <p:cNvPr id="21" name="Connecteur droit avec flèche 20">
            <a:extLst>
              <a:ext uri="{FF2B5EF4-FFF2-40B4-BE49-F238E27FC236}">
                <a16:creationId xmlns:a16="http://schemas.microsoft.com/office/drawing/2014/main" id="{0F7C6AD2-32DB-4B81-8596-1A8DCB99F2E4}"/>
              </a:ext>
            </a:extLst>
          </p:cNvPr>
          <p:cNvCxnSpPr>
            <a:cxnSpLocks/>
            <a:stCxn id="20" idx="1"/>
          </p:cNvCxnSpPr>
          <p:nvPr/>
        </p:nvCxnSpPr>
        <p:spPr bwMode="auto">
          <a:xfrm flipH="1">
            <a:off x="9002877" y="2668608"/>
            <a:ext cx="521063" cy="11317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6" name="Connecteur droit 25">
            <a:extLst>
              <a:ext uri="{FF2B5EF4-FFF2-40B4-BE49-F238E27FC236}">
                <a16:creationId xmlns:a16="http://schemas.microsoft.com/office/drawing/2014/main" id="{DADA761C-C2A9-49F8-9681-24038EA4A661}"/>
              </a:ext>
            </a:extLst>
          </p:cNvPr>
          <p:cNvCxnSpPr>
            <a:cxnSpLocks/>
          </p:cNvCxnSpPr>
          <p:nvPr/>
        </p:nvCxnSpPr>
        <p:spPr bwMode="auto">
          <a:xfrm>
            <a:off x="8760296" y="2492896"/>
            <a:ext cx="0" cy="360040"/>
          </a:xfrm>
          <a:prstGeom prst="line">
            <a:avLst/>
          </a:prstGeom>
          <a:ln>
            <a:headEnd type="none" w="med" len="med"/>
            <a:tailEnd type="none" w="med" len="med"/>
          </a:ln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" name="Connecteur droit 2">
            <a:extLst>
              <a:ext uri="{FF2B5EF4-FFF2-40B4-BE49-F238E27FC236}">
                <a16:creationId xmlns:a16="http://schemas.microsoft.com/office/drawing/2014/main" id="{CB7BFDA3-EE0E-4746-8879-C9596365BEEC}"/>
              </a:ext>
            </a:extLst>
          </p:cNvPr>
          <p:cNvCxnSpPr/>
          <p:nvPr/>
        </p:nvCxnSpPr>
        <p:spPr bwMode="auto">
          <a:xfrm flipV="1">
            <a:off x="7824192" y="1700808"/>
            <a:ext cx="0" cy="151216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964004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  <p:bldP spid="15" grpId="0"/>
      <p:bldP spid="20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49C723BA-867E-44C1-B5F6-902AECBD1463}"/>
              </a:ext>
            </a:extLst>
          </p:cNvPr>
          <p:cNvSpPr txBox="1"/>
          <p:nvPr/>
        </p:nvSpPr>
        <p:spPr>
          <a:xfrm>
            <a:off x="2896443" y="2636912"/>
            <a:ext cx="7664279" cy="19236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BE" b="1" dirty="0" err="1"/>
              <a:t>Take</a:t>
            </a:r>
            <a:r>
              <a:rPr lang="fr-BE" b="1" dirty="0"/>
              <a:t>-home message:</a:t>
            </a:r>
          </a:p>
          <a:p>
            <a:pPr algn="ctr"/>
            <a:endParaRPr lang="fr-BE" dirty="0"/>
          </a:p>
          <a:p>
            <a:pPr marL="342900" indent="-342900" algn="ctr">
              <a:buAutoNum type="arabicPeriod"/>
            </a:pPr>
            <a:r>
              <a:rPr lang="fr-BE" dirty="0" err="1"/>
              <a:t>Naming</a:t>
            </a:r>
            <a:r>
              <a:rPr lang="fr-BE" dirty="0"/>
              <a:t> </a:t>
            </a:r>
            <a:r>
              <a:rPr lang="fr-BE" dirty="0" err="1"/>
              <a:t>latencies</a:t>
            </a:r>
            <a:r>
              <a:rPr lang="fr-BE" dirty="0"/>
              <a:t> slow down </a:t>
            </a:r>
            <a:r>
              <a:rPr lang="fr-BE" dirty="0" err="1"/>
              <a:t>when</a:t>
            </a:r>
            <a:r>
              <a:rPr lang="fr-BE" dirty="0"/>
              <a:t> </a:t>
            </a:r>
            <a:r>
              <a:rPr lang="fr-BE" dirty="0" err="1"/>
              <a:t>naming</a:t>
            </a:r>
            <a:r>
              <a:rPr lang="fr-BE" dirty="0"/>
              <a:t> items </a:t>
            </a:r>
            <a:r>
              <a:rPr lang="fr-BE" dirty="0" err="1"/>
              <a:t>from</a:t>
            </a:r>
            <a:r>
              <a:rPr lang="fr-BE" dirty="0"/>
              <a:t> the </a:t>
            </a:r>
            <a:r>
              <a:rPr lang="fr-BE" dirty="0" err="1"/>
              <a:t>same</a:t>
            </a:r>
            <a:r>
              <a:rPr lang="fr-BE" dirty="0"/>
              <a:t> </a:t>
            </a:r>
            <a:r>
              <a:rPr lang="fr-BE" dirty="0" err="1"/>
              <a:t>category</a:t>
            </a:r>
            <a:endParaRPr lang="fr-BE" dirty="0"/>
          </a:p>
          <a:p>
            <a:pPr marL="342900" indent="-342900" algn="ctr">
              <a:buAutoNum type="arabicPeriod"/>
            </a:pPr>
            <a:r>
              <a:rPr lang="fr-BE" dirty="0"/>
              <a:t>Due to a </a:t>
            </a:r>
            <a:r>
              <a:rPr lang="fr-BE" dirty="0" err="1"/>
              <a:t>problem</a:t>
            </a:r>
            <a:r>
              <a:rPr lang="fr-BE" dirty="0"/>
              <a:t> of </a:t>
            </a:r>
            <a:r>
              <a:rPr lang="fr-BE" dirty="0" err="1"/>
              <a:t>selection</a:t>
            </a:r>
            <a:r>
              <a:rPr lang="fr-BE" dirty="0"/>
              <a:t> at the </a:t>
            </a:r>
            <a:r>
              <a:rPr lang="fr-BE" dirty="0" err="1"/>
              <a:t>semantic</a:t>
            </a:r>
            <a:r>
              <a:rPr lang="fr-BE" dirty="0"/>
              <a:t> </a:t>
            </a:r>
            <a:r>
              <a:rPr lang="fr-BE" dirty="0" err="1"/>
              <a:t>level</a:t>
            </a:r>
            <a:endParaRPr lang="fr-BE" dirty="0"/>
          </a:p>
          <a:p>
            <a:pPr marL="342900" indent="-342900" algn="ctr">
              <a:buAutoNum type="arabicPeriod"/>
            </a:pPr>
            <a:r>
              <a:rPr lang="fr-BE" dirty="0"/>
              <a:t>Is not due to short-</a:t>
            </a:r>
            <a:r>
              <a:rPr lang="fr-BE" dirty="0" err="1"/>
              <a:t>lived</a:t>
            </a:r>
            <a:r>
              <a:rPr lang="fr-BE" dirty="0"/>
              <a:t> </a:t>
            </a:r>
            <a:r>
              <a:rPr lang="fr-BE" dirty="0" err="1"/>
              <a:t>semantic</a:t>
            </a:r>
            <a:r>
              <a:rPr lang="fr-BE" dirty="0"/>
              <a:t> priming</a:t>
            </a:r>
          </a:p>
          <a:p>
            <a:pPr marL="342900" indent="-342900" algn="ctr">
              <a:buAutoNum type="arabicPeriod"/>
            </a:pPr>
            <a:r>
              <a:rPr lang="fr-BE" dirty="0"/>
              <a:t>The best </a:t>
            </a:r>
            <a:r>
              <a:rPr lang="fr-BE" dirty="0" err="1"/>
              <a:t>explanation</a:t>
            </a:r>
            <a:r>
              <a:rPr lang="fr-BE" dirty="0"/>
              <a:t> </a:t>
            </a:r>
            <a:r>
              <a:rPr lang="fr-BE" dirty="0" err="1"/>
              <a:t>so</a:t>
            </a:r>
            <a:r>
              <a:rPr lang="fr-BE" dirty="0"/>
              <a:t> far </a:t>
            </a:r>
            <a:r>
              <a:rPr lang="fr-BE" dirty="0" err="1"/>
              <a:t>boils</a:t>
            </a:r>
            <a:r>
              <a:rPr lang="fr-BE" dirty="0"/>
              <a:t> down to an </a:t>
            </a:r>
            <a:r>
              <a:rPr lang="fr-BE" dirty="0" err="1"/>
              <a:t>incremental</a:t>
            </a:r>
            <a:r>
              <a:rPr lang="fr-BE" dirty="0"/>
              <a:t> </a:t>
            </a:r>
            <a:r>
              <a:rPr lang="fr-BE" dirty="0" err="1"/>
              <a:t>learning</a:t>
            </a:r>
            <a:r>
              <a:rPr lang="fr-BE" dirty="0"/>
              <a:t> process</a:t>
            </a:r>
          </a:p>
          <a:p>
            <a:pPr marL="342900" indent="-342900" algn="ctr">
              <a:buAutoNum type="arabicPeriod"/>
            </a:pP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741122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E71A196E-6BCB-41E5-A1B2-4224BBF28991}"/>
              </a:ext>
            </a:extLst>
          </p:cNvPr>
          <p:cNvSpPr txBox="1"/>
          <p:nvPr/>
        </p:nvSpPr>
        <p:spPr>
          <a:xfrm>
            <a:off x="4677984" y="3252029"/>
            <a:ext cx="2836033" cy="3539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dirty="0" err="1"/>
              <a:t>Thank</a:t>
            </a:r>
            <a:r>
              <a:rPr lang="fr-BE" dirty="0"/>
              <a:t> </a:t>
            </a:r>
            <a:r>
              <a:rPr lang="fr-BE" dirty="0" err="1"/>
              <a:t>you</a:t>
            </a:r>
            <a:r>
              <a:rPr lang="fr-BE" dirty="0"/>
              <a:t> for </a:t>
            </a:r>
            <a:r>
              <a:rPr lang="fr-BE" dirty="0" err="1"/>
              <a:t>you</a:t>
            </a:r>
            <a:r>
              <a:rPr lang="fr-BE" dirty="0"/>
              <a:t> attention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03044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UZH">
  <a:themeElements>
    <a:clrScheme name="UZH">
      <a:dk1>
        <a:srgbClr val="000000"/>
      </a:dk1>
      <a:lt1>
        <a:srgbClr val="FFFFFF"/>
      </a:lt1>
      <a:dk2>
        <a:srgbClr val="DADEE2"/>
      </a:dk2>
      <a:lt2>
        <a:srgbClr val="FEDC00"/>
      </a:lt2>
      <a:accent1>
        <a:srgbClr val="0028A5"/>
      </a:accent1>
      <a:accent2>
        <a:srgbClr val="A3ADB7"/>
      </a:accent2>
      <a:accent3>
        <a:srgbClr val="DC6027"/>
      </a:accent3>
      <a:accent4>
        <a:srgbClr val="0B82A0"/>
      </a:accent4>
      <a:accent5>
        <a:srgbClr val="2A7F60"/>
      </a:accent5>
      <a:accent6>
        <a:srgbClr val="91C34A"/>
      </a:accent6>
      <a:hlink>
        <a:srgbClr val="DC6027"/>
      </a:hlink>
      <a:folHlink>
        <a:srgbClr val="000000"/>
      </a:folHlink>
    </a:clrScheme>
    <a:fontScheme name="Office-Design">
      <a:majorFont>
        <a:latin typeface="Arial"/>
        <a:ea typeface="ＭＳ Ｐゴシック"/>
        <a:cs typeface="Arial"/>
      </a:majorFont>
      <a:minorFont>
        <a:latin typeface="Arial"/>
        <a:ea typeface="ＭＳ Ｐゴシック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blurRad="63500"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0" tIns="0" rIns="0" bIns="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24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Arial" charset="0"/>
            <a:ea typeface="ＭＳ Ｐゴシック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="" xmlns:a14="http://schemas.microsoft.com/office/drawing/2010/main">
              <a:effectLst>
                <a:outerShdw blurRad="63500"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0" tIns="0" rIns="0" bIns="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CH" sz="2400" b="0" i="0" u="none" strike="noStrike" cap="none" normalizeH="0" baseline="0">
            <a:ln>
              <a:noFill/>
            </a:ln>
            <a:solidFill>
              <a:srgbClr val="000000"/>
            </a:solidFill>
            <a:effectLst/>
            <a:latin typeface="Arial" charset="0"/>
            <a:ea typeface="ＭＳ Ｐゴシック" charset="0"/>
            <a:cs typeface="Arial" charset="0"/>
          </a:defRPr>
        </a:defPPr>
      </a:lstStyle>
    </a:lnDef>
  </a:objectDefaults>
  <a:extraClrSchemeLst>
    <a:extraClrScheme>
      <a:clrScheme name="UZH">
        <a:dk1>
          <a:srgbClr val="000000"/>
        </a:dk1>
        <a:lt1>
          <a:srgbClr val="FFFFFF"/>
        </a:lt1>
        <a:dk2>
          <a:srgbClr val="DADEE2"/>
        </a:dk2>
        <a:lt2>
          <a:srgbClr val="FEDC00"/>
        </a:lt2>
        <a:accent1>
          <a:srgbClr val="0028A5"/>
        </a:accent1>
        <a:accent2>
          <a:srgbClr val="A3ADB7"/>
        </a:accent2>
        <a:accent3>
          <a:srgbClr val="DC6027"/>
        </a:accent3>
        <a:accent4>
          <a:srgbClr val="0B82A0"/>
        </a:accent4>
        <a:accent5>
          <a:srgbClr val="2A7F60"/>
        </a:accent5>
        <a:accent6>
          <a:srgbClr val="91C34A"/>
        </a:accent6>
        <a:hlink>
          <a:srgbClr val="DC6027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custClrLst>
    <a:custClr name="Blau 100%">
      <a:srgbClr val="0028A5"/>
    </a:custClr>
    <a:custClr name="Grau 100%">
      <a:srgbClr val="A3ADB7"/>
    </a:custClr>
    <a:custClr name="Ockerrot 100%">
      <a:srgbClr val="DC6027"/>
    </a:custClr>
    <a:custClr name="Türkis 100%">
      <a:srgbClr val="0B82A0"/>
    </a:custClr>
    <a:custClr name="Flaschengrün 100%">
      <a:srgbClr val="2A7F62"/>
    </a:custClr>
    <a:custClr name="Lindengrün 100%">
      <a:srgbClr val="91C34A"/>
    </a:custClr>
    <a:custClr name="Warmgelb 100%">
      <a:srgbClr val="FEDE00"/>
    </a:custClr>
    <a:custClr name="blank">
      <a:srgbClr val="FFFFFF"/>
    </a:custClr>
    <a:custClr name="blank">
      <a:srgbClr val="FFFFFF"/>
    </a:custClr>
    <a:custClr name="blank">
      <a:srgbClr val="FFFFFF"/>
    </a:custClr>
    <a:custClr name="Blau 80%">
      <a:srgbClr val="3353B7"/>
    </a:custClr>
    <a:custClr name="Grau 80%">
      <a:srgbClr val="B5BDC5"/>
    </a:custClr>
    <a:custClr name="Ockerrot 80%">
      <a:srgbClr val="E38052"/>
    </a:custClr>
    <a:custClr name="Türkis 80%">
      <a:srgbClr val="3C9FB6"/>
    </a:custClr>
    <a:custClr name="Flaschengrün 80%">
      <a:srgbClr val="569D85"/>
    </a:custClr>
    <a:custClr name="Lindengrün 80%">
      <a:srgbClr val="AAD470"/>
    </a:custClr>
    <a:custClr name="Warmgelb 80%">
      <a:srgbClr val="FBE651"/>
    </a:custClr>
    <a:custClr name="blank">
      <a:srgbClr val="FFFFFF"/>
    </a:custClr>
    <a:custClr name="blank">
      <a:srgbClr val="FFFFFF"/>
    </a:custClr>
    <a:custClr name="blank">
      <a:srgbClr val="FFFFFF"/>
    </a:custClr>
    <a:custClr name="Blau 60%">
      <a:srgbClr val="667EC9"/>
    </a:custClr>
    <a:custClr name="Grau 60%">
      <a:srgbClr val="C8CED4"/>
    </a:custClr>
    <a:custClr name="Ockerrot 60%">
      <a:srgbClr val="EAA07D"/>
    </a:custClr>
    <a:custClr name="Türkis 60%">
      <a:srgbClr val="6BB7C7"/>
    </a:custClr>
    <a:custClr name="Flaschengrün 60%">
      <a:srgbClr val="80B6A4"/>
    </a:custClr>
    <a:custClr name="Lindengrün 60%">
      <a:srgbClr val="BFDF94"/>
    </a:custClr>
    <a:custClr name="Warmgelb 60%">
      <a:srgbClr val="FCEC7C"/>
    </a:custClr>
    <a:custClr name="blank">
      <a:srgbClr val="FFFFFF"/>
    </a:custClr>
    <a:custClr name="blank">
      <a:srgbClr val="FFFFFF"/>
    </a:custClr>
    <a:custClr name="blank">
      <a:srgbClr val="FFFFFF"/>
    </a:custClr>
    <a:custClr name="Blau 40%">
      <a:srgbClr val="99A9DB"/>
    </a:custClr>
    <a:custClr name="Grau 40%">
      <a:srgbClr val="DADEE2"/>
    </a:custClr>
    <a:custClr name="Ockerrot 40%">
      <a:srgbClr val="F1BFA9"/>
    </a:custClr>
    <a:custClr name="Türkis 40%">
      <a:srgbClr val="ABCEC2"/>
    </a:custClr>
    <a:custClr name="Flaschengrün 40%">
      <a:srgbClr val="ABCEC2"/>
    </a:custClr>
    <a:custClr name="Lindengrün 40%">
      <a:srgbClr val="D5E9B7"/>
    </a:custClr>
    <a:custClr name="Warmgelb 40%">
      <a:srgbClr val="FDF3A8"/>
    </a:custClr>
    <a:custClr name="blank">
      <a:srgbClr val="FFFFFF"/>
    </a:custClr>
    <a:custClr name="blank">
      <a:srgbClr val="FFFFFF"/>
    </a:custClr>
    <a:custClr name="blank">
      <a:srgbClr val="FFFFFF"/>
    </a:custClr>
    <a:custClr name="Blau 20%">
      <a:srgbClr val="CCD4ED"/>
    </a:custClr>
    <a:custClr name="Grau 20%">
      <a:srgbClr val="EDEFF1"/>
    </a:custClr>
    <a:custClr name="Ockerrot 20%">
      <a:srgbClr val="F8DFD4"/>
    </a:custClr>
    <a:custClr name="Türkis 20%">
      <a:srgbClr val="CFE8EC"/>
    </a:custClr>
    <a:custClr name="Flaschengrün 20%">
      <a:srgbClr val="D5E7E1"/>
    </a:custClr>
    <a:custClr name="Lindengrün 20%">
      <a:srgbClr val="EAF4DB"/>
    </a:custClr>
    <a:custClr name="Warmgelb 20%">
      <a:srgbClr val="FEF9D3"/>
    </a:custClr>
    <a:custClr name="blank">
      <a:srgbClr val="FFFFFF"/>
    </a:custClr>
    <a:custClr name="blank">
      <a:srgbClr val="FFFFFF"/>
    </a:custClr>
    <a:custClr name="blank">
      <a:srgbClr val="FFFFFF"/>
    </a:custClr>
  </a:custClrLst>
  <a:extLst>
    <a:ext uri="{05A4C25C-085E-4340-85A3-A5531E510DB2}">
      <thm15:themeFamily xmlns:thm15="http://schemas.microsoft.com/office/thememl/2012/main" name="uzh_praesentation_e.potx" id="{749176B2-8F2A-4342-A048-60BED46E758F}" vid="{432F7B11-0F4C-4FE0-A45B-1D1A5AE252E3}"/>
    </a:ext>
  </a:extLst>
</a:theme>
</file>

<file path=ppt/theme/theme2.xml><?xml version="1.0" encoding="utf-8"?>
<a:theme xmlns:a="http://schemas.openxmlformats.org/drawingml/2006/main" name="Office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LexicalCohort</Template>
  <TotalTime>0</TotalTime>
  <Words>1075</Words>
  <Application>Microsoft Office PowerPoint</Application>
  <PresentationFormat>Grand écran</PresentationFormat>
  <Paragraphs>185</Paragraphs>
  <Slides>43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43</vt:i4>
      </vt:variant>
    </vt:vector>
  </HeadingPairs>
  <TitlesOfParts>
    <vt:vector size="46" baseType="lpstr">
      <vt:lpstr>Arial</vt:lpstr>
      <vt:lpstr>Cambria Math</vt:lpstr>
      <vt:lpstr>UZH</vt:lpstr>
      <vt:lpstr>The psychology of language – E578</vt:lpstr>
      <vt:lpstr>Table of Contents </vt:lpstr>
      <vt:lpstr>Experimental design</vt:lpstr>
      <vt:lpstr>Experimental design</vt:lpstr>
      <vt:lpstr>Experimental design</vt:lpstr>
      <vt:lpstr>Experimental design</vt:lpstr>
      <vt:lpstr>Experimental design</vt:lpstr>
      <vt:lpstr>Présentation PowerPoint</vt:lpstr>
      <vt:lpstr>Présentation PowerPoint</vt:lpstr>
      <vt:lpstr>Experimental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psychology of language – E578</dc:title>
  <dc:subject/>
  <dc:creator>Benjamin Kowialiewski</dc:creator>
  <cp:keywords/>
  <dc:description>Vorlage uzh_praesentationen_16:9_e MSO2016 v3 11.02.2016</dc:description>
  <cp:lastModifiedBy>Benjamin Kowialiewski</cp:lastModifiedBy>
  <cp:revision>345</cp:revision>
  <dcterms:created xsi:type="dcterms:W3CDTF">2022-08-10T08:27:30Z</dcterms:created>
  <dcterms:modified xsi:type="dcterms:W3CDTF">2023-03-06T11:14:04Z</dcterms:modified>
  <cp:category/>
</cp:coreProperties>
</file>