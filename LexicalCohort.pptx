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9" r:id="rId4"/>
    <p:sldId id="287" r:id="rId5"/>
    <p:sldId id="263" r:id="rId6"/>
    <p:sldId id="267" r:id="rId7"/>
    <p:sldId id="268" r:id="rId8"/>
    <p:sldId id="271" r:id="rId9"/>
    <p:sldId id="270" r:id="rId10"/>
    <p:sldId id="258" r:id="rId11"/>
    <p:sldId id="262" r:id="rId12"/>
    <p:sldId id="265" r:id="rId13"/>
    <p:sldId id="266" r:id="rId14"/>
    <p:sldId id="273" r:id="rId15"/>
    <p:sldId id="274" r:id="rId16"/>
    <p:sldId id="272" r:id="rId17"/>
    <p:sldId id="288" r:id="rId18"/>
    <p:sldId id="276" r:id="rId19"/>
    <p:sldId id="277" r:id="rId20"/>
    <p:sldId id="278" r:id="rId21"/>
    <p:sldId id="279" r:id="rId22"/>
    <p:sldId id="280" r:id="rId23"/>
    <p:sldId id="281" r:id="rId24"/>
    <p:sldId id="284" r:id="rId25"/>
    <p:sldId id="282" r:id="rId26"/>
    <p:sldId id="283" r:id="rId27"/>
    <p:sldId id="275" r:id="rId28"/>
    <p:sldId id="285" r:id="rId29"/>
    <p:sldId id="286" r:id="rId30"/>
  </p:sldIdLst>
  <p:sldSz cx="12192000" cy="6858000"/>
  <p:notesSz cx="6400800" cy="8686800"/>
  <p:defaultTextStyle>
    <a:defPPr>
      <a:defRPr lang="de-CH"/>
    </a:defPPr>
    <a:lvl1pPr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31" userDrawn="1">
          <p15:clr>
            <a:srgbClr val="A4A3A4"/>
          </p15:clr>
        </p15:guide>
        <p15:guide id="8" pos="4861" userDrawn="1">
          <p15:clr>
            <a:srgbClr val="A4A3A4"/>
          </p15:clr>
        </p15:guide>
        <p15:guide id="9" pos="5065" userDrawn="1">
          <p15:clr>
            <a:srgbClr val="A4A3A4"/>
          </p15:clr>
        </p15:guide>
        <p15:guide id="10" pos="7106" userDrawn="1">
          <p15:clr>
            <a:srgbClr val="A4A3A4"/>
          </p15:clr>
        </p15:guide>
        <p15:guide id="11" pos="2819" userDrawn="1">
          <p15:clr>
            <a:srgbClr val="A4A3A4"/>
          </p15:clr>
        </p15:guide>
        <p15:guide id="12" pos="2615" userDrawn="1">
          <p15:clr>
            <a:srgbClr val="A4A3A4"/>
          </p15:clr>
        </p15:guide>
        <p15:guide id="13" pos="574" userDrawn="1">
          <p15:clr>
            <a:srgbClr val="A4A3A4"/>
          </p15:clr>
        </p15:guide>
        <p15:guide id="14" orient="horz" pos="799" userDrawn="1">
          <p15:clr>
            <a:srgbClr val="A4A3A4"/>
          </p15:clr>
        </p15:guide>
        <p15:guide id="15" orient="horz" pos="7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A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Objects="1">
      <p:cViewPr varScale="1">
        <p:scale>
          <a:sx n="58" d="100"/>
          <a:sy n="58" d="100"/>
        </p:scale>
        <p:origin x="1024" y="52"/>
      </p:cViewPr>
      <p:guideLst>
        <p:guide orient="horz" pos="709"/>
        <p:guide orient="horz" pos="1389"/>
        <p:guide orient="horz" pos="3838"/>
        <p:guide pos="3840"/>
        <p:guide pos="3727"/>
        <p:guide pos="3931"/>
        <p:guide pos="4861"/>
        <p:guide pos="5065"/>
        <p:guide pos="7106"/>
        <p:guide pos="2819"/>
        <p:guide pos="2615"/>
        <p:guide pos="574"/>
        <p:guide orient="horz" pos="799"/>
        <p:guide orient="horz" pos="7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585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endParaRPr lang="de-CH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975" y="652463"/>
            <a:ext cx="5786438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9763" y="4125913"/>
            <a:ext cx="5121275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585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fld id="{54E7F490-E965-9B42-AE49-DA4BC6E663B1}" type="slidenum">
              <a:rPr lang="de-CH"/>
              <a:pPr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84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7F490-E965-9B42-AE49-DA4BC6E663B1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055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1225" y="1989138"/>
            <a:ext cx="10369550" cy="1295400"/>
          </a:xfrm>
        </p:spPr>
        <p:txBody>
          <a:bodyPr/>
          <a:lstStyle>
            <a:lvl1pPr>
              <a:defRPr sz="3900"/>
            </a:lvl1pPr>
          </a:lstStyle>
          <a:p>
            <a:pPr lvl="0"/>
            <a:r>
              <a:rPr lang="fr-FR" noProof="0"/>
              <a:t>Modifiez le style du titre</a:t>
            </a:r>
            <a:endParaRPr 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429000"/>
            <a:ext cx="10369550" cy="175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Modifiez le style des sous-titres du masque</a:t>
            </a:r>
            <a:endParaRPr lang="en-US" noProof="0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B00D-2B0B-4FA2-A258-E1F4E7D9041F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9FCC3B"/>
          </p15:clr>
        </p15:guide>
        <p15:guide id="2" orient="horz" pos="2160" userDrawn="1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white">
          <a:xfrm>
            <a:off x="0" y="1125538"/>
            <a:ext cx="12192000" cy="5732462"/>
          </a:xfrm>
          <a:prstGeom prst="rect">
            <a:avLst/>
          </a:prstGeom>
          <a:solidFill>
            <a:srgbClr val="A3AD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1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11BC-6152-4315-B33F-C80A8FBDF65E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4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5" y="2205039"/>
            <a:ext cx="5005388" cy="38877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291040" y="2205039"/>
            <a:ext cx="5005388" cy="38877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06E3A2-04B2-4DD3-AAA1-A42AE5838B79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A807-0C67-4BAF-BFE8-143988B7864A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64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>
          <a:xfrm>
            <a:off x="192089" y="188912"/>
            <a:ext cx="11807824" cy="648017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8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" userDrawn="1">
          <p15:clr>
            <a:srgbClr val="9FCC3B"/>
          </p15:clr>
        </p15:guide>
        <p15:guide id="2" pos="7559" userDrawn="1">
          <p15:clr>
            <a:srgbClr val="9FCC3B"/>
          </p15:clr>
        </p15:guide>
        <p15:guide id="3" orient="horz" pos="119" userDrawn="1">
          <p15:clr>
            <a:srgbClr val="9FCC3B"/>
          </p15:clr>
        </p15:guide>
        <p15:guide id="4" orient="horz" pos="4201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9531-9C51-4B7E-993F-41DB8F023600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2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uzh_logo_e_pos_grau_1mm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4" y="142875"/>
            <a:ext cx="2027238" cy="6842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1225" y="1268414"/>
            <a:ext cx="10369550" cy="792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2205039"/>
            <a:ext cx="10369550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1225" y="6524625"/>
            <a:ext cx="1246716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A456F339-3D89-431B-B52C-DECFFB55CC5F}" type="datetime1">
              <a:rPr lang="en-US" smtClean="0"/>
              <a:t>2/27/2023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5308" y="6524625"/>
            <a:ext cx="7008284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52484" y="6524625"/>
            <a:ext cx="828291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r>
              <a:rPr lang="en-US" dirty="0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0" y="1125538"/>
            <a:ext cx="12192000" cy="0"/>
          </a:xfrm>
          <a:prstGeom prst="line">
            <a:avLst/>
          </a:prstGeom>
          <a:noFill/>
          <a:ln w="15875">
            <a:solidFill>
              <a:srgbClr val="A3ADB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0" dirty="0"/>
          </a:p>
        </p:txBody>
      </p:sp>
      <p:sp>
        <p:nvSpPr>
          <p:cNvPr id="11" name="Text Box 9"/>
          <p:cNvSpPr txBox="1">
            <a:spLocks noChangeArrowheads="1"/>
          </p:cNvSpPr>
          <p:nvPr userDrawn="1"/>
        </p:nvSpPr>
        <p:spPr bwMode="auto">
          <a:xfrm>
            <a:off x="911225" y="852488"/>
            <a:ext cx="7332663" cy="22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36000" rIns="0" bIns="0"/>
          <a:lstStyle/>
          <a:p>
            <a:pPr>
              <a:spcBef>
                <a:spcPct val="50000"/>
              </a:spcBef>
            </a:pPr>
            <a:r>
              <a:rPr lang="en-US" sz="1400" b="1"/>
              <a:t>Cognitive psychology</a:t>
            </a:r>
            <a:endParaRPr lang="en-US" sz="14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4" r:id="rId5"/>
    <p:sldLayoutId id="2147483658" r:id="rId6"/>
    <p:sldLayoutId id="2147483655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A5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42000" indent="-342000" algn="l" rtl="0" eaLnBrk="1" fontAlgn="base" hangingPunct="1">
        <a:spcBef>
          <a:spcPct val="40000"/>
        </a:spcBef>
        <a:spcAft>
          <a:spcPct val="0"/>
        </a:spcAft>
        <a:buFont typeface="Arial" panose="020B0604020202020204" pitchFamily="34" charset="0"/>
        <a:buChar char="–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684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2pPr>
      <a:lvl3pPr marL="1026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3pPr>
      <a:lvl4pPr marL="1368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4pPr>
      <a:lvl5pPr marL="1710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5pPr>
      <a:lvl6pPr marL="18954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6pPr>
      <a:lvl7pPr marL="23526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7pPr>
      <a:lvl8pPr marL="28098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8pPr>
      <a:lvl9pPr marL="32670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4" userDrawn="1">
          <p15:clr>
            <a:srgbClr val="F26B43"/>
          </p15:clr>
        </p15:guide>
        <p15:guide id="2" pos="7106" userDrawn="1">
          <p15:clr>
            <a:srgbClr val="F26B43"/>
          </p15:clr>
        </p15:guide>
        <p15:guide id="3" orient="horz" pos="1389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3953" userDrawn="1">
          <p15:clr>
            <a:srgbClr val="5ACBF0"/>
          </p15:clr>
        </p15:guide>
        <p15:guide id="8" pos="3727" userDrawn="1">
          <p15:clr>
            <a:srgbClr val="5ACBF0"/>
          </p15:clr>
        </p15:guide>
        <p15:guide id="9" pos="2615" userDrawn="1">
          <p15:clr>
            <a:srgbClr val="5ACBF0"/>
          </p15:clr>
        </p15:guide>
        <p15:guide id="10" pos="2819" userDrawn="1">
          <p15:clr>
            <a:srgbClr val="5ACBF0"/>
          </p15:clr>
        </p15:guide>
        <p15:guide id="11" pos="4861" userDrawn="1">
          <p15:clr>
            <a:srgbClr val="5ACBF0"/>
          </p15:clr>
        </p15:guide>
        <p15:guide id="12" pos="5065" userDrawn="1">
          <p15:clr>
            <a:srgbClr val="5ACBF0"/>
          </p15:clr>
        </p15:guide>
        <p15:guide id="13" orient="horz" pos="709" userDrawn="1">
          <p15:clr>
            <a:srgbClr val="F26B43"/>
          </p15:clr>
        </p15:guide>
        <p15:guide id="14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psychology of language – E578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lexical cohort effect</a:t>
            </a:r>
          </a:p>
          <a:p>
            <a:r>
              <a:rPr lang="en-US" dirty="0"/>
              <a:t>Dr. Benjamin Kowialiewski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nonword point</a:t>
            </a:r>
          </a:p>
          <a:p>
            <a:r>
              <a:rPr lang="en-US" dirty="0"/>
              <a:t>Differences between words and nonwords</a:t>
            </a:r>
          </a:p>
          <a:p>
            <a:r>
              <a:rPr lang="en-US" dirty="0"/>
              <a:t>The lexical cohort effect</a:t>
            </a:r>
          </a:p>
          <a:p>
            <a:r>
              <a:rPr lang="en-US" dirty="0"/>
              <a:t>Spoken word recognition in context</a:t>
            </a:r>
          </a:p>
          <a:p>
            <a:r>
              <a:rPr lang="en-US" dirty="0"/>
              <a:t>Implications for models of language processing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DDFFE4E-1EA7-4C45-AF6A-08F136A0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3213001"/>
            <a:ext cx="10081319" cy="431997"/>
          </a:xfrm>
        </p:spPr>
        <p:txBody>
          <a:bodyPr/>
          <a:lstStyle/>
          <a:p>
            <a:pPr marL="0" indent="0">
              <a:buNone/>
            </a:pPr>
            <a:r>
              <a:rPr lang="fr-BE" b="1" dirty="0"/>
              <a:t>Important notion: </a:t>
            </a:r>
            <a:r>
              <a:rPr lang="fr-BE" dirty="0" err="1"/>
              <a:t>Spoken</a:t>
            </a:r>
            <a:r>
              <a:rPr lang="fr-BE" dirty="0"/>
              <a:t> </a:t>
            </a:r>
            <a:r>
              <a:rPr lang="fr-BE" dirty="0" err="1"/>
              <a:t>language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fundamentally</a:t>
            </a:r>
            <a:r>
              <a:rPr lang="fr-BE" dirty="0"/>
              <a:t> </a:t>
            </a:r>
            <a:r>
              <a:rPr lang="fr-BE" dirty="0" err="1"/>
              <a:t>sequential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480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decision time and nonword point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DDFFE4E-1EA7-4C45-AF6A-08F136A0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3213001"/>
            <a:ext cx="10081319" cy="431997"/>
          </a:xfrm>
        </p:spPr>
        <p:txBody>
          <a:bodyPr/>
          <a:lstStyle/>
          <a:p>
            <a:pPr marL="0" indent="0">
              <a:buNone/>
            </a:pPr>
            <a:r>
              <a:rPr lang="fr-BE" b="1" dirty="0"/>
              <a:t>N</a:t>
            </a:r>
            <a:r>
              <a:rPr lang="de-CH" b="1" dirty="0" err="1"/>
              <a:t>onword</a:t>
            </a:r>
            <a:r>
              <a:rPr lang="de-CH" b="1" dirty="0"/>
              <a:t> </a:t>
            </a:r>
            <a:r>
              <a:rPr lang="de-CH" b="1" dirty="0" err="1"/>
              <a:t>point</a:t>
            </a:r>
            <a:r>
              <a:rPr lang="de-CH" dirty="0"/>
              <a:t>: </a:t>
            </a:r>
            <a:r>
              <a:rPr lang="de-CH" dirty="0" err="1"/>
              <a:t>the</a:t>
            </a:r>
            <a:r>
              <a:rPr lang="de-CH" dirty="0"/>
              <a:t> temporal </a:t>
            </a:r>
            <a:r>
              <a:rPr lang="de-CH" dirty="0" err="1"/>
              <a:t>point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which</a:t>
            </a:r>
            <a:r>
              <a:rPr lang="de-CH" dirty="0"/>
              <a:t> an item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unambiguously</a:t>
            </a:r>
            <a:r>
              <a:rPr lang="de-CH" dirty="0"/>
              <a:t> </a:t>
            </a:r>
            <a:r>
              <a:rPr lang="de-CH" dirty="0" err="1"/>
              <a:t>recognized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nonword</a:t>
            </a:r>
            <a:r>
              <a:rPr lang="de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193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decision time and nonword point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5" y="2056110"/>
            <a:ext cx="3744615" cy="4037186"/>
          </a:xfrm>
        </p:spPr>
        <p:txBody>
          <a:bodyPr numCol="2"/>
          <a:lstStyle/>
          <a:p>
            <a:pPr marL="0" indent="0">
              <a:buNone/>
            </a:pPr>
            <a:r>
              <a:rPr lang="en-US" dirty="0"/>
              <a:t>Treacherous</a:t>
            </a:r>
          </a:p>
          <a:p>
            <a:pPr marL="0" indent="0">
              <a:buNone/>
            </a:pPr>
            <a:r>
              <a:rPr lang="en-US" dirty="0"/>
              <a:t>Treachery</a:t>
            </a:r>
          </a:p>
          <a:p>
            <a:pPr marL="0" indent="0">
              <a:buNone/>
            </a:pPr>
            <a:r>
              <a:rPr lang="en-US" dirty="0"/>
              <a:t>Tread</a:t>
            </a:r>
          </a:p>
          <a:p>
            <a:pPr marL="0" indent="0">
              <a:buNone/>
            </a:pPr>
            <a:r>
              <a:rPr lang="en-US" dirty="0"/>
              <a:t>Treadle</a:t>
            </a:r>
          </a:p>
          <a:p>
            <a:pPr marL="0" indent="0">
              <a:buNone/>
            </a:pPr>
            <a:r>
              <a:rPr lang="en-US" dirty="0"/>
              <a:t>Treadmill</a:t>
            </a:r>
          </a:p>
          <a:p>
            <a:pPr marL="0" indent="0">
              <a:buNone/>
            </a:pPr>
            <a:r>
              <a:rPr lang="en-US" dirty="0"/>
              <a:t>Treasure</a:t>
            </a:r>
          </a:p>
          <a:p>
            <a:pPr marL="0" indent="0">
              <a:buNone/>
            </a:pPr>
            <a:r>
              <a:rPr lang="en-US" dirty="0"/>
              <a:t>Treasury</a:t>
            </a:r>
          </a:p>
          <a:p>
            <a:pPr marL="0" indent="0">
              <a:buNone/>
            </a:pPr>
            <a:r>
              <a:rPr lang="en-US" dirty="0"/>
              <a:t>Treble</a:t>
            </a:r>
          </a:p>
          <a:p>
            <a:pPr marL="0" indent="0">
              <a:buNone/>
            </a:pPr>
            <a:r>
              <a:rPr lang="en-US" dirty="0"/>
              <a:t>Trek</a:t>
            </a:r>
          </a:p>
          <a:p>
            <a:pPr marL="0" indent="0">
              <a:buNone/>
            </a:pPr>
            <a:r>
              <a:rPr lang="en-US" dirty="0"/>
              <a:t>Trellis</a:t>
            </a:r>
          </a:p>
          <a:p>
            <a:pPr marL="0" indent="0">
              <a:buNone/>
            </a:pPr>
            <a:r>
              <a:rPr lang="en-US" dirty="0"/>
              <a:t>Tremble</a:t>
            </a:r>
          </a:p>
          <a:p>
            <a:pPr marL="0" indent="0">
              <a:buNone/>
            </a:pPr>
            <a:r>
              <a:rPr lang="en-US" dirty="0"/>
              <a:t>Tremolo</a:t>
            </a:r>
          </a:p>
          <a:p>
            <a:pPr marL="0" indent="0">
              <a:buNone/>
            </a:pPr>
            <a:r>
              <a:rPr lang="en-US" dirty="0"/>
              <a:t>Tremor</a:t>
            </a:r>
          </a:p>
          <a:p>
            <a:pPr marL="0" indent="0">
              <a:buNone/>
            </a:pPr>
            <a:r>
              <a:rPr lang="en-US" dirty="0"/>
              <a:t>Tremulous</a:t>
            </a:r>
          </a:p>
          <a:p>
            <a:pPr marL="0" indent="0">
              <a:buNone/>
            </a:pPr>
            <a:r>
              <a:rPr lang="en-US" dirty="0"/>
              <a:t>Trench</a:t>
            </a:r>
          </a:p>
          <a:p>
            <a:pPr marL="0" indent="0">
              <a:buNone/>
            </a:pPr>
            <a:r>
              <a:rPr lang="en-US" dirty="0"/>
              <a:t>Trenchant</a:t>
            </a:r>
          </a:p>
          <a:p>
            <a:pPr marL="0" indent="0">
              <a:buNone/>
            </a:pPr>
            <a:r>
              <a:rPr lang="en-US" dirty="0"/>
              <a:t>Trend</a:t>
            </a:r>
          </a:p>
          <a:p>
            <a:pPr marL="0" indent="0">
              <a:buNone/>
            </a:pPr>
            <a:r>
              <a:rPr lang="en-US" dirty="0"/>
              <a:t>Trepidation</a:t>
            </a:r>
          </a:p>
          <a:p>
            <a:pPr marL="0" indent="0">
              <a:buNone/>
            </a:pPr>
            <a:r>
              <a:rPr lang="en-US" dirty="0"/>
              <a:t>Trespass</a:t>
            </a:r>
          </a:p>
          <a:p>
            <a:pPr marL="0" indent="0">
              <a:buNone/>
            </a:pPr>
            <a:r>
              <a:rPr lang="en-US" dirty="0"/>
              <a:t>Tress</a:t>
            </a:r>
          </a:p>
          <a:p>
            <a:pPr marL="0" indent="0">
              <a:buNone/>
            </a:pPr>
            <a:r>
              <a:rPr lang="en-US" dirty="0"/>
              <a:t>Trestle</a:t>
            </a:r>
          </a:p>
          <a:p>
            <a:pPr marL="0" indent="0">
              <a:buNone/>
            </a:pPr>
            <a:r>
              <a:rPr lang="en-US" dirty="0"/>
              <a:t>…?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B266338-D11F-4D06-8EF1-63DE29FCACDB}"/>
              </a:ext>
            </a:extLst>
          </p:cNvPr>
          <p:cNvSpPr txBox="1"/>
          <p:nvPr/>
        </p:nvSpPr>
        <p:spPr>
          <a:xfrm>
            <a:off x="6600056" y="2780928"/>
            <a:ext cx="265406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/>
              <a:t>Late</a:t>
            </a:r>
            <a:r>
              <a:rPr lang="fr-BE" b="1" dirty="0"/>
              <a:t> </a:t>
            </a:r>
            <a:r>
              <a:rPr lang="fr-BE" b="1" dirty="0" err="1"/>
              <a:t>nonword</a:t>
            </a:r>
            <a:r>
              <a:rPr lang="fr-BE" b="1" dirty="0"/>
              <a:t> point:</a:t>
            </a:r>
          </a:p>
          <a:p>
            <a:r>
              <a:rPr lang="fr-BE" dirty="0" err="1"/>
              <a:t>Tremulous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>
                <a:sym typeface="Wingdings" panose="05000000000000000000" pitchFamily="2" charset="2"/>
              </a:rPr>
              <a:t>Tremu</a:t>
            </a:r>
            <a:r>
              <a:rPr lang="fr-BE" dirty="0" err="1">
                <a:solidFill>
                  <a:srgbClr val="FF0000"/>
                </a:solidFill>
                <a:sym typeface="Wingdings" panose="05000000000000000000" pitchFamily="2" charset="2"/>
              </a:rPr>
              <a:t>d</a:t>
            </a:r>
            <a:r>
              <a:rPr lang="fr-BE" dirty="0" err="1">
                <a:sym typeface="Wingdings" panose="05000000000000000000" pitchFamily="2" charset="2"/>
              </a:rPr>
              <a:t>ous</a:t>
            </a:r>
            <a:endParaRPr lang="fr-BE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C21B67-02D3-4733-AAFB-5C7A7E609BEA}"/>
              </a:ext>
            </a:extLst>
          </p:cNvPr>
          <p:cNvSpPr txBox="1"/>
          <p:nvPr/>
        </p:nvSpPr>
        <p:spPr>
          <a:xfrm>
            <a:off x="6600056" y="3761822"/>
            <a:ext cx="301640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/>
              <a:t>Early</a:t>
            </a:r>
            <a:r>
              <a:rPr lang="fr-BE" b="1" dirty="0"/>
              <a:t> </a:t>
            </a:r>
            <a:r>
              <a:rPr lang="fr-BE" b="1" dirty="0" err="1"/>
              <a:t>nonword</a:t>
            </a:r>
            <a:r>
              <a:rPr lang="fr-BE" b="1" dirty="0"/>
              <a:t> point:</a:t>
            </a:r>
          </a:p>
          <a:p>
            <a:r>
              <a:rPr lang="fr-BE" dirty="0" err="1"/>
              <a:t>Treacherous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/>
              <a:t>T</a:t>
            </a:r>
            <a:r>
              <a:rPr lang="fr-BE" dirty="0" err="1">
                <a:solidFill>
                  <a:srgbClr val="FF0000"/>
                </a:solidFill>
              </a:rPr>
              <a:t>v</a:t>
            </a:r>
            <a:r>
              <a:rPr lang="fr-BE" dirty="0" err="1"/>
              <a:t>eacherous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7473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917770D-ED8A-4E67-86BB-EDE7BF992067}"/>
              </a:ext>
            </a:extLst>
          </p:cNvPr>
          <p:cNvSpPr txBox="1"/>
          <p:nvPr/>
        </p:nvSpPr>
        <p:spPr>
          <a:xfrm>
            <a:off x="5087888" y="227687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/</a:t>
            </a:r>
            <a:r>
              <a:rPr lang="en-US" sz="4000" dirty="0" err="1"/>
              <a:t>Tremu</a:t>
            </a:r>
            <a:r>
              <a:rPr lang="en-US" sz="4000" dirty="0" err="1">
                <a:solidFill>
                  <a:srgbClr val="FF0000"/>
                </a:solidFill>
              </a:rPr>
              <a:t>d</a:t>
            </a:r>
            <a:r>
              <a:rPr lang="en-US" sz="4000" dirty="0" err="1"/>
              <a:t>ous</a:t>
            </a:r>
            <a:r>
              <a:rPr lang="en-US" sz="4000" dirty="0"/>
              <a:t>/</a:t>
            </a:r>
            <a:endParaRPr lang="de-CH" sz="40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37BEC82-736B-4A93-82CA-09582FAC4EB2}"/>
              </a:ext>
            </a:extLst>
          </p:cNvPr>
          <p:cNvCxnSpPr/>
          <p:nvPr/>
        </p:nvCxnSpPr>
        <p:spPr bwMode="auto">
          <a:xfrm>
            <a:off x="1919536" y="3645024"/>
            <a:ext cx="856895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B8B4F277-5043-4D69-9DF5-318C4F31ED21}"/>
              </a:ext>
            </a:extLst>
          </p:cNvPr>
          <p:cNvSpPr txBox="1"/>
          <p:nvPr/>
        </p:nvSpPr>
        <p:spPr>
          <a:xfrm>
            <a:off x="1991544" y="3769971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32ED8F1-738B-4BFA-82B0-D800E56E2C9F}"/>
              </a:ext>
            </a:extLst>
          </p:cNvPr>
          <p:cNvCxnSpPr/>
          <p:nvPr/>
        </p:nvCxnSpPr>
        <p:spPr bwMode="auto">
          <a:xfrm>
            <a:off x="5087888" y="1988622"/>
            <a:ext cx="0" cy="23042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6EE9865-687C-4F17-AAC3-DF65A14BF59E}"/>
              </a:ext>
            </a:extLst>
          </p:cNvPr>
          <p:cNvSpPr txBox="1"/>
          <p:nvPr/>
        </p:nvSpPr>
        <p:spPr>
          <a:xfrm>
            <a:off x="4204473" y="4404156"/>
            <a:ext cx="17668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Sequence</a:t>
            </a:r>
            <a:r>
              <a:rPr lang="fr-BE" dirty="0"/>
              <a:t> </a:t>
            </a:r>
            <a:r>
              <a:rPr lang="fr-BE" dirty="0" err="1"/>
              <a:t>onset</a:t>
            </a:r>
            <a:endParaRPr lang="de-CH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7510AD7-7728-4D47-A1DF-40C7071D1AD7}"/>
              </a:ext>
            </a:extLst>
          </p:cNvPr>
          <p:cNvCxnSpPr/>
          <p:nvPr/>
        </p:nvCxnSpPr>
        <p:spPr bwMode="auto">
          <a:xfrm>
            <a:off x="8477859" y="1988622"/>
            <a:ext cx="0" cy="23042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A924FC5-11E9-452F-8718-509818601747}"/>
              </a:ext>
            </a:extLst>
          </p:cNvPr>
          <p:cNvSpPr txBox="1"/>
          <p:nvPr/>
        </p:nvSpPr>
        <p:spPr>
          <a:xfrm>
            <a:off x="7464152" y="4404155"/>
            <a:ext cx="202741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Subject’s</a:t>
            </a:r>
            <a:r>
              <a:rPr lang="fr-BE" dirty="0"/>
              <a:t> </a:t>
            </a:r>
            <a:r>
              <a:rPr lang="fr-BE" dirty="0" err="1"/>
              <a:t>response</a:t>
            </a:r>
            <a:endParaRPr lang="de-CH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12A4E062-432B-4A3A-813F-74CE9FEBBB0E}"/>
              </a:ext>
            </a:extLst>
          </p:cNvPr>
          <p:cNvCxnSpPr>
            <a:cxnSpLocks/>
          </p:cNvCxnSpPr>
          <p:nvPr/>
        </p:nvCxnSpPr>
        <p:spPr bwMode="auto">
          <a:xfrm>
            <a:off x="5375920" y="3946942"/>
            <a:ext cx="288032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20D9244-304E-48A6-84AE-D02D1C260BBE}"/>
              </a:ext>
            </a:extLst>
          </p:cNvPr>
          <p:cNvCxnSpPr>
            <a:cxnSpLocks/>
          </p:cNvCxnSpPr>
          <p:nvPr/>
        </p:nvCxnSpPr>
        <p:spPr bwMode="auto">
          <a:xfrm>
            <a:off x="6888088" y="1988840"/>
            <a:ext cx="0" cy="18004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AAC7F4A-7D2A-4ABE-A434-8E9A76A28671}"/>
              </a:ext>
            </a:extLst>
          </p:cNvPr>
          <p:cNvCxnSpPr>
            <a:cxnSpLocks/>
          </p:cNvCxnSpPr>
          <p:nvPr/>
        </p:nvCxnSpPr>
        <p:spPr bwMode="auto">
          <a:xfrm>
            <a:off x="5179785" y="2132856"/>
            <a:ext cx="164121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31E95EB-F923-498D-8925-6FA2065DD181}"/>
              </a:ext>
            </a:extLst>
          </p:cNvPr>
          <p:cNvSpPr txBox="1"/>
          <p:nvPr/>
        </p:nvSpPr>
        <p:spPr>
          <a:xfrm>
            <a:off x="5875210" y="1439634"/>
            <a:ext cx="159370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Nonword</a:t>
            </a:r>
            <a:r>
              <a:rPr lang="fr-BE" dirty="0"/>
              <a:t> point</a:t>
            </a:r>
            <a:endParaRPr lang="de-CH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671CE7-F2F4-4098-9323-A9D4EEBFA09F}"/>
              </a:ext>
            </a:extLst>
          </p:cNvPr>
          <p:cNvSpPr txBox="1"/>
          <p:nvPr/>
        </p:nvSpPr>
        <p:spPr>
          <a:xfrm>
            <a:off x="6722818" y="3941414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A</a:t>
            </a:r>
            <a:endParaRPr lang="de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8D30085-6F4C-407D-B769-8A5A38FFCCC1}"/>
              </a:ext>
            </a:extLst>
          </p:cNvPr>
          <p:cNvSpPr txBox="1"/>
          <p:nvPr/>
        </p:nvSpPr>
        <p:spPr>
          <a:xfrm>
            <a:off x="5951984" y="2120835"/>
            <a:ext cx="3305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B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0255F71-D796-488D-9E90-C5117A5F26FA}"/>
              </a:ext>
            </a:extLst>
          </p:cNvPr>
          <p:cNvSpPr txBox="1"/>
          <p:nvPr/>
        </p:nvSpPr>
        <p:spPr>
          <a:xfrm>
            <a:off x="1775520" y="5113337"/>
            <a:ext cx="42746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A = </a:t>
            </a:r>
            <a:r>
              <a:rPr lang="fr-BE" dirty="0" err="1"/>
              <a:t>Dependent</a:t>
            </a:r>
            <a:r>
              <a:rPr lang="fr-BE" dirty="0"/>
              <a:t> variable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>
                <a:sym typeface="Wingdings" panose="05000000000000000000" pitchFamily="2" charset="2"/>
              </a:rPr>
              <a:t>Response</a:t>
            </a:r>
            <a:r>
              <a:rPr lang="fr-BE" dirty="0">
                <a:sym typeface="Wingdings" panose="05000000000000000000" pitchFamily="2" charset="2"/>
              </a:rPr>
              <a:t> time</a:t>
            </a:r>
            <a:endParaRPr lang="fr-BE" dirty="0"/>
          </a:p>
          <a:p>
            <a:r>
              <a:rPr lang="fr-BE" dirty="0"/>
              <a:t>B = Independent variable</a:t>
            </a:r>
            <a:endParaRPr lang="de-CH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E11CDA4-1D9C-4ABB-A121-F19CB247854E}"/>
              </a:ext>
            </a:extLst>
          </p:cNvPr>
          <p:cNvSpPr txBox="1"/>
          <p:nvPr/>
        </p:nvSpPr>
        <p:spPr>
          <a:xfrm>
            <a:off x="695400" y="515724"/>
            <a:ext cx="94034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/>
              <a:t>Task</a:t>
            </a:r>
            <a:r>
              <a:rPr lang="fr-BE" dirty="0"/>
              <a:t>: </a:t>
            </a:r>
            <a:r>
              <a:rPr lang="fr-BE" dirty="0" err="1"/>
              <a:t>Identify</a:t>
            </a:r>
            <a:r>
              <a:rPr lang="fr-BE" dirty="0"/>
              <a:t> </a:t>
            </a:r>
            <a:r>
              <a:rPr lang="fr-BE" dirty="0" err="1"/>
              <a:t>whether</a:t>
            </a:r>
            <a:r>
              <a:rPr lang="fr-BE" dirty="0"/>
              <a:t> the speech input </a:t>
            </a:r>
            <a:r>
              <a:rPr lang="fr-BE" dirty="0" err="1"/>
              <a:t>is</a:t>
            </a:r>
            <a:r>
              <a:rPr lang="fr-BE" dirty="0"/>
              <a:t> a </a:t>
            </a:r>
            <a:r>
              <a:rPr lang="fr-BE" dirty="0" err="1"/>
              <a:t>word</a:t>
            </a:r>
            <a:r>
              <a:rPr lang="fr-BE" dirty="0"/>
              <a:t> or a </a:t>
            </a:r>
            <a:r>
              <a:rPr lang="fr-BE" dirty="0" err="1"/>
              <a:t>nonword</a:t>
            </a:r>
            <a:r>
              <a:rPr lang="fr-BE" dirty="0"/>
              <a:t> (i.e., lexical </a:t>
            </a:r>
            <a:r>
              <a:rPr lang="fr-BE" dirty="0" err="1"/>
              <a:t>decision</a:t>
            </a:r>
            <a:r>
              <a:rPr lang="fr-BE" dirty="0"/>
              <a:t>, key </a:t>
            </a:r>
            <a:r>
              <a:rPr lang="fr-BE" dirty="0" err="1"/>
              <a:t>press</a:t>
            </a:r>
            <a:r>
              <a:rPr lang="fr-BE" dirty="0"/>
              <a:t>).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7162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9" grpId="0"/>
      <p:bldP spid="12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761AB0A-D166-4302-9022-FE3AEDB23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980728"/>
            <a:ext cx="3919466" cy="515719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4145C39-9CBA-4714-BE02-9136AD2E72A7}"/>
              </a:ext>
            </a:extLst>
          </p:cNvPr>
          <p:cNvSpPr txBox="1"/>
          <p:nvPr/>
        </p:nvSpPr>
        <p:spPr>
          <a:xfrm>
            <a:off x="6062067" y="2060848"/>
            <a:ext cx="586658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Important </a:t>
            </a:r>
            <a:r>
              <a:rPr lang="fr-BE" b="1" dirty="0" err="1"/>
              <a:t>result</a:t>
            </a:r>
            <a:r>
              <a:rPr lang="fr-BE" b="1" dirty="0"/>
              <a:t>:</a:t>
            </a:r>
          </a:p>
          <a:p>
            <a:r>
              <a:rPr lang="fr-BE" dirty="0" err="1"/>
              <a:t>Nonword</a:t>
            </a:r>
            <a:r>
              <a:rPr lang="fr-BE" dirty="0"/>
              <a:t> identification slows down as the </a:t>
            </a:r>
            <a:r>
              <a:rPr lang="fr-BE" dirty="0" err="1"/>
              <a:t>nonword</a:t>
            </a:r>
            <a:r>
              <a:rPr lang="fr-BE" dirty="0"/>
              <a:t> point </a:t>
            </a:r>
            <a:r>
              <a:rPr lang="fr-BE" dirty="0" err="1"/>
              <a:t>increases</a:t>
            </a:r>
            <a:r>
              <a:rPr lang="fr-BE" dirty="0"/>
              <a:t>.</a:t>
            </a:r>
          </a:p>
          <a:p>
            <a:endParaRPr lang="fr-BE" dirty="0"/>
          </a:p>
          <a:p>
            <a:r>
              <a:rPr lang="fr-BE" dirty="0"/>
              <a:t>This </a:t>
            </a:r>
            <a:r>
              <a:rPr lang="fr-BE" dirty="0" err="1"/>
              <a:t>means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the </a:t>
            </a:r>
            <a:r>
              <a:rPr lang="fr-BE" dirty="0" err="1"/>
              <a:t>language</a:t>
            </a:r>
            <a:r>
              <a:rPr lang="fr-BE" dirty="0"/>
              <a:t> recognition system process the speech input </a:t>
            </a:r>
            <a:r>
              <a:rPr lang="fr-BE" dirty="0" err="1"/>
              <a:t>progressively</a:t>
            </a:r>
            <a:r>
              <a:rPr lang="fr-BE" dirty="0"/>
              <a:t> in the </a:t>
            </a:r>
            <a:r>
              <a:rPr lang="fr-BE" dirty="0" err="1"/>
              <a:t>sequence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1594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decision time and nonword point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E16EEA8-9DB8-476E-A7AD-D0A5C189E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1916832"/>
            <a:ext cx="9721280" cy="4608512"/>
          </a:xfrm>
        </p:spPr>
        <p:txBody>
          <a:bodyPr/>
          <a:lstStyle/>
          <a:p>
            <a:pPr marL="0" indent="0">
              <a:buNone/>
            </a:pPr>
            <a:r>
              <a:rPr lang="fr-BE" dirty="0" err="1">
                <a:sym typeface="Wingdings" panose="05000000000000000000" pitchFamily="2" charset="2"/>
              </a:rPr>
              <a:t>We</a:t>
            </a:r>
            <a:r>
              <a:rPr lang="fr-BE" dirty="0">
                <a:sym typeface="Wingdings" panose="05000000000000000000" pitchFamily="2" charset="2"/>
              </a:rPr>
              <a:t> can </a:t>
            </a:r>
            <a:r>
              <a:rPr lang="fr-BE" dirty="0" err="1">
                <a:sym typeface="Wingdings" panose="05000000000000000000" pitchFamily="2" charset="2"/>
              </a:rPr>
              <a:t>decompose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any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word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according</a:t>
            </a:r>
            <a:r>
              <a:rPr lang="fr-BE" dirty="0">
                <a:sym typeface="Wingdings" panose="05000000000000000000" pitchFamily="2" charset="2"/>
              </a:rPr>
              <a:t> to a consonant (C) </a:t>
            </a:r>
            <a:r>
              <a:rPr lang="fr-BE" dirty="0" err="1">
                <a:sym typeface="Wingdings" panose="05000000000000000000" pitchFamily="2" charset="2"/>
              </a:rPr>
              <a:t>vowel</a:t>
            </a:r>
            <a:r>
              <a:rPr lang="fr-BE" dirty="0">
                <a:sym typeface="Wingdings" panose="05000000000000000000" pitchFamily="2" charset="2"/>
              </a:rPr>
              <a:t> (V) structure:</a:t>
            </a:r>
          </a:p>
          <a:p>
            <a:pPr marL="0" indent="0">
              <a:buNone/>
            </a:pPr>
            <a:r>
              <a:rPr lang="fr-BE" dirty="0" err="1">
                <a:sym typeface="Wingdings" panose="05000000000000000000" pitchFamily="2" charset="2"/>
              </a:rPr>
              <a:t>Tre</a:t>
            </a:r>
            <a:r>
              <a:rPr lang="fr-BE" dirty="0">
                <a:sym typeface="Wingdings" panose="05000000000000000000" pitchFamily="2" charset="2"/>
              </a:rPr>
              <a:t>-mu-</a:t>
            </a:r>
            <a:r>
              <a:rPr lang="fr-BE" dirty="0" err="1">
                <a:solidFill>
                  <a:srgbClr val="FF0000"/>
                </a:solidFill>
                <a:sym typeface="Wingdings" panose="05000000000000000000" pitchFamily="2" charset="2"/>
              </a:rPr>
              <a:t>d</a:t>
            </a:r>
            <a:r>
              <a:rPr lang="fr-BE" dirty="0" err="1">
                <a:sym typeface="Wingdings" panose="05000000000000000000" pitchFamily="2" charset="2"/>
              </a:rPr>
              <a:t>ous</a:t>
            </a:r>
            <a:r>
              <a:rPr lang="fr-BE" dirty="0">
                <a:sym typeface="Wingdings" panose="05000000000000000000" pitchFamily="2" charset="2"/>
              </a:rPr>
              <a:t>  CCV – CV – CVC</a:t>
            </a:r>
          </a:p>
          <a:p>
            <a:endParaRPr lang="fr-B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dirty="0">
                <a:sym typeface="Wingdings" panose="05000000000000000000" pitchFamily="2" charset="2"/>
              </a:rPr>
              <a:t>Variations can </a:t>
            </a:r>
            <a:r>
              <a:rPr lang="fr-BE" dirty="0" err="1">
                <a:sym typeface="Wingdings" panose="05000000000000000000" pitchFamily="2" charset="2"/>
              </a:rPr>
              <a:t>be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done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i="1" dirty="0" err="1">
                <a:sym typeface="Wingdings" panose="05000000000000000000" pitchFamily="2" charset="2"/>
              </a:rPr>
              <a:t>within</a:t>
            </a:r>
            <a:r>
              <a:rPr lang="fr-BE" dirty="0">
                <a:sym typeface="Wingdings" panose="05000000000000000000" pitchFamily="2" charset="2"/>
              </a:rPr>
              <a:t> a </a:t>
            </a:r>
            <a:r>
              <a:rPr lang="fr-BE" dirty="0" err="1">
                <a:sym typeface="Wingdings" panose="05000000000000000000" pitchFamily="2" charset="2"/>
              </a:rPr>
              <a:t>syllable</a:t>
            </a:r>
            <a:r>
              <a:rPr lang="fr-BE" dirty="0">
                <a:sym typeface="Wingdings" panose="05000000000000000000" pitchFamily="2" charset="2"/>
              </a:rPr>
              <a:t>:</a:t>
            </a:r>
          </a:p>
          <a:p>
            <a:r>
              <a:rPr lang="fr-BE" dirty="0">
                <a:sym typeface="Wingdings" panose="05000000000000000000" pitchFamily="2" charset="2"/>
              </a:rPr>
              <a:t>CCV – CV – </a:t>
            </a:r>
            <a:r>
              <a:rPr lang="fr-BE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fr-BE" dirty="0">
                <a:sym typeface="Wingdings" panose="05000000000000000000" pitchFamily="2" charset="2"/>
              </a:rPr>
              <a:t>VC</a:t>
            </a:r>
          </a:p>
          <a:p>
            <a:r>
              <a:rPr lang="fr-BE" dirty="0">
                <a:sym typeface="Wingdings" panose="05000000000000000000" pitchFamily="2" charset="2"/>
              </a:rPr>
              <a:t>CCV – CV – C</a:t>
            </a:r>
            <a:r>
              <a:rPr lang="fr-BE" dirty="0">
                <a:solidFill>
                  <a:srgbClr val="FF0000"/>
                </a:solidFill>
                <a:sym typeface="Wingdings" panose="05000000000000000000" pitchFamily="2" charset="2"/>
              </a:rPr>
              <a:t>V</a:t>
            </a:r>
            <a:r>
              <a:rPr lang="fr-BE" dirty="0">
                <a:sym typeface="Wingdings" panose="05000000000000000000" pitchFamily="2" charset="2"/>
              </a:rPr>
              <a:t>C</a:t>
            </a:r>
          </a:p>
          <a:p>
            <a:r>
              <a:rPr lang="fr-BE" dirty="0">
                <a:sym typeface="Wingdings" panose="05000000000000000000" pitchFamily="2" charset="2"/>
              </a:rPr>
              <a:t>CCV – CV – CV</a:t>
            </a:r>
            <a:r>
              <a:rPr lang="fr-BE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</a:p>
          <a:p>
            <a:endParaRPr lang="fr-BE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b="1" dirty="0">
                <a:sym typeface="Wingdings" panose="05000000000000000000" pitchFamily="2" charset="2"/>
              </a:rPr>
              <a:t>Question</a:t>
            </a:r>
            <a:r>
              <a:rPr lang="fr-BE" dirty="0">
                <a:sym typeface="Wingdings" panose="05000000000000000000" pitchFamily="2" charset="2"/>
              </a:rPr>
              <a:t>: Is </a:t>
            </a:r>
            <a:r>
              <a:rPr lang="fr-BE" dirty="0" err="1">
                <a:sym typeface="Wingdings" panose="05000000000000000000" pitchFamily="2" charset="2"/>
              </a:rPr>
              <a:t>word</a:t>
            </a:r>
            <a:r>
              <a:rPr lang="fr-BE" dirty="0">
                <a:sym typeface="Wingdings" panose="05000000000000000000" pitchFamily="2" charset="2"/>
              </a:rPr>
              <a:t> recognition </a:t>
            </a:r>
            <a:r>
              <a:rPr lang="fr-BE" dirty="0" err="1">
                <a:sym typeface="Wingdings" panose="05000000000000000000" pitchFamily="2" charset="2"/>
              </a:rPr>
              <a:t>performed</a:t>
            </a:r>
            <a:r>
              <a:rPr lang="fr-BE" dirty="0">
                <a:sym typeface="Wingdings" panose="05000000000000000000" pitchFamily="2" charset="2"/>
              </a:rPr>
              <a:t> at the </a:t>
            </a:r>
            <a:r>
              <a:rPr lang="fr-BE" dirty="0" err="1">
                <a:sym typeface="Wingdings" panose="05000000000000000000" pitchFamily="2" charset="2"/>
              </a:rPr>
              <a:t>syllable</a:t>
            </a:r>
            <a:r>
              <a:rPr lang="fr-BE" dirty="0">
                <a:sym typeface="Wingdings" panose="05000000000000000000" pitchFamily="2" charset="2"/>
              </a:rPr>
              <a:t> or </a:t>
            </a:r>
            <a:r>
              <a:rPr lang="fr-BE" dirty="0" err="1">
                <a:sym typeface="Wingdings" panose="05000000000000000000" pitchFamily="2" charset="2"/>
              </a:rPr>
              <a:t>phonemic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level</a:t>
            </a:r>
            <a:r>
              <a:rPr lang="fr-BE" dirty="0">
                <a:sym typeface="Wingdings" panose="05000000000000000000" pitchFamily="2" charset="2"/>
              </a:rPr>
              <a:t>? Do </a:t>
            </a:r>
            <a:r>
              <a:rPr lang="fr-BE" dirty="0" err="1">
                <a:sym typeface="Wingdings" panose="05000000000000000000" pitchFamily="2" charset="2"/>
              </a:rPr>
              <a:t>we</a:t>
            </a:r>
            <a:r>
              <a:rPr lang="fr-BE" dirty="0">
                <a:sym typeface="Wingdings" panose="05000000000000000000" pitchFamily="2" charset="2"/>
              </a:rPr>
              <a:t> process </a:t>
            </a:r>
            <a:r>
              <a:rPr lang="fr-BE" b="1" dirty="0" err="1">
                <a:sym typeface="Wingdings" panose="05000000000000000000" pitchFamily="2" charset="2"/>
              </a:rPr>
              <a:t>syllables</a:t>
            </a:r>
            <a:r>
              <a:rPr lang="fr-BE" dirty="0">
                <a:sym typeface="Wingdings" panose="05000000000000000000" pitchFamily="2" charset="2"/>
              </a:rPr>
              <a:t> or </a:t>
            </a:r>
            <a:r>
              <a:rPr lang="fr-BE" b="1" dirty="0" err="1">
                <a:sym typeface="Wingdings" panose="05000000000000000000" pitchFamily="2" charset="2"/>
              </a:rPr>
              <a:t>phonemes</a:t>
            </a:r>
            <a:r>
              <a:rPr lang="fr-BE" dirty="0">
                <a:sym typeface="Wingdings" panose="05000000000000000000" pitchFamily="2" charset="2"/>
              </a:rPr>
              <a:t> in </a:t>
            </a:r>
            <a:r>
              <a:rPr lang="fr-BE" dirty="0" err="1">
                <a:sym typeface="Wingdings" panose="05000000000000000000" pitchFamily="2" charset="2"/>
              </a:rPr>
              <a:t>spoken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word</a:t>
            </a:r>
            <a:r>
              <a:rPr lang="fr-BE" dirty="0">
                <a:sym typeface="Wingdings" panose="05000000000000000000" pitchFamily="2" charset="2"/>
              </a:rPr>
              <a:t> recognition?</a:t>
            </a:r>
            <a:endParaRPr lang="fr-BE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b="1" dirty="0" err="1">
                <a:sym typeface="Wingdings" panose="05000000000000000000" pitchFamily="2" charset="2"/>
              </a:rPr>
              <a:t>Prediction</a:t>
            </a:r>
            <a:r>
              <a:rPr lang="fr-BE" dirty="0">
                <a:sym typeface="Wingdings" panose="05000000000000000000" pitchFamily="2" charset="2"/>
              </a:rPr>
              <a:t>: If </a:t>
            </a:r>
            <a:r>
              <a:rPr lang="fr-BE" dirty="0" err="1">
                <a:sym typeface="Wingdings" panose="05000000000000000000" pitchFamily="2" charset="2"/>
              </a:rPr>
              <a:t>word</a:t>
            </a:r>
            <a:r>
              <a:rPr lang="fr-BE" dirty="0">
                <a:sym typeface="Wingdings" panose="05000000000000000000" pitchFamily="2" charset="2"/>
              </a:rPr>
              <a:t> identification </a:t>
            </a:r>
            <a:r>
              <a:rPr lang="fr-BE" dirty="0" err="1">
                <a:sym typeface="Wingdings" panose="05000000000000000000" pitchFamily="2" charset="2"/>
              </a:rPr>
              <a:t>is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performed</a:t>
            </a:r>
            <a:r>
              <a:rPr lang="fr-BE" dirty="0">
                <a:sym typeface="Wingdings" panose="05000000000000000000" pitchFamily="2" charset="2"/>
              </a:rPr>
              <a:t> at the </a:t>
            </a:r>
            <a:r>
              <a:rPr lang="fr-BE" dirty="0" err="1">
                <a:sym typeface="Wingdings" panose="05000000000000000000" pitchFamily="2" charset="2"/>
              </a:rPr>
              <a:t>syllable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level</a:t>
            </a:r>
            <a:r>
              <a:rPr lang="fr-BE" dirty="0">
                <a:sym typeface="Wingdings" panose="05000000000000000000" pitchFamily="2" charset="2"/>
              </a:rPr>
              <a:t>, </a:t>
            </a:r>
            <a:r>
              <a:rPr lang="fr-BE" dirty="0" err="1">
                <a:sym typeface="Wingdings" panose="05000000000000000000" pitchFamily="2" charset="2"/>
              </a:rPr>
              <a:t>then</a:t>
            </a:r>
            <a:r>
              <a:rPr lang="fr-BE" dirty="0">
                <a:sym typeface="Wingdings" panose="05000000000000000000" pitchFamily="2" charset="2"/>
              </a:rPr>
              <a:t> the </a:t>
            </a:r>
            <a:r>
              <a:rPr lang="fr-BE" dirty="0" err="1">
                <a:sym typeface="Wingdings" panose="05000000000000000000" pitchFamily="2" charset="2"/>
              </a:rPr>
              <a:t>critical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phoneme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within</a:t>
            </a:r>
            <a:r>
              <a:rPr lang="fr-BE" dirty="0">
                <a:sym typeface="Wingdings" panose="05000000000000000000" pitchFamily="2" charset="2"/>
              </a:rPr>
              <a:t> the </a:t>
            </a:r>
            <a:r>
              <a:rPr lang="fr-BE" dirty="0" err="1">
                <a:sym typeface="Wingdings" panose="05000000000000000000" pitchFamily="2" charset="2"/>
              </a:rPr>
              <a:t>syllable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shouldn’t</a:t>
            </a:r>
            <a:r>
              <a:rPr lang="fr-BE" dirty="0">
                <a:sym typeface="Wingdings" panose="05000000000000000000" pitchFamily="2" charset="2"/>
              </a:rPr>
              <a:t> affect </a:t>
            </a:r>
            <a:r>
              <a:rPr lang="fr-BE" dirty="0" err="1">
                <a:sym typeface="Wingdings" panose="05000000000000000000" pitchFamily="2" charset="2"/>
              </a:rPr>
              <a:t>decision</a:t>
            </a:r>
            <a:r>
              <a:rPr lang="fr-BE" dirty="0">
                <a:sym typeface="Wingdings" panose="05000000000000000000" pitchFamily="2" charset="2"/>
              </a:rPr>
              <a:t> times in the </a:t>
            </a:r>
            <a:r>
              <a:rPr lang="fr-BE" dirty="0" err="1">
                <a:sym typeface="Wingdings" panose="05000000000000000000" pitchFamily="2" charset="2"/>
              </a:rPr>
              <a:t>nonword</a:t>
            </a:r>
            <a:r>
              <a:rPr lang="fr-BE" dirty="0">
                <a:sym typeface="Wingdings" panose="05000000000000000000" pitchFamily="2" charset="2"/>
              </a:rPr>
              <a:t> identification </a:t>
            </a:r>
            <a:r>
              <a:rPr lang="fr-BE" dirty="0" err="1">
                <a:sym typeface="Wingdings" panose="05000000000000000000" pitchFamily="2" charset="2"/>
              </a:rPr>
              <a:t>task</a:t>
            </a:r>
            <a:r>
              <a:rPr lang="fr-BE" dirty="0">
                <a:sym typeface="Wingdings" panose="05000000000000000000" pitchFamily="2" charset="2"/>
              </a:rPr>
              <a:t>, </a:t>
            </a:r>
            <a:r>
              <a:rPr lang="fr-BE" dirty="0" err="1">
                <a:sym typeface="Wingdings" panose="05000000000000000000" pitchFamily="2" charset="2"/>
              </a:rPr>
              <a:t>because</a:t>
            </a:r>
            <a:r>
              <a:rPr lang="fr-BE" dirty="0">
                <a:sym typeface="Wingdings" panose="05000000000000000000" pitchFamily="2" charset="2"/>
              </a:rPr>
              <a:t> the </a:t>
            </a:r>
            <a:r>
              <a:rPr lang="fr-BE" dirty="0" err="1">
                <a:sym typeface="Wingdings" panose="05000000000000000000" pitchFamily="2" charset="2"/>
              </a:rPr>
              <a:t>whole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syllable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itself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should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be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recognized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before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reaching</a:t>
            </a:r>
            <a:r>
              <a:rPr lang="fr-BE" dirty="0">
                <a:sym typeface="Wingdings" panose="05000000000000000000" pitchFamily="2" charset="2"/>
              </a:rPr>
              <a:t> a </a:t>
            </a:r>
            <a:r>
              <a:rPr lang="fr-BE" dirty="0" err="1">
                <a:sym typeface="Wingdings" panose="05000000000000000000" pitchFamily="2" charset="2"/>
              </a:rPr>
              <a:t>decision</a:t>
            </a:r>
            <a:r>
              <a:rPr lang="fr-BE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96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0CE01DB-461D-4762-A0CA-361A5C25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037891"/>
            <a:ext cx="5420481" cy="478221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8CC4E00-B0A9-4F7F-A7EC-974BBB78496F}"/>
              </a:ext>
            </a:extLst>
          </p:cNvPr>
          <p:cNvSpPr txBox="1"/>
          <p:nvPr/>
        </p:nvSpPr>
        <p:spPr>
          <a:xfrm>
            <a:off x="6449578" y="3108449"/>
            <a:ext cx="542048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fr-BE" dirty="0"/>
              <a:t>Access to the </a:t>
            </a:r>
            <a:r>
              <a:rPr lang="fr-BE" dirty="0" err="1"/>
              <a:t>lexicon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made </a:t>
            </a:r>
            <a:r>
              <a:rPr lang="fr-BE" dirty="0" err="1"/>
              <a:t>through</a:t>
            </a:r>
            <a:r>
              <a:rPr lang="fr-BE" dirty="0"/>
              <a:t> a real-time </a:t>
            </a:r>
            <a:r>
              <a:rPr lang="fr-BE" dirty="0" err="1"/>
              <a:t>analysis</a:t>
            </a:r>
            <a:r>
              <a:rPr lang="fr-BE" dirty="0"/>
              <a:t> of the speech input signal.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fr-BE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fr-BE" dirty="0"/>
              <a:t>It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performed</a:t>
            </a:r>
            <a:r>
              <a:rPr lang="fr-BE" dirty="0"/>
              <a:t> </a:t>
            </a:r>
            <a:r>
              <a:rPr lang="fr-BE" b="1" dirty="0"/>
              <a:t>online</a:t>
            </a:r>
            <a:endParaRPr lang="de-CH" b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D51FF99-DE51-4765-B376-48B33F79B28B}"/>
              </a:ext>
            </a:extLst>
          </p:cNvPr>
          <p:cNvSpPr txBox="1"/>
          <p:nvPr/>
        </p:nvSpPr>
        <p:spPr>
          <a:xfrm>
            <a:off x="6475921" y="1916832"/>
            <a:ext cx="496855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Response</a:t>
            </a:r>
            <a:r>
              <a:rPr lang="fr-BE" dirty="0"/>
              <a:t> times </a:t>
            </a:r>
            <a:r>
              <a:rPr lang="fr-BE" dirty="0" err="1"/>
              <a:t>increase</a:t>
            </a:r>
            <a:r>
              <a:rPr lang="fr-BE" dirty="0"/>
              <a:t> </a:t>
            </a:r>
            <a:r>
              <a:rPr lang="fr-BE" dirty="0" err="1"/>
              <a:t>linearly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the moment </a:t>
            </a:r>
            <a:r>
              <a:rPr lang="fr-BE" dirty="0" err="1"/>
              <a:t>where</a:t>
            </a:r>
            <a:r>
              <a:rPr lang="fr-BE" dirty="0"/>
              <a:t> the </a:t>
            </a:r>
            <a:r>
              <a:rPr lang="fr-BE" dirty="0" err="1"/>
              <a:t>critical</a:t>
            </a:r>
            <a:r>
              <a:rPr lang="fr-BE" dirty="0"/>
              <a:t> </a:t>
            </a:r>
            <a:r>
              <a:rPr lang="fr-BE" dirty="0" err="1"/>
              <a:t>phoneme</a:t>
            </a:r>
            <a:r>
              <a:rPr lang="fr-BE" dirty="0"/>
              <a:t> </a:t>
            </a:r>
            <a:r>
              <a:rPr lang="fr-BE" dirty="0" err="1"/>
              <a:t>appears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8164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Phoneme monitoring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7424" y="2348880"/>
            <a:ext cx="3240088" cy="388778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Real words</a:t>
            </a:r>
            <a:endParaRPr lang="en-US" dirty="0"/>
          </a:p>
          <a:p>
            <a:pPr marL="0" indent="0" algn="ctr">
              <a:buNone/>
            </a:pPr>
            <a:r>
              <a:rPr lang="en-US" i="1" dirty="0" err="1"/>
              <a:t>T</a:t>
            </a:r>
            <a:r>
              <a:rPr lang="en-US" dirty="0" err="1"/>
              <a:t>rein</a:t>
            </a:r>
            <a:endParaRPr lang="en-US" dirty="0"/>
          </a:p>
          <a:p>
            <a:pPr marL="0" indent="0" algn="ctr">
              <a:buNone/>
            </a:pPr>
            <a:r>
              <a:rPr lang="en-US" dirty="0" err="1"/>
              <a:t>Flui</a:t>
            </a:r>
            <a:r>
              <a:rPr lang="en-US" i="1" dirty="0" err="1"/>
              <a:t>t</a:t>
            </a:r>
            <a:endParaRPr lang="en-US" i="1" dirty="0"/>
          </a:p>
          <a:p>
            <a:pPr marL="0" indent="0" algn="ctr">
              <a:buNone/>
            </a:pPr>
            <a:r>
              <a:rPr lang="en-US" i="1" dirty="0"/>
              <a:t>T</a:t>
            </a:r>
            <a:r>
              <a:rPr lang="en-US" dirty="0"/>
              <a:t>afel</a:t>
            </a:r>
          </a:p>
          <a:p>
            <a:pPr marL="0" indent="0" algn="ctr">
              <a:buNone/>
            </a:pPr>
            <a:r>
              <a:rPr lang="en-US" dirty="0"/>
              <a:t>Ke</a:t>
            </a:r>
            <a:r>
              <a:rPr lang="en-US" i="1" dirty="0"/>
              <a:t>t</a:t>
            </a:r>
            <a:r>
              <a:rPr lang="en-US" dirty="0"/>
              <a:t>el</a:t>
            </a:r>
          </a:p>
          <a:p>
            <a:pPr marL="0" indent="0" algn="ctr">
              <a:buNone/>
            </a:pPr>
            <a:r>
              <a:rPr lang="en-US" dirty="0" err="1"/>
              <a:t>Bewus</a:t>
            </a:r>
            <a:r>
              <a:rPr lang="en-US" i="1" dirty="0" err="1"/>
              <a:t>t</a:t>
            </a:r>
            <a:endParaRPr lang="en-US" i="1" dirty="0"/>
          </a:p>
          <a:p>
            <a:pPr marL="0" indent="0" algn="ctr">
              <a:buNone/>
            </a:pPr>
            <a:r>
              <a:rPr lang="en-US" i="1" dirty="0" err="1"/>
              <a:t>T</a:t>
            </a:r>
            <a:r>
              <a:rPr lang="en-US" dirty="0" err="1"/>
              <a:t>ekening</a:t>
            </a:r>
            <a:endParaRPr lang="en-US" dirty="0"/>
          </a:p>
          <a:p>
            <a:pPr marL="0" indent="0" algn="ctr">
              <a:buNone/>
            </a:pPr>
            <a:r>
              <a:rPr lang="en-US" dirty="0" err="1"/>
              <a:t>Fan</a:t>
            </a:r>
            <a:r>
              <a:rPr lang="en-US" i="1" dirty="0" err="1"/>
              <a:t>t</a:t>
            </a:r>
            <a:r>
              <a:rPr lang="en-US" dirty="0" err="1"/>
              <a:t>asie</a:t>
            </a:r>
            <a:endParaRPr lang="en-US" dirty="0"/>
          </a:p>
          <a:p>
            <a:pPr marL="0" indent="0" algn="ctr">
              <a:buNone/>
            </a:pPr>
            <a:r>
              <a:rPr lang="en-US" dirty="0" err="1"/>
              <a:t>Momen</a:t>
            </a:r>
            <a:r>
              <a:rPr lang="en-US" i="1" dirty="0" err="1"/>
              <a:t>t</a:t>
            </a:r>
            <a:r>
              <a:rPr lang="en-US" dirty="0" err="1"/>
              <a:t>eel</a:t>
            </a:r>
            <a:endParaRPr lang="en-US" dirty="0"/>
          </a:p>
          <a:p>
            <a:pPr marL="0" indent="0" algn="ctr">
              <a:buNone/>
            </a:pPr>
            <a:r>
              <a:rPr lang="en-US" dirty="0" err="1"/>
              <a:t>Kandidaa</a:t>
            </a:r>
            <a:r>
              <a:rPr lang="en-US" i="1" dirty="0" err="1"/>
              <a:t>t</a:t>
            </a:r>
            <a:endParaRPr lang="en-US" i="1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4FF1756-2996-4B98-87F4-9EE37B1D7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088" y="2345705"/>
            <a:ext cx="3240088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026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368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1710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18954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23526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8098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32670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kern="0" dirty="0"/>
              <a:t>Pseudowords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i="1" kern="0" dirty="0" err="1"/>
              <a:t>T</a:t>
            </a:r>
            <a:r>
              <a:rPr lang="en-US" kern="0" dirty="0" err="1"/>
              <a:t>ruig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Zwoo</a:t>
            </a:r>
            <a:r>
              <a:rPr lang="en-US" i="1" kern="0" dirty="0" err="1"/>
              <a:t>t</a:t>
            </a:r>
            <a:endParaRPr lang="en-US" i="1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i="1" kern="0" dirty="0" err="1"/>
              <a:t>T</a:t>
            </a:r>
            <a:r>
              <a:rPr lang="en-US" kern="0" dirty="0" err="1"/>
              <a:t>eurpen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Wie</a:t>
            </a:r>
            <a:r>
              <a:rPr lang="en-US" i="1" kern="0" dirty="0" err="1"/>
              <a:t>t</a:t>
            </a:r>
            <a:r>
              <a:rPr lang="en-US" kern="0" dirty="0" err="1"/>
              <a:t>el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Korbes</a:t>
            </a:r>
            <a:r>
              <a:rPr lang="en-US" i="1" kern="0" dirty="0" err="1"/>
              <a:t>t</a:t>
            </a:r>
            <a:endParaRPr lang="en-US" i="1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i="1" kern="0" dirty="0" err="1"/>
              <a:t>T</a:t>
            </a:r>
            <a:r>
              <a:rPr lang="en-US" kern="0" dirty="0" err="1"/>
              <a:t>ogening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Pol</a:t>
            </a:r>
            <a:r>
              <a:rPr lang="en-US" i="1" kern="0" dirty="0" err="1"/>
              <a:t>t</a:t>
            </a:r>
            <a:r>
              <a:rPr lang="en-US" kern="0" dirty="0" err="1"/>
              <a:t>elisch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Inden</a:t>
            </a:r>
            <a:r>
              <a:rPr lang="en-US" i="1" kern="0" dirty="0" err="1"/>
              <a:t>t</a:t>
            </a:r>
            <a:r>
              <a:rPr lang="en-US" kern="0" dirty="0" err="1"/>
              <a:t>risch</a:t>
            </a:r>
            <a:endParaRPr lang="en-US" kern="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kern="0" dirty="0" err="1"/>
              <a:t>Barakaa</a:t>
            </a:r>
            <a:r>
              <a:rPr lang="en-US" i="1" kern="0" dirty="0" err="1"/>
              <a:t>t</a:t>
            </a:r>
            <a:endParaRPr lang="en-US" i="1" kern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917770D-ED8A-4E67-86BB-EDE7BF992067}"/>
              </a:ext>
            </a:extLst>
          </p:cNvPr>
          <p:cNvSpPr txBox="1"/>
          <p:nvPr/>
        </p:nvSpPr>
        <p:spPr>
          <a:xfrm>
            <a:off x="5087888" y="227687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/>
              <a:t>Fan</a:t>
            </a:r>
            <a:r>
              <a:rPr lang="en-US" sz="4000" i="1" dirty="0" err="1"/>
              <a:t>t</a:t>
            </a:r>
            <a:r>
              <a:rPr lang="en-US" sz="4000" dirty="0" err="1"/>
              <a:t>asie</a:t>
            </a:r>
            <a:endParaRPr lang="de-CH" sz="40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37BEC82-736B-4A93-82CA-09582FAC4EB2}"/>
              </a:ext>
            </a:extLst>
          </p:cNvPr>
          <p:cNvCxnSpPr/>
          <p:nvPr/>
        </p:nvCxnSpPr>
        <p:spPr bwMode="auto">
          <a:xfrm>
            <a:off x="1919536" y="3645024"/>
            <a:ext cx="856895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B8B4F277-5043-4D69-9DF5-318C4F31ED21}"/>
              </a:ext>
            </a:extLst>
          </p:cNvPr>
          <p:cNvSpPr txBox="1"/>
          <p:nvPr/>
        </p:nvSpPr>
        <p:spPr>
          <a:xfrm>
            <a:off x="1991544" y="3769971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32ED8F1-738B-4BFA-82B0-D800E56E2C9F}"/>
              </a:ext>
            </a:extLst>
          </p:cNvPr>
          <p:cNvCxnSpPr/>
          <p:nvPr/>
        </p:nvCxnSpPr>
        <p:spPr bwMode="auto">
          <a:xfrm>
            <a:off x="6032946" y="1988840"/>
            <a:ext cx="0" cy="23042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6EE9865-687C-4F17-AAC3-DF65A14BF59E}"/>
              </a:ext>
            </a:extLst>
          </p:cNvPr>
          <p:cNvSpPr txBox="1"/>
          <p:nvPr/>
        </p:nvSpPr>
        <p:spPr>
          <a:xfrm>
            <a:off x="5089475" y="4404156"/>
            <a:ext cx="19339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 err="1"/>
              <a:t>Onset</a:t>
            </a:r>
            <a:r>
              <a:rPr lang="fr-BE" dirty="0"/>
              <a:t> of the </a:t>
            </a:r>
            <a:r>
              <a:rPr lang="fr-BE" dirty="0" err="1"/>
              <a:t>target</a:t>
            </a:r>
            <a:r>
              <a:rPr lang="fr-BE" dirty="0"/>
              <a:t> </a:t>
            </a:r>
            <a:r>
              <a:rPr lang="fr-BE" dirty="0" err="1"/>
              <a:t>phoneme</a:t>
            </a:r>
            <a:endParaRPr lang="de-CH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7510AD7-7728-4D47-A1DF-40C7071D1AD7}"/>
              </a:ext>
            </a:extLst>
          </p:cNvPr>
          <p:cNvCxnSpPr/>
          <p:nvPr/>
        </p:nvCxnSpPr>
        <p:spPr bwMode="auto">
          <a:xfrm>
            <a:off x="7392144" y="1988622"/>
            <a:ext cx="0" cy="23042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A924FC5-11E9-452F-8718-509818601747}"/>
              </a:ext>
            </a:extLst>
          </p:cNvPr>
          <p:cNvSpPr txBox="1"/>
          <p:nvPr/>
        </p:nvSpPr>
        <p:spPr>
          <a:xfrm>
            <a:off x="6600056" y="1444101"/>
            <a:ext cx="202741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Subject’s</a:t>
            </a:r>
            <a:r>
              <a:rPr lang="fr-BE" dirty="0"/>
              <a:t> </a:t>
            </a:r>
            <a:r>
              <a:rPr lang="fr-BE" dirty="0" err="1"/>
              <a:t>response</a:t>
            </a:r>
            <a:endParaRPr lang="de-CH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12A4E062-432B-4A3A-813F-74CE9FEBBB0E}"/>
              </a:ext>
            </a:extLst>
          </p:cNvPr>
          <p:cNvCxnSpPr/>
          <p:nvPr/>
        </p:nvCxnSpPr>
        <p:spPr bwMode="auto">
          <a:xfrm>
            <a:off x="6204012" y="3946942"/>
            <a:ext cx="107269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45ED293A-543C-41A8-97A2-DB31D6B401C2}"/>
              </a:ext>
            </a:extLst>
          </p:cNvPr>
          <p:cNvSpPr txBox="1"/>
          <p:nvPr/>
        </p:nvSpPr>
        <p:spPr>
          <a:xfrm>
            <a:off x="695401" y="411197"/>
            <a:ext cx="914501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 err="1"/>
              <a:t>Task</a:t>
            </a:r>
            <a:r>
              <a:rPr lang="fr-BE" dirty="0"/>
              <a:t>: to </a:t>
            </a:r>
            <a:r>
              <a:rPr lang="fr-BE" dirty="0" err="1"/>
              <a:t>respond</a:t>
            </a:r>
            <a:r>
              <a:rPr lang="fr-BE" dirty="0"/>
              <a:t> as </a:t>
            </a:r>
            <a:r>
              <a:rPr lang="fr-BE" dirty="0" err="1"/>
              <a:t>soon</a:t>
            </a:r>
            <a:r>
              <a:rPr lang="fr-BE" dirty="0"/>
              <a:t> as the </a:t>
            </a:r>
            <a:r>
              <a:rPr lang="fr-BE" dirty="0" err="1"/>
              <a:t>phoneme</a:t>
            </a:r>
            <a:r>
              <a:rPr lang="fr-BE" dirty="0"/>
              <a:t> /t/ </a:t>
            </a:r>
            <a:r>
              <a:rPr lang="fr-BE" dirty="0" err="1"/>
              <a:t>appears</a:t>
            </a:r>
            <a:r>
              <a:rPr lang="fr-BE" dirty="0"/>
              <a:t>. Participants </a:t>
            </a:r>
            <a:r>
              <a:rPr lang="fr-BE" dirty="0" err="1"/>
              <a:t>performed</a:t>
            </a:r>
            <a:r>
              <a:rPr lang="fr-BE" dirty="0"/>
              <a:t> the </a:t>
            </a:r>
            <a:r>
              <a:rPr lang="fr-BE" dirty="0" err="1"/>
              <a:t>task</a:t>
            </a:r>
            <a:r>
              <a:rPr lang="fr-BE" dirty="0"/>
              <a:t> for </a:t>
            </a:r>
            <a:r>
              <a:rPr lang="fr-BE" dirty="0" err="1"/>
              <a:t>words</a:t>
            </a:r>
            <a:r>
              <a:rPr lang="fr-BE" dirty="0"/>
              <a:t> and </a:t>
            </a:r>
            <a:r>
              <a:rPr lang="fr-BE" dirty="0" err="1"/>
              <a:t>nonwords</a:t>
            </a:r>
            <a:r>
              <a:rPr lang="fr-BE" dirty="0"/>
              <a:t> in </a:t>
            </a:r>
            <a:r>
              <a:rPr lang="fr-BE" b="1" dirty="0" err="1"/>
              <a:t>different</a:t>
            </a:r>
            <a:r>
              <a:rPr lang="fr-BE" b="1" dirty="0"/>
              <a:t> blocks</a:t>
            </a:r>
            <a:r>
              <a:rPr lang="fr-BE" dirty="0"/>
              <a:t>.</a:t>
            </a:r>
            <a:endParaRPr lang="de-CH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4E525E-21CE-4CC9-8C5C-BB4D5CB24E20}"/>
              </a:ext>
            </a:extLst>
          </p:cNvPr>
          <p:cNvSpPr txBox="1"/>
          <p:nvPr/>
        </p:nvSpPr>
        <p:spPr>
          <a:xfrm>
            <a:off x="1775520" y="5464231"/>
            <a:ext cx="42746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A = </a:t>
            </a:r>
            <a:r>
              <a:rPr lang="fr-BE" dirty="0" err="1"/>
              <a:t>Dependent</a:t>
            </a:r>
            <a:r>
              <a:rPr lang="fr-BE" dirty="0"/>
              <a:t> variable </a:t>
            </a:r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>
                <a:sym typeface="Wingdings" panose="05000000000000000000" pitchFamily="2" charset="2"/>
              </a:rPr>
              <a:t>Response</a:t>
            </a:r>
            <a:r>
              <a:rPr lang="fr-BE" dirty="0">
                <a:sym typeface="Wingdings" panose="05000000000000000000" pitchFamily="2" charset="2"/>
              </a:rPr>
              <a:t> time</a:t>
            </a:r>
            <a:endParaRPr lang="fr-BE" dirty="0"/>
          </a:p>
          <a:p>
            <a:r>
              <a:rPr lang="fr-BE" dirty="0"/>
              <a:t>B = Independent variable</a:t>
            </a:r>
            <a:endParaRPr lang="de-CH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7AFCCC6-FDA4-41B2-B907-DCD985C11849}"/>
              </a:ext>
            </a:extLst>
          </p:cNvPr>
          <p:cNvSpPr txBox="1"/>
          <p:nvPr/>
        </p:nvSpPr>
        <p:spPr>
          <a:xfrm>
            <a:off x="6600056" y="4001408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A</a:t>
            </a:r>
            <a:endParaRPr lang="de-CH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2DA0AA8-F973-4BEB-88F9-AD9632EFDB12}"/>
              </a:ext>
            </a:extLst>
          </p:cNvPr>
          <p:cNvCxnSpPr/>
          <p:nvPr/>
        </p:nvCxnSpPr>
        <p:spPr bwMode="auto">
          <a:xfrm>
            <a:off x="5089475" y="1988622"/>
            <a:ext cx="0" cy="23042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43F73DD-9E68-48CB-BC65-D45ECCB7E8FE}"/>
              </a:ext>
            </a:extLst>
          </p:cNvPr>
          <p:cNvCxnSpPr>
            <a:cxnSpLocks/>
          </p:cNvCxnSpPr>
          <p:nvPr/>
        </p:nvCxnSpPr>
        <p:spPr bwMode="auto">
          <a:xfrm>
            <a:off x="5159896" y="2060848"/>
            <a:ext cx="79394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F12B57FF-6381-409E-9A4A-4D210B80275B}"/>
              </a:ext>
            </a:extLst>
          </p:cNvPr>
          <p:cNvSpPr txBox="1"/>
          <p:nvPr/>
        </p:nvSpPr>
        <p:spPr>
          <a:xfrm>
            <a:off x="5375920" y="1583044"/>
            <a:ext cx="6096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B</a:t>
            </a:r>
            <a:endParaRPr lang="de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D4F7FAB-176A-487C-9EC2-8A132F05F4D6}"/>
              </a:ext>
            </a:extLst>
          </p:cNvPr>
          <p:cNvSpPr txBox="1"/>
          <p:nvPr/>
        </p:nvSpPr>
        <p:spPr>
          <a:xfrm>
            <a:off x="3419354" y="1738666"/>
            <a:ext cx="193399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 err="1"/>
              <a:t>Item’s</a:t>
            </a:r>
            <a:r>
              <a:rPr lang="fr-BE" dirty="0"/>
              <a:t> </a:t>
            </a:r>
            <a:r>
              <a:rPr lang="fr-BE" dirty="0" err="1"/>
              <a:t>onset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5687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4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451FF67-9258-44F4-B76B-BF1ED3A1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908720"/>
            <a:ext cx="3744416" cy="471259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5B19B28-8D17-4FFB-B78A-51FCDAF8890F}"/>
              </a:ext>
            </a:extLst>
          </p:cNvPr>
          <p:cNvSpPr txBox="1"/>
          <p:nvPr/>
        </p:nvSpPr>
        <p:spPr>
          <a:xfrm>
            <a:off x="5735960" y="936417"/>
            <a:ext cx="487044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A few observations:</a:t>
            </a:r>
          </a:p>
          <a:p>
            <a:pPr marL="285750" indent="-285750">
              <a:buFontTx/>
              <a:buChar char="-"/>
            </a:pPr>
            <a:r>
              <a:rPr lang="fr-BE" dirty="0" err="1"/>
              <a:t>Response</a:t>
            </a:r>
            <a:r>
              <a:rPr lang="fr-BE" dirty="0"/>
              <a:t> times are </a:t>
            </a:r>
            <a:r>
              <a:rPr lang="fr-BE" dirty="0" err="1"/>
              <a:t>slower</a:t>
            </a:r>
            <a:r>
              <a:rPr lang="fr-BE" dirty="0"/>
              <a:t> for </a:t>
            </a:r>
            <a:r>
              <a:rPr lang="fr-BE" dirty="0" err="1"/>
              <a:t>words</a:t>
            </a:r>
            <a:r>
              <a:rPr lang="fr-BE" dirty="0"/>
              <a:t> (</a:t>
            </a:r>
            <a:r>
              <a:rPr lang="fr-BE" dirty="0" err="1"/>
              <a:t>compared</a:t>
            </a:r>
            <a:r>
              <a:rPr lang="fr-BE" dirty="0"/>
              <a:t> to </a:t>
            </a:r>
            <a:r>
              <a:rPr lang="fr-BE" dirty="0" err="1"/>
              <a:t>nonwords</a:t>
            </a:r>
            <a:r>
              <a:rPr lang="fr-BE" dirty="0"/>
              <a:t>) </a:t>
            </a:r>
            <a:r>
              <a:rPr lang="fr-BE" dirty="0" err="1"/>
              <a:t>when</a:t>
            </a:r>
            <a:r>
              <a:rPr lang="fr-BE" dirty="0"/>
              <a:t> the </a:t>
            </a:r>
            <a:r>
              <a:rPr lang="fr-BE" dirty="0" err="1"/>
              <a:t>target</a:t>
            </a:r>
            <a:r>
              <a:rPr lang="fr-BE" dirty="0"/>
              <a:t> </a:t>
            </a:r>
            <a:r>
              <a:rPr lang="fr-BE" dirty="0" err="1"/>
              <a:t>appears</a:t>
            </a:r>
            <a:r>
              <a:rPr lang="fr-BE" dirty="0"/>
              <a:t> </a:t>
            </a:r>
            <a:r>
              <a:rPr lang="fr-BE" dirty="0" err="1"/>
              <a:t>early</a:t>
            </a:r>
            <a:endParaRPr lang="fr-BE" dirty="0"/>
          </a:p>
          <a:p>
            <a:pPr marL="285750" indent="-285750">
              <a:buFontTx/>
              <a:buChar char="-"/>
            </a:pPr>
            <a:r>
              <a:rPr lang="fr-BE" dirty="0"/>
              <a:t>As the </a:t>
            </a:r>
            <a:r>
              <a:rPr lang="fr-BE" dirty="0" err="1"/>
              <a:t>target</a:t>
            </a:r>
            <a:r>
              <a:rPr lang="fr-BE" dirty="0"/>
              <a:t> </a:t>
            </a:r>
            <a:r>
              <a:rPr lang="fr-BE" dirty="0" err="1"/>
              <a:t>appears</a:t>
            </a:r>
            <a:r>
              <a:rPr lang="fr-BE" dirty="0"/>
              <a:t> </a:t>
            </a:r>
            <a:r>
              <a:rPr lang="fr-BE" dirty="0" err="1"/>
              <a:t>late</a:t>
            </a:r>
            <a:r>
              <a:rPr lang="fr-BE" dirty="0"/>
              <a:t> in the </a:t>
            </a:r>
            <a:r>
              <a:rPr lang="fr-BE" dirty="0" err="1"/>
              <a:t>processing</a:t>
            </a:r>
            <a:r>
              <a:rPr lang="fr-BE" dirty="0"/>
              <a:t> stage, </a:t>
            </a:r>
            <a:r>
              <a:rPr lang="fr-BE" dirty="0" err="1"/>
              <a:t>response</a:t>
            </a:r>
            <a:r>
              <a:rPr lang="fr-BE" dirty="0"/>
              <a:t> times </a:t>
            </a:r>
            <a:r>
              <a:rPr lang="fr-BE" dirty="0" err="1"/>
              <a:t>dramatically</a:t>
            </a:r>
            <a:r>
              <a:rPr lang="fr-BE" dirty="0"/>
              <a:t> drop</a:t>
            </a:r>
          </a:p>
          <a:p>
            <a:pPr marL="285750" indent="-285750">
              <a:buFontTx/>
              <a:buChar char="-"/>
            </a:pPr>
            <a:r>
              <a:rPr lang="fr-BE" dirty="0" err="1"/>
              <a:t>Response</a:t>
            </a:r>
            <a:r>
              <a:rPr lang="fr-BE" dirty="0"/>
              <a:t> times as a </a:t>
            </a:r>
            <a:r>
              <a:rPr lang="fr-BE" dirty="0" err="1"/>
              <a:t>function</a:t>
            </a:r>
            <a:r>
              <a:rPr lang="fr-BE" dirty="0"/>
              <a:t> of the </a:t>
            </a:r>
            <a:r>
              <a:rPr lang="fr-BE" dirty="0" err="1"/>
              <a:t>target</a:t>
            </a:r>
            <a:r>
              <a:rPr lang="fr-BE" dirty="0"/>
              <a:t> position </a:t>
            </a:r>
            <a:r>
              <a:rPr lang="fr-BE" dirty="0" err="1"/>
              <a:t>remains</a:t>
            </a:r>
            <a:r>
              <a:rPr lang="fr-BE" dirty="0"/>
              <a:t> </a:t>
            </a:r>
            <a:r>
              <a:rPr lang="fr-BE" dirty="0" err="1"/>
              <a:t>fairly</a:t>
            </a:r>
            <a:r>
              <a:rPr lang="fr-BE" dirty="0"/>
              <a:t> </a:t>
            </a:r>
            <a:r>
              <a:rPr lang="fr-BE" dirty="0" err="1"/>
              <a:t>unchanged</a:t>
            </a:r>
            <a:r>
              <a:rPr lang="fr-BE" dirty="0"/>
              <a:t> for </a:t>
            </a:r>
            <a:r>
              <a:rPr lang="fr-BE" dirty="0" err="1"/>
              <a:t>nonwords</a:t>
            </a:r>
            <a:endParaRPr lang="de-CH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7E1D18-54BB-4486-A659-134EA96E86F3}"/>
              </a:ext>
            </a:extLst>
          </p:cNvPr>
          <p:cNvSpPr txBox="1"/>
          <p:nvPr/>
        </p:nvSpPr>
        <p:spPr>
          <a:xfrm>
            <a:off x="5735959" y="3709363"/>
            <a:ext cx="561662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Implications:</a:t>
            </a:r>
          </a:p>
          <a:p>
            <a:pPr marL="285750" indent="-285750">
              <a:buFontTx/>
              <a:buChar char="-"/>
            </a:pPr>
            <a:r>
              <a:rPr lang="fr-BE" dirty="0"/>
              <a:t>People use </a:t>
            </a:r>
            <a:r>
              <a:rPr lang="fr-BE" dirty="0" err="1"/>
              <a:t>different</a:t>
            </a:r>
            <a:r>
              <a:rPr lang="fr-BE" dirty="0"/>
              <a:t> routes to process </a:t>
            </a:r>
            <a:r>
              <a:rPr lang="fr-BE" dirty="0" err="1"/>
              <a:t>words</a:t>
            </a:r>
            <a:r>
              <a:rPr lang="fr-BE" dirty="0"/>
              <a:t> and </a:t>
            </a:r>
            <a:r>
              <a:rPr lang="fr-BE" dirty="0" err="1"/>
              <a:t>nonwords</a:t>
            </a:r>
            <a:endParaRPr lang="fr-BE" dirty="0"/>
          </a:p>
          <a:p>
            <a:pPr marL="285750" indent="-285750">
              <a:buFontTx/>
              <a:buChar char="-"/>
            </a:pPr>
            <a:r>
              <a:rPr lang="fr-BE" dirty="0"/>
              <a:t>As more information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carried</a:t>
            </a:r>
            <a:r>
              <a:rPr lang="fr-BE" dirty="0"/>
              <a:t> by the input signal, the </a:t>
            </a:r>
            <a:r>
              <a:rPr lang="fr-BE" dirty="0" err="1"/>
              <a:t>detection</a:t>
            </a:r>
            <a:r>
              <a:rPr lang="fr-BE" dirty="0"/>
              <a:t> of </a:t>
            </a:r>
            <a:r>
              <a:rPr lang="fr-BE" dirty="0" err="1"/>
              <a:t>phonological</a:t>
            </a:r>
            <a:r>
              <a:rPr lang="fr-BE" dirty="0"/>
              <a:t> information </a:t>
            </a:r>
            <a:r>
              <a:rPr lang="fr-BE" dirty="0" err="1"/>
              <a:t>is</a:t>
            </a:r>
            <a:r>
              <a:rPr lang="fr-BE" dirty="0"/>
              <a:t> made </a:t>
            </a:r>
            <a:r>
              <a:rPr lang="fr-BE" dirty="0" err="1"/>
              <a:t>faster</a:t>
            </a:r>
            <a:r>
              <a:rPr lang="fr-BE" dirty="0"/>
              <a:t> for </a:t>
            </a:r>
            <a:r>
              <a:rPr lang="fr-BE" dirty="0" err="1"/>
              <a:t>words</a:t>
            </a:r>
            <a:r>
              <a:rPr lang="fr-BE" dirty="0"/>
              <a:t> </a:t>
            </a:r>
            <a:r>
              <a:rPr lang="fr-BE" dirty="0">
                <a:sym typeface="Wingdings" panose="05000000000000000000" pitchFamily="2" charset="2"/>
              </a:rPr>
              <a:t> people </a:t>
            </a:r>
            <a:r>
              <a:rPr lang="fr-BE" dirty="0" err="1">
                <a:sym typeface="Wingdings" panose="05000000000000000000" pitchFamily="2" charset="2"/>
              </a:rPr>
              <a:t>make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predictions</a:t>
            </a:r>
            <a:endParaRPr lang="fr-BE" dirty="0"/>
          </a:p>
          <a:p>
            <a:pPr marL="285750" indent="-285750">
              <a:buFontTx/>
              <a:buChar char="-"/>
            </a:pPr>
            <a:r>
              <a:rPr lang="fr-BE" dirty="0" err="1"/>
              <a:t>Since</a:t>
            </a:r>
            <a:r>
              <a:rPr lang="fr-BE" dirty="0"/>
              <a:t> no lexical information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available</a:t>
            </a:r>
            <a:r>
              <a:rPr lang="fr-BE" dirty="0"/>
              <a:t> for </a:t>
            </a:r>
            <a:r>
              <a:rPr lang="fr-BE" dirty="0" err="1"/>
              <a:t>nonwords</a:t>
            </a:r>
            <a:r>
              <a:rPr lang="fr-BE" dirty="0"/>
              <a:t>, people </a:t>
            </a:r>
            <a:r>
              <a:rPr lang="fr-BE" dirty="0" err="1"/>
              <a:t>can’t</a:t>
            </a:r>
            <a:r>
              <a:rPr lang="fr-BE" dirty="0"/>
              <a:t> </a:t>
            </a:r>
            <a:r>
              <a:rPr lang="fr-BE" dirty="0" err="1"/>
              <a:t>make</a:t>
            </a:r>
            <a:r>
              <a:rPr lang="fr-BE" dirty="0"/>
              <a:t> </a:t>
            </a:r>
            <a:r>
              <a:rPr lang="fr-BE" dirty="0" err="1"/>
              <a:t>predictions</a:t>
            </a:r>
            <a:r>
              <a:rPr lang="fr-BE" dirty="0"/>
              <a:t> for </a:t>
            </a:r>
            <a:r>
              <a:rPr lang="fr-BE" dirty="0" err="1"/>
              <a:t>these</a:t>
            </a:r>
            <a:r>
              <a:rPr lang="fr-BE" dirty="0"/>
              <a:t> items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3367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C736EDF-4B2E-4AED-8060-CD193D79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844824"/>
            <a:ext cx="4446838" cy="374392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E474D42-B684-47AE-B02A-C1C5F74E1E9E}"/>
              </a:ext>
            </a:extLst>
          </p:cNvPr>
          <p:cNvSpPr txBox="1"/>
          <p:nvPr/>
        </p:nvSpPr>
        <p:spPr>
          <a:xfrm>
            <a:off x="2189329" y="908720"/>
            <a:ext cx="781335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Replication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b="1" dirty="0" err="1"/>
              <a:t>visual</a:t>
            </a:r>
            <a:r>
              <a:rPr lang="fr-BE" dirty="0"/>
              <a:t> </a:t>
            </a:r>
            <a:r>
              <a:rPr lang="fr-BE" dirty="0" err="1"/>
              <a:t>presentation</a:t>
            </a:r>
            <a:r>
              <a:rPr lang="fr-BE" dirty="0"/>
              <a:t>, i.e. the items </a:t>
            </a:r>
            <a:r>
              <a:rPr lang="fr-BE" dirty="0" err="1"/>
              <a:t>appear</a:t>
            </a:r>
            <a:r>
              <a:rPr lang="fr-BE" dirty="0"/>
              <a:t> in a </a:t>
            </a:r>
            <a:r>
              <a:rPr lang="fr-BE" dirty="0" err="1"/>
              <a:t>written</a:t>
            </a:r>
            <a:r>
              <a:rPr lang="fr-BE" dirty="0"/>
              <a:t> format.</a:t>
            </a:r>
            <a:endParaRPr lang="de-CH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BDB019-465B-4A5C-8A2C-B373958EB5B0}"/>
              </a:ext>
            </a:extLst>
          </p:cNvPr>
          <p:cNvSpPr txBox="1"/>
          <p:nvPr/>
        </p:nvSpPr>
        <p:spPr>
          <a:xfrm>
            <a:off x="6312025" y="2728808"/>
            <a:ext cx="57606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Reading </a:t>
            </a:r>
            <a:r>
              <a:rPr lang="fr-BE" dirty="0" err="1"/>
              <a:t>is</a:t>
            </a:r>
            <a:r>
              <a:rPr lang="fr-BE" dirty="0"/>
              <a:t> made in </a:t>
            </a:r>
            <a:r>
              <a:rPr lang="fr-BE" b="1" dirty="0" err="1"/>
              <a:t>parallel</a:t>
            </a:r>
            <a:r>
              <a:rPr lang="fr-BE" dirty="0"/>
              <a:t>, </a:t>
            </a:r>
            <a:r>
              <a:rPr lang="fr-BE" dirty="0" err="1"/>
              <a:t>contrary</a:t>
            </a:r>
            <a:r>
              <a:rPr lang="fr-BE" dirty="0"/>
              <a:t> to </a:t>
            </a:r>
            <a:r>
              <a:rPr lang="fr-BE" dirty="0" err="1"/>
              <a:t>spoken</a:t>
            </a:r>
            <a:r>
              <a:rPr lang="fr-BE" dirty="0"/>
              <a:t> </a:t>
            </a:r>
            <a:r>
              <a:rPr lang="fr-BE" dirty="0" err="1"/>
              <a:t>language</a:t>
            </a:r>
            <a:r>
              <a:rPr lang="fr-BE" dirty="0"/>
              <a:t> </a:t>
            </a:r>
            <a:r>
              <a:rPr lang="fr-BE" dirty="0" err="1"/>
              <a:t>comprehension</a:t>
            </a:r>
            <a:r>
              <a:rPr lang="fr-BE" dirty="0"/>
              <a:t> </a:t>
            </a:r>
            <a:r>
              <a:rPr lang="fr-BE" dirty="0" err="1"/>
              <a:t>which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inherently</a:t>
            </a:r>
            <a:r>
              <a:rPr lang="fr-BE" dirty="0"/>
              <a:t> </a:t>
            </a:r>
            <a:r>
              <a:rPr lang="fr-BE" dirty="0" err="1"/>
              <a:t>sequential</a:t>
            </a:r>
            <a:r>
              <a:rPr lang="fr-BE" dirty="0"/>
              <a:t>.</a:t>
            </a:r>
          </a:p>
          <a:p>
            <a:endParaRPr lang="fr-BE" dirty="0"/>
          </a:p>
          <a:p>
            <a:r>
              <a:rPr lang="fr-BE" dirty="0" err="1"/>
              <a:t>We</a:t>
            </a:r>
            <a:r>
              <a:rPr lang="fr-BE" dirty="0"/>
              <a:t> </a:t>
            </a:r>
            <a:r>
              <a:rPr lang="fr-BE" dirty="0" err="1"/>
              <a:t>will</a:t>
            </a:r>
            <a:r>
              <a:rPr lang="fr-BE" dirty="0"/>
              <a:t> return to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idea</a:t>
            </a:r>
            <a:r>
              <a:rPr lang="fr-BE" dirty="0"/>
              <a:t> </a:t>
            </a:r>
            <a:r>
              <a:rPr lang="fr-BE" dirty="0" err="1"/>
              <a:t>later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5395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cohort effect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DDFFE4E-1EA7-4C45-AF6A-08F136A0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060848"/>
            <a:ext cx="10081319" cy="431997"/>
          </a:xfrm>
        </p:spPr>
        <p:txBody>
          <a:bodyPr/>
          <a:lstStyle/>
          <a:p>
            <a:pPr marL="0" indent="0">
              <a:buNone/>
            </a:pPr>
            <a:r>
              <a:rPr lang="fr-BE" b="1" dirty="0"/>
              <a:t>The size of a </a:t>
            </a:r>
            <a:r>
              <a:rPr lang="fr-BE" b="1" dirty="0" err="1"/>
              <a:t>cohort</a:t>
            </a:r>
            <a:r>
              <a:rPr lang="fr-BE" b="1" dirty="0"/>
              <a:t> </a:t>
            </a:r>
            <a:r>
              <a:rPr lang="fr-BE" dirty="0" err="1"/>
              <a:t>refers</a:t>
            </a:r>
            <a:r>
              <a:rPr lang="fr-BE" dirty="0"/>
              <a:t> to the </a:t>
            </a:r>
            <a:r>
              <a:rPr lang="fr-BE" dirty="0" err="1"/>
              <a:t>number</a:t>
            </a:r>
            <a:r>
              <a:rPr lang="fr-BE" dirty="0"/>
              <a:t> of </a:t>
            </a:r>
            <a:r>
              <a:rPr lang="fr-BE" dirty="0" err="1"/>
              <a:t>words</a:t>
            </a:r>
            <a:r>
              <a:rPr lang="fr-BE" dirty="0"/>
              <a:t> sharing the initial </a:t>
            </a:r>
            <a:r>
              <a:rPr lang="fr-BE" dirty="0" err="1"/>
              <a:t>phonemes</a:t>
            </a:r>
            <a:r>
              <a:rPr lang="fr-BE" dirty="0"/>
              <a:t> in the speech input.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DDB690A-B088-4134-A36F-0A07B7CA4331}"/>
              </a:ext>
            </a:extLst>
          </p:cNvPr>
          <p:cNvSpPr txBox="1">
            <a:spLocks/>
          </p:cNvSpPr>
          <p:nvPr/>
        </p:nvSpPr>
        <p:spPr>
          <a:xfrm>
            <a:off x="2932444" y="3069035"/>
            <a:ext cx="5827852" cy="3023593"/>
          </a:xfrm>
          <a:prstGeom prst="rect">
            <a:avLst/>
          </a:prstGeom>
        </p:spPr>
        <p:txBody>
          <a:bodyPr numCol="3"/>
          <a:lstStyle>
            <a:lvl1pPr marL="342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4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026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368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1710000" indent="-342000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18954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23526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28098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3267075" indent="-366713" algn="l" rtl="0" eaLnBrk="1" fontAlgn="base" hangingPunct="1">
              <a:spcBef>
                <a:spcPct val="40000"/>
              </a:spcBef>
              <a:spcAft>
                <a:spcPct val="0"/>
              </a:spcAft>
              <a:buFont typeface="Arial" charset="0"/>
              <a:buChar char="–"/>
              <a:defRPr sz="17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Treacherous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Treachery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Treadmill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Treasure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Treasury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Trellis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Tremble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Tremolo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Tremor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Tremulous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Trench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Trenchant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Trepidation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Trespass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Trestle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7768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cohort effect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DDFFE4E-1EA7-4C45-AF6A-08F136A05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060848"/>
            <a:ext cx="10081319" cy="272074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fr-BE" b="1" dirty="0"/>
              <a:t>The size of a </a:t>
            </a:r>
            <a:r>
              <a:rPr lang="fr-BE" b="1" dirty="0" err="1"/>
              <a:t>cohort</a:t>
            </a:r>
            <a:r>
              <a:rPr lang="fr-BE" b="1" dirty="0"/>
              <a:t> </a:t>
            </a:r>
            <a:r>
              <a:rPr lang="fr-BE" dirty="0" err="1"/>
              <a:t>refers</a:t>
            </a:r>
            <a:r>
              <a:rPr lang="fr-BE" dirty="0"/>
              <a:t> to the </a:t>
            </a:r>
            <a:r>
              <a:rPr lang="fr-BE" dirty="0" err="1"/>
              <a:t>number</a:t>
            </a:r>
            <a:r>
              <a:rPr lang="fr-BE" dirty="0"/>
              <a:t> of </a:t>
            </a:r>
            <a:r>
              <a:rPr lang="fr-BE" dirty="0" err="1"/>
              <a:t>words</a:t>
            </a:r>
            <a:r>
              <a:rPr lang="fr-BE" dirty="0"/>
              <a:t> sharing the initial </a:t>
            </a:r>
            <a:r>
              <a:rPr lang="fr-BE" dirty="0" err="1"/>
              <a:t>phonemes</a:t>
            </a:r>
            <a:r>
              <a:rPr lang="fr-BE" dirty="0"/>
              <a:t> in the speech input.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 err="1"/>
              <a:t>We</a:t>
            </a:r>
            <a:r>
              <a:rPr lang="fr-BE" dirty="0"/>
              <a:t> can </a:t>
            </a:r>
            <a:r>
              <a:rPr lang="fr-BE" dirty="0" err="1"/>
              <a:t>contrast</a:t>
            </a:r>
            <a:r>
              <a:rPr lang="fr-BE" dirty="0"/>
              <a:t> items </a:t>
            </a:r>
            <a:r>
              <a:rPr lang="fr-BE" dirty="0" err="1"/>
              <a:t>associated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small</a:t>
            </a:r>
            <a:r>
              <a:rPr lang="fr-BE" dirty="0"/>
              <a:t> and large </a:t>
            </a:r>
            <a:r>
              <a:rPr lang="fr-BE" dirty="0" err="1"/>
              <a:t>cohorts</a:t>
            </a:r>
            <a:r>
              <a:rPr lang="fr-BE" dirty="0"/>
              <a:t>, and check the impact of </a:t>
            </a:r>
            <a:r>
              <a:rPr lang="fr-BE" dirty="0" err="1"/>
              <a:t>this</a:t>
            </a:r>
            <a:r>
              <a:rPr lang="fr-BE" dirty="0"/>
              <a:t> variable on </a:t>
            </a:r>
            <a:r>
              <a:rPr lang="fr-BE" dirty="0" err="1"/>
              <a:t>response</a:t>
            </a:r>
            <a:r>
              <a:rPr lang="fr-BE" dirty="0"/>
              <a:t> times.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 err="1"/>
              <a:t>Task</a:t>
            </a:r>
            <a:r>
              <a:rPr lang="fr-BE" dirty="0"/>
              <a:t>: Lexical </a:t>
            </a:r>
            <a:r>
              <a:rPr lang="fr-BE" dirty="0" err="1"/>
              <a:t>decision</a:t>
            </a:r>
            <a:r>
              <a:rPr lang="fr-BE" dirty="0"/>
              <a:t>.</a:t>
            </a:r>
          </a:p>
          <a:p>
            <a:pPr marL="0" indent="0">
              <a:buNone/>
            </a:pPr>
            <a:r>
              <a:rPr lang="fr-BE" b="1" dirty="0"/>
              <a:t>Manipulation</a:t>
            </a:r>
            <a:r>
              <a:rPr lang="fr-BE" dirty="0"/>
              <a:t>: Large vs. </a:t>
            </a:r>
            <a:r>
              <a:rPr lang="fr-BE" dirty="0" err="1"/>
              <a:t>small</a:t>
            </a:r>
            <a:r>
              <a:rPr lang="fr-BE" dirty="0"/>
              <a:t> </a:t>
            </a:r>
            <a:r>
              <a:rPr lang="fr-BE" dirty="0" err="1"/>
              <a:t>cohorts</a:t>
            </a:r>
            <a:endParaRPr lang="fr-BE" dirty="0"/>
          </a:p>
          <a:p>
            <a:pPr marL="0" indent="0">
              <a:buNone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9893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000C8D9-AF85-4545-80A0-838EF1C75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424" y="837097"/>
            <a:ext cx="3837153" cy="5183807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8B6D1C7-B6ED-4FD3-B127-409FCDE19A75}"/>
              </a:ext>
            </a:extLst>
          </p:cNvPr>
          <p:cNvCxnSpPr/>
          <p:nvPr/>
        </p:nvCxnSpPr>
        <p:spPr bwMode="auto">
          <a:xfrm>
            <a:off x="6456040" y="2132856"/>
            <a:ext cx="0" cy="86409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5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55D6DF39-78E1-4655-8FA3-AA68625F510D}"/>
              </a:ext>
            </a:extLst>
          </p:cNvPr>
          <p:cNvSpPr txBox="1"/>
          <p:nvPr/>
        </p:nvSpPr>
        <p:spPr>
          <a:xfrm>
            <a:off x="335360" y="2100337"/>
            <a:ext cx="338437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>
                <a:solidFill>
                  <a:srgbClr val="00B050"/>
                </a:solidFill>
              </a:rPr>
              <a:t>Lexicality</a:t>
            </a:r>
            <a:r>
              <a:rPr lang="fr-BE" dirty="0">
                <a:solidFill>
                  <a:srgbClr val="00B050"/>
                </a:solidFill>
              </a:rPr>
              <a:t> </a:t>
            </a:r>
            <a:r>
              <a:rPr lang="fr-BE" dirty="0" err="1">
                <a:solidFill>
                  <a:srgbClr val="00B050"/>
                </a:solidFill>
              </a:rPr>
              <a:t>effect</a:t>
            </a:r>
            <a:r>
              <a:rPr lang="fr-BE" dirty="0"/>
              <a:t>: </a:t>
            </a:r>
            <a:r>
              <a:rPr lang="fr-BE" dirty="0" err="1"/>
              <a:t>faster</a:t>
            </a:r>
            <a:r>
              <a:rPr lang="fr-BE" dirty="0"/>
              <a:t> </a:t>
            </a:r>
            <a:r>
              <a:rPr lang="fr-BE" dirty="0" err="1"/>
              <a:t>response</a:t>
            </a:r>
            <a:r>
              <a:rPr lang="fr-BE" dirty="0"/>
              <a:t> times for </a:t>
            </a:r>
            <a:r>
              <a:rPr lang="fr-BE" dirty="0" err="1"/>
              <a:t>words</a:t>
            </a:r>
            <a:r>
              <a:rPr lang="fr-BE" dirty="0"/>
              <a:t> vs. </a:t>
            </a:r>
            <a:r>
              <a:rPr lang="fr-BE" dirty="0" err="1"/>
              <a:t>nonwords</a:t>
            </a:r>
            <a:endParaRPr lang="de-CH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91CE3B0-2D36-46F0-A4A5-78A112B06986}"/>
              </a:ext>
            </a:extLst>
          </p:cNvPr>
          <p:cNvSpPr txBox="1"/>
          <p:nvPr/>
        </p:nvSpPr>
        <p:spPr>
          <a:xfrm>
            <a:off x="335360" y="3356992"/>
            <a:ext cx="338437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>
                <a:solidFill>
                  <a:srgbClr val="0070C0"/>
                </a:solidFill>
              </a:rPr>
              <a:t>Cohort</a:t>
            </a:r>
            <a:r>
              <a:rPr lang="fr-BE" dirty="0">
                <a:solidFill>
                  <a:srgbClr val="0070C0"/>
                </a:solidFill>
              </a:rPr>
              <a:t> </a:t>
            </a:r>
            <a:r>
              <a:rPr lang="fr-BE" dirty="0" err="1">
                <a:solidFill>
                  <a:srgbClr val="0070C0"/>
                </a:solidFill>
              </a:rPr>
              <a:t>effect</a:t>
            </a:r>
            <a:r>
              <a:rPr lang="fr-BE" dirty="0"/>
              <a:t>: </a:t>
            </a:r>
            <a:r>
              <a:rPr lang="fr-BE" dirty="0" err="1"/>
              <a:t>faster</a:t>
            </a:r>
            <a:r>
              <a:rPr lang="fr-BE" dirty="0"/>
              <a:t> </a:t>
            </a:r>
            <a:r>
              <a:rPr lang="fr-BE" dirty="0" err="1"/>
              <a:t>response</a:t>
            </a:r>
            <a:r>
              <a:rPr lang="fr-BE" dirty="0"/>
              <a:t> times for items </a:t>
            </a:r>
            <a:r>
              <a:rPr lang="fr-BE" dirty="0" err="1"/>
              <a:t>drawn</a:t>
            </a:r>
            <a:r>
              <a:rPr lang="fr-BE" dirty="0"/>
              <a:t> </a:t>
            </a:r>
            <a:r>
              <a:rPr lang="fr-BE" dirty="0" err="1"/>
              <a:t>from</a:t>
            </a:r>
            <a:r>
              <a:rPr lang="fr-BE" dirty="0"/>
              <a:t> </a:t>
            </a:r>
            <a:r>
              <a:rPr lang="fr-BE" dirty="0" err="1"/>
              <a:t>small</a:t>
            </a:r>
            <a:r>
              <a:rPr lang="fr-BE" dirty="0"/>
              <a:t> vs. large </a:t>
            </a:r>
            <a:r>
              <a:rPr lang="fr-BE" dirty="0" err="1"/>
              <a:t>cohorts</a:t>
            </a:r>
            <a:endParaRPr lang="de-CH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072BF69-04AC-45FE-AF5E-297AB4634497}"/>
              </a:ext>
            </a:extLst>
          </p:cNvPr>
          <p:cNvCxnSpPr>
            <a:cxnSpLocks/>
          </p:cNvCxnSpPr>
          <p:nvPr/>
        </p:nvCxnSpPr>
        <p:spPr bwMode="auto">
          <a:xfrm>
            <a:off x="6023992" y="2996952"/>
            <a:ext cx="720080" cy="5760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70C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0224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Neuroimaging evidence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F5AA53-7C74-4666-B1F4-E9E8839B93C5}"/>
              </a:ext>
            </a:extLst>
          </p:cNvPr>
          <p:cNvSpPr txBox="1"/>
          <p:nvPr/>
        </p:nvSpPr>
        <p:spPr>
          <a:xfrm>
            <a:off x="2994831" y="3284984"/>
            <a:ext cx="620233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fr-BE" dirty="0"/>
              <a:t>Putting people in an MRI</a:t>
            </a:r>
          </a:p>
          <a:p>
            <a:pPr marL="342900" indent="-342900">
              <a:buAutoNum type="arabicPeriod"/>
            </a:pPr>
            <a:r>
              <a:rPr lang="fr-BE" dirty="0" err="1"/>
              <a:t>Making</a:t>
            </a:r>
            <a:r>
              <a:rPr lang="fr-BE" dirty="0"/>
              <a:t> </a:t>
            </a:r>
            <a:r>
              <a:rPr lang="fr-BE" dirty="0" err="1"/>
              <a:t>them</a:t>
            </a:r>
            <a:r>
              <a:rPr lang="fr-BE" dirty="0"/>
              <a:t> </a:t>
            </a:r>
            <a:r>
              <a:rPr lang="fr-BE" dirty="0" err="1"/>
              <a:t>perform</a:t>
            </a:r>
            <a:r>
              <a:rPr lang="fr-BE" dirty="0"/>
              <a:t> lexical </a:t>
            </a:r>
            <a:r>
              <a:rPr lang="fr-BE" dirty="0" err="1"/>
              <a:t>decisions</a:t>
            </a:r>
            <a:r>
              <a:rPr lang="fr-BE" dirty="0"/>
              <a:t> on a </a:t>
            </a:r>
            <a:r>
              <a:rPr lang="fr-BE" dirty="0" err="1"/>
              <a:t>bunch</a:t>
            </a:r>
            <a:r>
              <a:rPr lang="fr-BE" dirty="0"/>
              <a:t> of items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0228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Neuroimaging evidence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F7CCADC-79F5-4C42-A11C-D120504CB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45" y="2278956"/>
            <a:ext cx="8641510" cy="371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2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Neuroimaging evidence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F88BFC9-7B69-4ECB-85F4-342B3319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6" y="1628800"/>
            <a:ext cx="4289237" cy="45967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74342E9-39FB-4E75-88DC-6F3EC0ADCE31}"/>
              </a:ext>
            </a:extLst>
          </p:cNvPr>
          <p:cNvSpPr txBox="1"/>
          <p:nvPr/>
        </p:nvSpPr>
        <p:spPr>
          <a:xfrm>
            <a:off x="944278" y="3266060"/>
            <a:ext cx="494387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Parametrical</a:t>
            </a:r>
            <a:r>
              <a:rPr lang="fr-BE" dirty="0"/>
              <a:t> modulation of the </a:t>
            </a:r>
            <a:r>
              <a:rPr lang="fr-BE" dirty="0" err="1"/>
              <a:t>activity</a:t>
            </a:r>
            <a:r>
              <a:rPr lang="fr-BE" dirty="0"/>
              <a:t> in </a:t>
            </a:r>
            <a:r>
              <a:rPr lang="fr-BE" dirty="0" err="1"/>
              <a:t>phonological</a:t>
            </a:r>
            <a:r>
              <a:rPr lang="fr-BE" dirty="0"/>
              <a:t> – lexical </a:t>
            </a:r>
            <a:r>
              <a:rPr lang="fr-BE" dirty="0" err="1"/>
              <a:t>regions</a:t>
            </a:r>
            <a:r>
              <a:rPr lang="fr-BE" dirty="0"/>
              <a:t> as a </a:t>
            </a:r>
            <a:r>
              <a:rPr lang="fr-BE" dirty="0" err="1"/>
              <a:t>function</a:t>
            </a:r>
            <a:r>
              <a:rPr lang="fr-BE" dirty="0"/>
              <a:t> of </a:t>
            </a:r>
            <a:r>
              <a:rPr lang="fr-BE" dirty="0" err="1"/>
              <a:t>nonword</a:t>
            </a:r>
            <a:r>
              <a:rPr lang="fr-BE" dirty="0"/>
              <a:t> point.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024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Neuroimaging evidence</a:t>
            </a:r>
          </a:p>
        </p:txBody>
      </p:sp>
      <p:pic>
        <p:nvPicPr>
          <p:cNvPr id="9" name="Image 8" descr="Une image contenant texte, musique&#10;&#10;Description générée automatiquement">
            <a:extLst>
              <a:ext uri="{FF2B5EF4-FFF2-40B4-BE49-F238E27FC236}">
                <a16:creationId xmlns:a16="http://schemas.microsoft.com/office/drawing/2014/main" id="{AA3AB7CA-27A2-4431-A1AA-AD5BC5D52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1988840"/>
            <a:ext cx="4320480" cy="432872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08B03FE-6C25-4D73-AF6B-C11658F8645D}"/>
              </a:ext>
            </a:extLst>
          </p:cNvPr>
          <p:cNvSpPr txBox="1"/>
          <p:nvPr/>
        </p:nvSpPr>
        <p:spPr>
          <a:xfrm>
            <a:off x="911225" y="3212976"/>
            <a:ext cx="494387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Correlation</a:t>
            </a:r>
            <a:r>
              <a:rPr lang="fr-BE" dirty="0"/>
              <a:t> </a:t>
            </a:r>
            <a:r>
              <a:rPr lang="fr-BE" dirty="0" err="1"/>
              <a:t>between</a:t>
            </a:r>
            <a:r>
              <a:rPr lang="fr-BE" dirty="0"/>
              <a:t> </a:t>
            </a:r>
            <a:r>
              <a:rPr lang="fr-BE" dirty="0" err="1"/>
              <a:t>activity</a:t>
            </a:r>
            <a:r>
              <a:rPr lang="fr-BE" dirty="0"/>
              <a:t> in </a:t>
            </a:r>
            <a:r>
              <a:rPr lang="fr-BE" dirty="0" err="1"/>
              <a:t>prefrontal</a:t>
            </a:r>
            <a:r>
              <a:rPr lang="fr-BE" dirty="0"/>
              <a:t> </a:t>
            </a:r>
            <a:r>
              <a:rPr lang="fr-BE" dirty="0" err="1"/>
              <a:t>regions</a:t>
            </a:r>
            <a:r>
              <a:rPr lang="fr-BE" dirty="0"/>
              <a:t> and </a:t>
            </a:r>
            <a:r>
              <a:rPr lang="fr-BE" dirty="0" err="1"/>
              <a:t>cohort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 / </a:t>
            </a:r>
            <a:r>
              <a:rPr lang="fr-BE" dirty="0" err="1"/>
              <a:t>selection</a:t>
            </a:r>
            <a:r>
              <a:rPr lang="fr-BE" dirty="0"/>
              <a:t>.</a:t>
            </a:r>
          </a:p>
          <a:p>
            <a:endParaRPr lang="fr-BE" dirty="0"/>
          </a:p>
          <a:p>
            <a:r>
              <a:rPr lang="fr-BE" dirty="0" err="1"/>
              <a:t>Those</a:t>
            </a:r>
            <a:r>
              <a:rPr lang="fr-BE" dirty="0"/>
              <a:t> </a:t>
            </a:r>
            <a:r>
              <a:rPr lang="fr-BE" dirty="0" err="1"/>
              <a:t>regions</a:t>
            </a:r>
            <a:r>
              <a:rPr lang="fr-BE" dirty="0"/>
              <a:t> are </a:t>
            </a:r>
            <a:r>
              <a:rPr lang="fr-BE" dirty="0" err="1"/>
              <a:t>typically</a:t>
            </a:r>
            <a:r>
              <a:rPr lang="fr-BE" dirty="0"/>
              <a:t> </a:t>
            </a:r>
            <a:r>
              <a:rPr lang="fr-BE" dirty="0" err="1"/>
              <a:t>involved</a:t>
            </a:r>
            <a:r>
              <a:rPr lang="fr-BE" dirty="0"/>
              <a:t> in </a:t>
            </a:r>
            <a:r>
              <a:rPr lang="fr-BE" dirty="0" err="1"/>
              <a:t>controlled</a:t>
            </a:r>
            <a:r>
              <a:rPr lang="fr-BE" dirty="0"/>
              <a:t> </a:t>
            </a:r>
            <a:r>
              <a:rPr lang="fr-BE" dirty="0" err="1"/>
              <a:t>processes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9152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510BF4-018A-47C0-B92F-938A3431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205039"/>
            <a:ext cx="10297343" cy="3887787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Word recognition </a:t>
            </a:r>
            <a:r>
              <a:rPr lang="fr-BE" dirty="0" err="1"/>
              <a:t>is</a:t>
            </a:r>
            <a:r>
              <a:rPr lang="fr-BE" dirty="0"/>
              <a:t> not </a:t>
            </a:r>
            <a:r>
              <a:rPr lang="fr-BE" dirty="0" err="1"/>
              <a:t>solely</a:t>
            </a:r>
            <a:r>
              <a:rPr lang="fr-BE" dirty="0"/>
              <a:t> </a:t>
            </a:r>
            <a:r>
              <a:rPr lang="fr-BE" dirty="0" err="1"/>
              <a:t>driven</a:t>
            </a:r>
            <a:r>
              <a:rPr lang="fr-BE" dirty="0"/>
              <a:t> by the </a:t>
            </a:r>
            <a:r>
              <a:rPr lang="fr-BE" dirty="0" err="1"/>
              <a:t>bottom</a:t>
            </a:r>
            <a:r>
              <a:rPr lang="fr-BE" dirty="0"/>
              <a:t>-up input. It </a:t>
            </a:r>
            <a:r>
              <a:rPr lang="fr-BE" dirty="0" err="1"/>
              <a:t>also</a:t>
            </a:r>
            <a:r>
              <a:rPr lang="fr-BE" dirty="0"/>
              <a:t> </a:t>
            </a:r>
            <a:r>
              <a:rPr lang="fr-BE" dirty="0" err="1"/>
              <a:t>depends</a:t>
            </a:r>
            <a:r>
              <a:rPr lang="fr-BE" dirty="0"/>
              <a:t> on the top-down, </a:t>
            </a:r>
            <a:r>
              <a:rPr lang="fr-BE" dirty="0" err="1"/>
              <a:t>contextual</a:t>
            </a:r>
            <a:r>
              <a:rPr lang="fr-BE" dirty="0"/>
              <a:t> information.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Word monitoring </a:t>
            </a:r>
            <a:r>
              <a:rPr lang="fr-BE" b="1" dirty="0" err="1"/>
              <a:t>task</a:t>
            </a:r>
            <a:r>
              <a:rPr lang="fr-BE" dirty="0"/>
              <a:t>: people </a:t>
            </a:r>
            <a:r>
              <a:rPr lang="fr-BE" dirty="0" err="1"/>
              <a:t>need</a:t>
            </a:r>
            <a:r>
              <a:rPr lang="fr-BE" dirty="0"/>
              <a:t> to </a:t>
            </a:r>
            <a:r>
              <a:rPr lang="fr-BE" dirty="0" err="1"/>
              <a:t>press</a:t>
            </a:r>
            <a:r>
              <a:rPr lang="fr-BE" dirty="0"/>
              <a:t> a </a:t>
            </a:r>
            <a:r>
              <a:rPr lang="fr-BE" dirty="0" err="1"/>
              <a:t>button</a:t>
            </a:r>
            <a:r>
              <a:rPr lang="fr-BE" dirty="0"/>
              <a:t> as </a:t>
            </a:r>
            <a:r>
              <a:rPr lang="fr-BE" dirty="0" err="1"/>
              <a:t>soon</a:t>
            </a:r>
            <a:r>
              <a:rPr lang="fr-BE" dirty="0"/>
              <a:t> as </a:t>
            </a:r>
            <a:r>
              <a:rPr lang="fr-BE" dirty="0" err="1"/>
              <a:t>they</a:t>
            </a:r>
            <a:r>
              <a:rPr lang="fr-BE" dirty="0"/>
              <a:t> </a:t>
            </a:r>
            <a:r>
              <a:rPr lang="fr-BE" dirty="0" err="1"/>
              <a:t>hear</a:t>
            </a:r>
            <a:r>
              <a:rPr lang="fr-BE" dirty="0"/>
              <a:t> a </a:t>
            </a:r>
            <a:r>
              <a:rPr lang="fr-BE" dirty="0" err="1"/>
              <a:t>target</a:t>
            </a:r>
            <a:r>
              <a:rPr lang="fr-BE" dirty="0"/>
              <a:t> </a:t>
            </a:r>
            <a:r>
              <a:rPr lang="fr-BE" dirty="0" err="1"/>
              <a:t>word</a:t>
            </a:r>
            <a:r>
              <a:rPr lang="fr-BE" dirty="0"/>
              <a:t>. The </a:t>
            </a:r>
            <a:r>
              <a:rPr lang="fr-BE" dirty="0" err="1"/>
              <a:t>target</a:t>
            </a:r>
            <a:r>
              <a:rPr lang="fr-BE" dirty="0"/>
              <a:t> </a:t>
            </a:r>
            <a:r>
              <a:rPr lang="fr-BE" dirty="0" err="1"/>
              <a:t>word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given</a:t>
            </a:r>
            <a:r>
              <a:rPr lang="fr-BE" dirty="0"/>
              <a:t> to </a:t>
            </a:r>
            <a:r>
              <a:rPr lang="fr-BE" dirty="0" err="1"/>
              <a:t>them</a:t>
            </a:r>
            <a:r>
              <a:rPr lang="fr-BE" dirty="0"/>
              <a:t> </a:t>
            </a:r>
            <a:r>
              <a:rPr lang="fr-BE" dirty="0" err="1"/>
              <a:t>before</a:t>
            </a:r>
            <a:r>
              <a:rPr lang="fr-BE" dirty="0"/>
              <a:t> </a:t>
            </a:r>
            <a:r>
              <a:rPr lang="fr-BE" dirty="0" err="1"/>
              <a:t>they</a:t>
            </a:r>
            <a:r>
              <a:rPr lang="fr-BE" dirty="0"/>
              <a:t> </a:t>
            </a:r>
            <a:r>
              <a:rPr lang="fr-BE" dirty="0" err="1"/>
              <a:t>hear</a:t>
            </a:r>
            <a:r>
              <a:rPr lang="fr-BE" dirty="0"/>
              <a:t> the sentence.</a:t>
            </a:r>
          </a:p>
        </p:txBody>
      </p:sp>
    </p:spTree>
    <p:extLst>
      <p:ext uri="{BB962C8B-B14F-4D97-AF65-F5344CB8AC3E}">
        <p14:creationId xmlns:p14="http://schemas.microsoft.com/office/powerpoint/2010/main" val="190124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510BF4-018A-47C0-B92F-938A3431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205039"/>
            <a:ext cx="10297343" cy="3887787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Word monitoring </a:t>
            </a:r>
            <a:r>
              <a:rPr lang="fr-BE" dirty="0" err="1"/>
              <a:t>task</a:t>
            </a:r>
            <a:r>
              <a:rPr lang="fr-BE" dirty="0"/>
              <a:t> – </a:t>
            </a:r>
            <a:r>
              <a:rPr lang="fr-BE" u="sng" dirty="0" err="1"/>
              <a:t>Late</a:t>
            </a:r>
            <a:r>
              <a:rPr lang="fr-BE" u="sng" dirty="0"/>
              <a:t> </a:t>
            </a:r>
            <a:r>
              <a:rPr lang="fr-BE" u="sng" dirty="0" err="1"/>
              <a:t>word</a:t>
            </a:r>
            <a:r>
              <a:rPr lang="fr-BE" u="sng" dirty="0"/>
              <a:t> position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Target </a:t>
            </a:r>
            <a:r>
              <a:rPr lang="fr-BE" b="1" dirty="0" err="1"/>
              <a:t>word</a:t>
            </a:r>
            <a:r>
              <a:rPr lang="fr-BE" dirty="0"/>
              <a:t>: cigarette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Normal </a:t>
            </a:r>
            <a:r>
              <a:rPr lang="fr-BE" b="1" dirty="0" err="1"/>
              <a:t>context</a:t>
            </a:r>
            <a:r>
              <a:rPr lang="fr-BE" dirty="0"/>
              <a:t>: He </a:t>
            </a:r>
            <a:r>
              <a:rPr lang="fr-BE" dirty="0" err="1"/>
              <a:t>was</a:t>
            </a:r>
            <a:r>
              <a:rPr lang="fr-BE" dirty="0"/>
              <a:t> </a:t>
            </a:r>
            <a:r>
              <a:rPr lang="fr-BE" dirty="0" err="1"/>
              <a:t>stressed</a:t>
            </a:r>
            <a:r>
              <a:rPr lang="fr-BE" dirty="0"/>
              <a:t>, </a:t>
            </a:r>
            <a:r>
              <a:rPr lang="fr-BE" dirty="0" err="1"/>
              <a:t>so</a:t>
            </a:r>
            <a:r>
              <a:rPr lang="fr-BE" dirty="0"/>
              <a:t> </a:t>
            </a:r>
            <a:r>
              <a:rPr lang="fr-BE" dirty="0" err="1"/>
              <a:t>he</a:t>
            </a:r>
            <a:r>
              <a:rPr lang="fr-BE" dirty="0"/>
              <a:t> </a:t>
            </a:r>
            <a:r>
              <a:rPr lang="fr-BE" dirty="0" err="1"/>
              <a:t>decided</a:t>
            </a:r>
            <a:r>
              <a:rPr lang="fr-BE" dirty="0"/>
              <a:t> to light up a </a:t>
            </a:r>
            <a:r>
              <a:rPr lang="fr-BE" i="1" dirty="0"/>
              <a:t>cigarette </a:t>
            </a:r>
            <a:r>
              <a:rPr lang="fr-BE" dirty="0" err="1"/>
              <a:t>before</a:t>
            </a:r>
            <a:r>
              <a:rPr lang="fr-BE" dirty="0"/>
              <a:t> </a:t>
            </a:r>
            <a:r>
              <a:rPr lang="fr-BE" dirty="0" err="1"/>
              <a:t>leaving</a:t>
            </a:r>
            <a:endParaRPr lang="fr-BE" i="1" dirty="0"/>
          </a:p>
          <a:p>
            <a:pPr marL="0" indent="0">
              <a:buNone/>
            </a:pPr>
            <a:r>
              <a:rPr lang="fr-BE" b="1" dirty="0" err="1"/>
              <a:t>Syntactic</a:t>
            </a:r>
            <a:r>
              <a:rPr lang="fr-BE" b="1" dirty="0"/>
              <a:t> </a:t>
            </a:r>
            <a:r>
              <a:rPr lang="fr-BE" b="1" dirty="0" err="1"/>
              <a:t>context</a:t>
            </a:r>
            <a:r>
              <a:rPr lang="fr-BE" dirty="0"/>
              <a:t>: </a:t>
            </a:r>
            <a:r>
              <a:rPr lang="fr-BE" dirty="0" err="1"/>
              <a:t>Several</a:t>
            </a:r>
            <a:r>
              <a:rPr lang="fr-BE" dirty="0"/>
              <a:t> </a:t>
            </a:r>
            <a:r>
              <a:rPr lang="fr-BE" dirty="0" err="1"/>
              <a:t>bunch</a:t>
            </a:r>
            <a:r>
              <a:rPr lang="fr-BE" dirty="0"/>
              <a:t> a </a:t>
            </a:r>
            <a:r>
              <a:rPr lang="fr-BE" dirty="0" err="1"/>
              <a:t>moon</a:t>
            </a:r>
            <a:r>
              <a:rPr lang="fr-BE" dirty="0"/>
              <a:t>, the cars </a:t>
            </a:r>
            <a:r>
              <a:rPr lang="fr-BE" dirty="0" err="1"/>
              <a:t>fly</a:t>
            </a:r>
            <a:r>
              <a:rPr lang="fr-BE" dirty="0"/>
              <a:t> </a:t>
            </a:r>
            <a:r>
              <a:rPr lang="fr-BE" dirty="0" err="1"/>
              <a:t>under</a:t>
            </a:r>
            <a:r>
              <a:rPr lang="fr-BE" dirty="0"/>
              <a:t> the </a:t>
            </a:r>
            <a:r>
              <a:rPr lang="fr-BE" i="1" dirty="0"/>
              <a:t>cigarette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</a:t>
            </a:r>
            <a:r>
              <a:rPr lang="fr-BE" dirty="0" err="1"/>
              <a:t>makes</a:t>
            </a:r>
            <a:r>
              <a:rPr lang="fr-BE" dirty="0"/>
              <a:t> ketchup</a:t>
            </a:r>
          </a:p>
          <a:p>
            <a:pPr marL="0" indent="0">
              <a:buNone/>
            </a:pPr>
            <a:r>
              <a:rPr lang="fr-BE" b="1" dirty="0" err="1"/>
              <a:t>Random</a:t>
            </a:r>
            <a:r>
              <a:rPr lang="fr-BE" b="1" dirty="0"/>
              <a:t> </a:t>
            </a:r>
            <a:r>
              <a:rPr lang="fr-BE" b="1" dirty="0" err="1"/>
              <a:t>order</a:t>
            </a:r>
            <a:r>
              <a:rPr lang="fr-BE" dirty="0"/>
              <a:t>: </a:t>
            </a:r>
            <a:r>
              <a:rPr lang="fr-BE" dirty="0" err="1"/>
              <a:t>Leaving</a:t>
            </a:r>
            <a:r>
              <a:rPr lang="fr-BE" dirty="0"/>
              <a:t> </a:t>
            </a:r>
            <a:r>
              <a:rPr lang="fr-BE" dirty="0" err="1"/>
              <a:t>he</a:t>
            </a:r>
            <a:r>
              <a:rPr lang="fr-BE" dirty="0"/>
              <a:t> </a:t>
            </a:r>
            <a:r>
              <a:rPr lang="fr-BE" dirty="0" err="1"/>
              <a:t>stressed</a:t>
            </a:r>
            <a:r>
              <a:rPr lang="fr-BE" dirty="0"/>
              <a:t> light </a:t>
            </a:r>
            <a:r>
              <a:rPr lang="fr-BE" dirty="0" err="1"/>
              <a:t>was</a:t>
            </a:r>
            <a:r>
              <a:rPr lang="fr-BE" dirty="0"/>
              <a:t>, </a:t>
            </a:r>
            <a:r>
              <a:rPr lang="fr-BE" dirty="0" err="1"/>
              <a:t>so</a:t>
            </a:r>
            <a:r>
              <a:rPr lang="fr-BE" dirty="0"/>
              <a:t> </a:t>
            </a:r>
            <a:r>
              <a:rPr lang="fr-BE" dirty="0" err="1"/>
              <a:t>he</a:t>
            </a:r>
            <a:r>
              <a:rPr lang="fr-BE" dirty="0"/>
              <a:t> to </a:t>
            </a:r>
            <a:r>
              <a:rPr lang="fr-BE" i="1" dirty="0"/>
              <a:t>cigarette</a:t>
            </a:r>
            <a:r>
              <a:rPr lang="fr-BE" dirty="0"/>
              <a:t> up</a:t>
            </a:r>
            <a:r>
              <a:rPr lang="fr-BE" i="1" dirty="0"/>
              <a:t> </a:t>
            </a:r>
            <a:r>
              <a:rPr lang="fr-BE" dirty="0" err="1"/>
              <a:t>before</a:t>
            </a:r>
            <a:r>
              <a:rPr lang="fr-BE" dirty="0"/>
              <a:t> </a:t>
            </a:r>
            <a:r>
              <a:rPr lang="fr-BE" dirty="0" err="1"/>
              <a:t>decided</a:t>
            </a:r>
            <a:r>
              <a:rPr lang="fr-BE" dirty="0"/>
              <a:t> a</a:t>
            </a:r>
          </a:p>
          <a:p>
            <a:pPr marL="0" indent="0">
              <a:buNone/>
            </a:pPr>
            <a:endParaRPr lang="fr-BE" i="1" dirty="0"/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4799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510BF4-018A-47C0-B92F-938A3431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205039"/>
            <a:ext cx="10297343" cy="3887787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Word monitoring </a:t>
            </a:r>
            <a:r>
              <a:rPr lang="fr-BE" dirty="0" err="1"/>
              <a:t>task</a:t>
            </a:r>
            <a:r>
              <a:rPr lang="fr-BE" dirty="0"/>
              <a:t> – </a:t>
            </a:r>
            <a:r>
              <a:rPr lang="fr-BE" u="sng" dirty="0" err="1"/>
              <a:t>Early</a:t>
            </a:r>
            <a:r>
              <a:rPr lang="fr-BE" u="sng" dirty="0"/>
              <a:t> </a:t>
            </a:r>
            <a:r>
              <a:rPr lang="fr-BE" u="sng" dirty="0" err="1"/>
              <a:t>word</a:t>
            </a:r>
            <a:r>
              <a:rPr lang="fr-BE" u="sng" dirty="0"/>
              <a:t> position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Target </a:t>
            </a:r>
            <a:r>
              <a:rPr lang="fr-BE" b="1" dirty="0" err="1"/>
              <a:t>word</a:t>
            </a:r>
            <a:r>
              <a:rPr lang="fr-BE" dirty="0"/>
              <a:t>: cigarette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Normal </a:t>
            </a:r>
            <a:r>
              <a:rPr lang="fr-BE" b="1" dirty="0" err="1"/>
              <a:t>context</a:t>
            </a:r>
            <a:r>
              <a:rPr lang="fr-BE" dirty="0"/>
              <a:t>: The good </a:t>
            </a:r>
            <a:r>
              <a:rPr lang="fr-BE" dirty="0" err="1"/>
              <a:t>old</a:t>
            </a:r>
            <a:r>
              <a:rPr lang="fr-BE" dirty="0"/>
              <a:t> </a:t>
            </a:r>
            <a:r>
              <a:rPr lang="fr-BE" i="1" dirty="0"/>
              <a:t>cigarette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still</a:t>
            </a:r>
            <a:r>
              <a:rPr lang="fr-BE" dirty="0"/>
              <a:t> </a:t>
            </a:r>
            <a:r>
              <a:rPr lang="fr-BE" dirty="0" err="1"/>
              <a:t>bad</a:t>
            </a:r>
            <a:r>
              <a:rPr lang="fr-BE" dirty="0"/>
              <a:t> for </a:t>
            </a:r>
            <a:r>
              <a:rPr lang="fr-BE" dirty="0" err="1"/>
              <a:t>your</a:t>
            </a:r>
            <a:r>
              <a:rPr lang="fr-BE" dirty="0"/>
              <a:t> </a:t>
            </a:r>
            <a:r>
              <a:rPr lang="fr-BE" dirty="0" err="1"/>
              <a:t>lungs</a:t>
            </a:r>
            <a:endParaRPr lang="fr-BE" i="1" dirty="0"/>
          </a:p>
          <a:p>
            <a:pPr marL="0" indent="0">
              <a:buNone/>
            </a:pPr>
            <a:r>
              <a:rPr lang="fr-BE" b="1" dirty="0" err="1"/>
              <a:t>Syntactic</a:t>
            </a:r>
            <a:r>
              <a:rPr lang="fr-BE" b="1" dirty="0"/>
              <a:t> </a:t>
            </a:r>
            <a:r>
              <a:rPr lang="fr-BE" b="1" dirty="0" err="1"/>
              <a:t>context</a:t>
            </a:r>
            <a:r>
              <a:rPr lang="fr-BE" dirty="0"/>
              <a:t>: </a:t>
            </a:r>
            <a:r>
              <a:rPr lang="fr-BE" dirty="0" err="1"/>
              <a:t>Around</a:t>
            </a:r>
            <a:r>
              <a:rPr lang="fr-BE" dirty="0"/>
              <a:t> the </a:t>
            </a:r>
            <a:r>
              <a:rPr lang="fr-BE" dirty="0" err="1"/>
              <a:t>praying</a:t>
            </a:r>
            <a:r>
              <a:rPr lang="fr-BE" dirty="0"/>
              <a:t> cigarette, </a:t>
            </a:r>
            <a:r>
              <a:rPr lang="fr-BE" dirty="0" err="1"/>
              <a:t>caucasians</a:t>
            </a:r>
            <a:r>
              <a:rPr lang="fr-BE" dirty="0"/>
              <a:t> glasses </a:t>
            </a:r>
            <a:r>
              <a:rPr lang="fr-BE" dirty="0" err="1"/>
              <a:t>navigate</a:t>
            </a:r>
            <a:endParaRPr lang="fr-BE" dirty="0"/>
          </a:p>
          <a:p>
            <a:pPr marL="0" indent="0">
              <a:buNone/>
            </a:pPr>
            <a:r>
              <a:rPr lang="fr-BE" b="1" dirty="0" err="1"/>
              <a:t>Random</a:t>
            </a:r>
            <a:r>
              <a:rPr lang="fr-BE" b="1" dirty="0"/>
              <a:t> </a:t>
            </a:r>
            <a:r>
              <a:rPr lang="fr-BE" b="1" dirty="0" err="1"/>
              <a:t>order</a:t>
            </a:r>
            <a:r>
              <a:rPr lang="fr-BE" dirty="0"/>
              <a:t>: </a:t>
            </a:r>
            <a:r>
              <a:rPr lang="fr-BE" dirty="0" err="1"/>
              <a:t>bad</a:t>
            </a:r>
            <a:r>
              <a:rPr lang="fr-BE" dirty="0"/>
              <a:t> </a:t>
            </a:r>
            <a:r>
              <a:rPr lang="fr-BE" dirty="0" err="1"/>
              <a:t>Lungs</a:t>
            </a:r>
            <a:r>
              <a:rPr lang="fr-BE" dirty="0"/>
              <a:t> </a:t>
            </a:r>
            <a:r>
              <a:rPr lang="fr-BE" i="1" dirty="0"/>
              <a:t>cigarette</a:t>
            </a:r>
            <a:r>
              <a:rPr lang="fr-BE" dirty="0"/>
              <a:t> the </a:t>
            </a:r>
            <a:r>
              <a:rPr lang="fr-BE" dirty="0" err="1"/>
              <a:t>old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still</a:t>
            </a:r>
            <a:r>
              <a:rPr lang="fr-BE" dirty="0"/>
              <a:t> good for </a:t>
            </a:r>
            <a:r>
              <a:rPr lang="fr-BE" dirty="0" err="1"/>
              <a:t>your</a:t>
            </a:r>
            <a:endParaRPr lang="fr-BE" i="1" dirty="0"/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930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510BF4-018A-47C0-B92F-938A3431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205039"/>
            <a:ext cx="10297343" cy="3887787"/>
          </a:xfrm>
        </p:spPr>
        <p:txBody>
          <a:bodyPr/>
          <a:lstStyle/>
          <a:p>
            <a:pPr marL="0" indent="0">
              <a:buNone/>
            </a:pPr>
            <a:r>
              <a:rPr lang="fr-BE" dirty="0"/>
              <a:t>Manipulations: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The type of </a:t>
            </a:r>
            <a:r>
              <a:rPr lang="fr-BE" b="1" dirty="0" err="1"/>
              <a:t>context</a:t>
            </a:r>
            <a:r>
              <a:rPr lang="fr-BE" dirty="0"/>
              <a:t>: normal – </a:t>
            </a:r>
            <a:r>
              <a:rPr lang="fr-BE" dirty="0" err="1"/>
              <a:t>syntactic</a:t>
            </a:r>
            <a:r>
              <a:rPr lang="fr-BE" dirty="0"/>
              <a:t> – </a:t>
            </a:r>
            <a:r>
              <a:rPr lang="fr-BE" dirty="0" err="1"/>
              <a:t>random</a:t>
            </a:r>
            <a:endParaRPr lang="fr-BE" dirty="0"/>
          </a:p>
          <a:p>
            <a:pPr marL="0" indent="0">
              <a:buNone/>
            </a:pPr>
            <a:r>
              <a:rPr lang="fr-BE" b="1" dirty="0"/>
              <a:t>Word position in a </a:t>
            </a:r>
            <a:r>
              <a:rPr lang="fr-BE" b="1" dirty="0" err="1"/>
              <a:t>list</a:t>
            </a:r>
            <a:r>
              <a:rPr lang="fr-BE" b="1" dirty="0"/>
              <a:t> </a:t>
            </a:r>
            <a:r>
              <a:rPr lang="fr-BE" dirty="0"/>
              <a:t>– </a:t>
            </a:r>
            <a:r>
              <a:rPr lang="fr-BE" dirty="0" err="1"/>
              <a:t>parametric</a:t>
            </a:r>
            <a:r>
              <a:rPr lang="fr-BE" dirty="0"/>
              <a:t> modulation: </a:t>
            </a:r>
            <a:r>
              <a:rPr lang="fr-BE" dirty="0" err="1"/>
              <a:t>early</a:t>
            </a:r>
            <a:r>
              <a:rPr lang="fr-BE" dirty="0"/>
              <a:t> – middle – </a:t>
            </a:r>
            <a:r>
              <a:rPr lang="fr-BE" dirty="0" err="1"/>
              <a:t>late</a:t>
            </a:r>
            <a:endParaRPr lang="fr-BE" dirty="0"/>
          </a:p>
          <a:p>
            <a:pPr marL="0" indent="0">
              <a:buNone/>
            </a:pPr>
            <a:r>
              <a:rPr lang="fr-BE" b="1" dirty="0"/>
              <a:t>Word duration </a:t>
            </a:r>
            <a:r>
              <a:rPr lang="fr-BE" dirty="0"/>
              <a:t>– the longer a </a:t>
            </a:r>
            <a:r>
              <a:rPr lang="fr-BE" dirty="0" err="1"/>
              <a:t>word</a:t>
            </a:r>
            <a:r>
              <a:rPr lang="fr-BE" dirty="0"/>
              <a:t>, the longer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takes</a:t>
            </a:r>
            <a:r>
              <a:rPr lang="fr-BE" dirty="0"/>
              <a:t> to </a:t>
            </a:r>
            <a:r>
              <a:rPr lang="fr-BE" dirty="0" err="1"/>
              <a:t>recognize</a:t>
            </a:r>
            <a:r>
              <a:rPr lang="fr-BE" dirty="0"/>
              <a:t> </a:t>
            </a:r>
            <a:r>
              <a:rPr lang="fr-BE" dirty="0" err="1"/>
              <a:t>it</a:t>
            </a: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 err="1"/>
              <a:t>Three</a:t>
            </a:r>
            <a:r>
              <a:rPr lang="fr-BE" dirty="0"/>
              <a:t> variables – </a:t>
            </a:r>
            <a:r>
              <a:rPr lang="fr-BE" dirty="0" err="1"/>
              <a:t>Relatively</a:t>
            </a:r>
            <a:r>
              <a:rPr lang="fr-BE" dirty="0"/>
              <a:t> </a:t>
            </a:r>
            <a:r>
              <a:rPr lang="fr-BE" dirty="0" err="1"/>
              <a:t>complex</a:t>
            </a:r>
            <a:r>
              <a:rPr lang="fr-BE"/>
              <a:t> data to </a:t>
            </a:r>
            <a:r>
              <a:rPr lang="fr-BE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93412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pic>
        <p:nvPicPr>
          <p:cNvPr id="10" name="Image 9" descr="Une image contenant texte, reçu, document, capture d’écran&#10;&#10;Description générée automatiquement">
            <a:extLst>
              <a:ext uri="{FF2B5EF4-FFF2-40B4-BE49-F238E27FC236}">
                <a16:creationId xmlns:a16="http://schemas.microsoft.com/office/drawing/2014/main" id="{1A3216BB-E3BA-44FB-884A-9B037A058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060848"/>
            <a:ext cx="4996918" cy="415936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685195C-F35C-4FB9-B6B7-33F5AA5A2417}"/>
              </a:ext>
            </a:extLst>
          </p:cNvPr>
          <p:cNvSpPr txBox="1"/>
          <p:nvPr/>
        </p:nvSpPr>
        <p:spPr>
          <a:xfrm>
            <a:off x="5887337" y="2030251"/>
            <a:ext cx="494387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Response</a:t>
            </a:r>
            <a:r>
              <a:rPr lang="fr-BE" dirty="0"/>
              <a:t> times </a:t>
            </a:r>
            <a:r>
              <a:rPr lang="fr-BE" dirty="0" err="1"/>
              <a:t>decreases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word</a:t>
            </a:r>
            <a:r>
              <a:rPr lang="fr-BE" dirty="0"/>
              <a:t> position… and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especially</a:t>
            </a:r>
            <a:r>
              <a:rPr lang="fr-BE" dirty="0"/>
              <a:t> the case as the </a:t>
            </a:r>
            <a:r>
              <a:rPr lang="fr-BE" dirty="0" err="1"/>
              <a:t>context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relevant in the sentence.</a:t>
            </a:r>
            <a:endParaRPr lang="de-CH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90842C-F6A4-47A8-B1FE-17A91EBC4FB8}"/>
              </a:ext>
            </a:extLst>
          </p:cNvPr>
          <p:cNvSpPr txBox="1"/>
          <p:nvPr/>
        </p:nvSpPr>
        <p:spPr>
          <a:xfrm>
            <a:off x="6791656" y="3253900"/>
            <a:ext cx="49438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When</a:t>
            </a:r>
            <a:r>
              <a:rPr lang="fr-BE" dirty="0"/>
              <a:t> </a:t>
            </a:r>
            <a:r>
              <a:rPr lang="fr-BE" dirty="0" err="1"/>
              <a:t>context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not relevant, </a:t>
            </a:r>
            <a:r>
              <a:rPr lang="fr-BE" dirty="0" err="1"/>
              <a:t>word</a:t>
            </a:r>
            <a:r>
              <a:rPr lang="fr-BE" dirty="0"/>
              <a:t> position </a:t>
            </a:r>
            <a:r>
              <a:rPr lang="fr-BE" dirty="0" err="1"/>
              <a:t>doesn’t</a:t>
            </a:r>
            <a:r>
              <a:rPr lang="fr-BE" dirty="0"/>
              <a:t> </a:t>
            </a:r>
            <a:r>
              <a:rPr lang="fr-BE" dirty="0" err="1"/>
              <a:t>matter</a:t>
            </a:r>
            <a:r>
              <a:rPr lang="fr-BE" dirty="0"/>
              <a:t>.</a:t>
            </a:r>
            <a:endParaRPr lang="de-CH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95C246BC-3956-44EC-A8E1-0B7840664111}"/>
              </a:ext>
            </a:extLst>
          </p:cNvPr>
          <p:cNvCxnSpPr>
            <a:stCxn id="11" idx="1"/>
          </p:cNvCxnSpPr>
          <p:nvPr/>
        </p:nvCxnSpPr>
        <p:spPr bwMode="auto">
          <a:xfrm flipH="1">
            <a:off x="3193859" y="2468833"/>
            <a:ext cx="2693478" cy="1092843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64A04E7-8D30-47EF-9460-3800DA2E0D25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flipH="1">
            <a:off x="5231904" y="3561677"/>
            <a:ext cx="1559752" cy="231577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87C8DCB5-7D11-435F-81C8-281C23A2D777}"/>
              </a:ext>
            </a:extLst>
          </p:cNvPr>
          <p:cNvSpPr txBox="1"/>
          <p:nvPr/>
        </p:nvSpPr>
        <p:spPr>
          <a:xfrm>
            <a:off x="5692318" y="4523716"/>
            <a:ext cx="64087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Response</a:t>
            </a:r>
            <a:r>
              <a:rPr lang="fr-BE" dirty="0"/>
              <a:t> times </a:t>
            </a:r>
            <a:r>
              <a:rPr lang="fr-BE" dirty="0" err="1"/>
              <a:t>increase</a:t>
            </a:r>
            <a:r>
              <a:rPr lang="fr-BE" dirty="0"/>
              <a:t>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word</a:t>
            </a:r>
            <a:r>
              <a:rPr lang="fr-BE" dirty="0"/>
              <a:t> durations, and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mostly</a:t>
            </a:r>
            <a:r>
              <a:rPr lang="fr-BE" dirty="0"/>
              <a:t> the case </a:t>
            </a:r>
            <a:r>
              <a:rPr lang="fr-BE" dirty="0" err="1"/>
              <a:t>when</a:t>
            </a:r>
            <a:r>
              <a:rPr lang="fr-BE" dirty="0"/>
              <a:t> the </a:t>
            </a:r>
            <a:r>
              <a:rPr lang="fr-BE" dirty="0" err="1"/>
              <a:t>context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not relevant.</a:t>
            </a:r>
          </a:p>
          <a:p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>
                <a:sym typeface="Wingdings" panose="05000000000000000000" pitchFamily="2" charset="2"/>
              </a:rPr>
              <a:t>Effect</a:t>
            </a:r>
            <a:r>
              <a:rPr lang="fr-BE" dirty="0">
                <a:sym typeface="Wingdings" panose="05000000000000000000" pitchFamily="2" charset="2"/>
              </a:rPr>
              <a:t> of the speech input signal are more </a:t>
            </a:r>
            <a:r>
              <a:rPr lang="fr-BE" dirty="0" err="1">
                <a:sym typeface="Wingdings" panose="05000000000000000000" pitchFamily="2" charset="2"/>
              </a:rPr>
              <a:t>prelevant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when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there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is</a:t>
            </a:r>
            <a:r>
              <a:rPr lang="fr-BE" dirty="0">
                <a:sym typeface="Wingdings" panose="05000000000000000000" pitchFamily="2" charset="2"/>
              </a:rPr>
              <a:t> a </a:t>
            </a:r>
            <a:r>
              <a:rPr lang="fr-BE" dirty="0" err="1">
                <a:sym typeface="Wingdings" panose="05000000000000000000" pitchFamily="2" charset="2"/>
              </a:rPr>
              <a:t>lack</a:t>
            </a:r>
            <a:r>
              <a:rPr lang="fr-BE" dirty="0">
                <a:sym typeface="Wingdings" panose="05000000000000000000" pitchFamily="2" charset="2"/>
              </a:rPr>
              <a:t> of </a:t>
            </a:r>
            <a:r>
              <a:rPr lang="fr-BE" dirty="0" err="1">
                <a:sym typeface="Wingdings" panose="05000000000000000000" pitchFamily="2" charset="2"/>
              </a:rPr>
              <a:t>contextually</a:t>
            </a:r>
            <a:r>
              <a:rPr lang="fr-BE" dirty="0">
                <a:sym typeface="Wingdings" panose="05000000000000000000" pitchFamily="2" charset="2"/>
              </a:rPr>
              <a:t>-relevant information.</a:t>
            </a:r>
            <a:endParaRPr lang="de-CH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F74027BF-9D99-412C-9947-1DA4A0DB869C}"/>
              </a:ext>
            </a:extLst>
          </p:cNvPr>
          <p:cNvCxnSpPr>
            <a:cxnSpLocks/>
            <a:stCxn id="18" idx="1"/>
          </p:cNvCxnSpPr>
          <p:nvPr/>
        </p:nvCxnSpPr>
        <p:spPr bwMode="auto">
          <a:xfrm flipH="1" flipV="1">
            <a:off x="4367808" y="4585688"/>
            <a:ext cx="1324510" cy="507415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1BE04FB-EFE5-3C4D-C5FC-12913533C75F}"/>
              </a:ext>
            </a:extLst>
          </p:cNvPr>
          <p:cNvSpPr/>
          <p:nvPr/>
        </p:nvSpPr>
        <p:spPr bwMode="auto">
          <a:xfrm>
            <a:off x="2567608" y="3701479"/>
            <a:ext cx="2693478" cy="23157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D163E-E937-B9CC-16D9-92AF3ADA900A}"/>
              </a:ext>
            </a:extLst>
          </p:cNvPr>
          <p:cNvSpPr/>
          <p:nvPr/>
        </p:nvSpPr>
        <p:spPr bwMode="auto">
          <a:xfrm>
            <a:off x="2538426" y="4293096"/>
            <a:ext cx="2693478" cy="23157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5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influence of spoken word recognition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F510BF4-018A-47C0-B92F-938A34312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4" y="2205039"/>
            <a:ext cx="10297343" cy="3887787"/>
          </a:xfrm>
        </p:spPr>
        <p:txBody>
          <a:bodyPr/>
          <a:lstStyle/>
          <a:p>
            <a:pPr marL="0" indent="0">
              <a:buNone/>
            </a:pPr>
            <a:r>
              <a:rPr lang="fr-BE" dirty="0" err="1"/>
              <a:t>Hence</a:t>
            </a:r>
            <a:r>
              <a:rPr lang="fr-BE" dirty="0"/>
              <a:t>, top-down information </a:t>
            </a:r>
            <a:r>
              <a:rPr lang="fr-BE" dirty="0" err="1"/>
              <a:t>modulates</a:t>
            </a:r>
            <a:r>
              <a:rPr lang="fr-BE" dirty="0"/>
              <a:t> to </a:t>
            </a:r>
            <a:r>
              <a:rPr lang="fr-BE" dirty="0" err="1"/>
              <a:t>what</a:t>
            </a:r>
            <a:r>
              <a:rPr lang="fr-BE" dirty="0"/>
              <a:t> </a:t>
            </a:r>
            <a:r>
              <a:rPr lang="fr-BE" dirty="0" err="1"/>
              <a:t>extent</a:t>
            </a:r>
            <a:r>
              <a:rPr lang="fr-BE" dirty="0"/>
              <a:t> </a:t>
            </a:r>
            <a:r>
              <a:rPr lang="fr-BE" dirty="0" err="1"/>
              <a:t>spoken</a:t>
            </a:r>
            <a:r>
              <a:rPr lang="fr-BE" dirty="0"/>
              <a:t> recognition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driven</a:t>
            </a:r>
            <a:r>
              <a:rPr lang="fr-BE" dirty="0"/>
              <a:t> by the </a:t>
            </a:r>
            <a:r>
              <a:rPr lang="fr-BE" dirty="0" err="1"/>
              <a:t>bottom</a:t>
            </a:r>
            <a:r>
              <a:rPr lang="fr-BE" dirty="0"/>
              <a:t>-up speech input.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b="1" dirty="0"/>
              <a:t>In </a:t>
            </a:r>
            <a:r>
              <a:rPr lang="fr-BE" b="1" dirty="0" err="1"/>
              <a:t>other</a:t>
            </a:r>
            <a:r>
              <a:rPr lang="fr-BE" b="1" dirty="0"/>
              <a:t> </a:t>
            </a:r>
            <a:r>
              <a:rPr lang="fr-BE" b="1" dirty="0" err="1"/>
              <a:t>word</a:t>
            </a:r>
            <a:r>
              <a:rPr lang="fr-BE" b="1" dirty="0"/>
              <a:t>, </a:t>
            </a:r>
            <a:r>
              <a:rPr lang="fr-BE" b="1" dirty="0" err="1"/>
              <a:t>lower</a:t>
            </a:r>
            <a:r>
              <a:rPr lang="fr-BE" b="1" dirty="0"/>
              <a:t> </a:t>
            </a:r>
            <a:r>
              <a:rPr lang="fr-BE" b="1" dirty="0" err="1"/>
              <a:t>levels</a:t>
            </a:r>
            <a:r>
              <a:rPr lang="fr-BE" b="1" dirty="0"/>
              <a:t> of </a:t>
            </a:r>
            <a:r>
              <a:rPr lang="fr-BE" b="1" dirty="0" err="1"/>
              <a:t>language</a:t>
            </a:r>
            <a:r>
              <a:rPr lang="fr-BE" b="1" dirty="0"/>
              <a:t> </a:t>
            </a:r>
            <a:r>
              <a:rPr lang="fr-BE" b="1" dirty="0" err="1"/>
              <a:t>processing</a:t>
            </a:r>
            <a:r>
              <a:rPr lang="fr-BE" b="1" dirty="0"/>
              <a:t> are </a:t>
            </a:r>
            <a:r>
              <a:rPr lang="fr-BE" b="1" dirty="0" err="1"/>
              <a:t>modulated</a:t>
            </a:r>
            <a:r>
              <a:rPr lang="fr-BE" b="1" dirty="0"/>
              <a:t> by </a:t>
            </a:r>
            <a:r>
              <a:rPr lang="fr-BE" b="1" dirty="0" err="1"/>
              <a:t>people’s</a:t>
            </a:r>
            <a:r>
              <a:rPr lang="fr-BE" b="1" dirty="0"/>
              <a:t> expectations/</a:t>
            </a:r>
            <a:r>
              <a:rPr lang="fr-BE" b="1" dirty="0" err="1"/>
              <a:t>precitions</a:t>
            </a:r>
            <a:r>
              <a:rPr lang="fr-BE" b="1" dirty="0"/>
              <a:t>!</a:t>
            </a:r>
            <a:endParaRPr lang="de-CH" b="1" dirty="0"/>
          </a:p>
        </p:txBody>
      </p:sp>
    </p:spTree>
    <p:extLst>
      <p:ext uri="{BB962C8B-B14F-4D97-AF65-F5344CB8AC3E}">
        <p14:creationId xmlns:p14="http://schemas.microsoft.com/office/powerpoint/2010/main" val="77751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48099FB-3471-408E-BF3F-2FD8A7738478}"/>
              </a:ext>
            </a:extLst>
          </p:cNvPr>
          <p:cNvSpPr txBox="1">
            <a:spLocks/>
          </p:cNvSpPr>
          <p:nvPr/>
        </p:nvSpPr>
        <p:spPr>
          <a:xfrm>
            <a:off x="4943872" y="5417734"/>
            <a:ext cx="104547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Treasury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C039EB-47A1-42D6-9A77-7361DAFD1815}"/>
              </a:ext>
            </a:extLst>
          </p:cNvPr>
          <p:cNvSpPr txBox="1">
            <a:spLocks/>
          </p:cNvSpPr>
          <p:nvPr/>
        </p:nvSpPr>
        <p:spPr>
          <a:xfrm>
            <a:off x="4943872" y="3001490"/>
            <a:ext cx="141096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Treacherous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5DE606-273C-43E4-BB42-ED7CB3E1A65C}"/>
              </a:ext>
            </a:extLst>
          </p:cNvPr>
          <p:cNvSpPr txBox="1">
            <a:spLocks/>
          </p:cNvSpPr>
          <p:nvPr/>
        </p:nvSpPr>
        <p:spPr>
          <a:xfrm>
            <a:off x="4943872" y="3605551"/>
            <a:ext cx="116730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Treachery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E78E02-DB78-4837-A2F4-A157013C4C9D}"/>
              </a:ext>
            </a:extLst>
          </p:cNvPr>
          <p:cNvSpPr txBox="1">
            <a:spLocks/>
          </p:cNvSpPr>
          <p:nvPr/>
        </p:nvSpPr>
        <p:spPr>
          <a:xfrm>
            <a:off x="4943872" y="2397429"/>
            <a:ext cx="75533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C29875-FBB3-4FBC-8606-659185338B6C}"/>
              </a:ext>
            </a:extLst>
          </p:cNvPr>
          <p:cNvSpPr txBox="1">
            <a:spLocks/>
          </p:cNvSpPr>
          <p:nvPr/>
        </p:nvSpPr>
        <p:spPr>
          <a:xfrm>
            <a:off x="4943872" y="1793368"/>
            <a:ext cx="92525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60084D1-1B63-4759-A571-58C33DA81B43}"/>
              </a:ext>
            </a:extLst>
          </p:cNvPr>
          <p:cNvSpPr txBox="1">
            <a:spLocks/>
          </p:cNvSpPr>
          <p:nvPr/>
        </p:nvSpPr>
        <p:spPr>
          <a:xfrm>
            <a:off x="4943872" y="4209612"/>
            <a:ext cx="108074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Treadmill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8AC353-C009-4555-A44B-7852B4ED86D8}"/>
              </a:ext>
            </a:extLst>
          </p:cNvPr>
          <p:cNvSpPr txBox="1">
            <a:spLocks/>
          </p:cNvSpPr>
          <p:nvPr/>
        </p:nvSpPr>
        <p:spPr>
          <a:xfrm>
            <a:off x="4943872" y="1189307"/>
            <a:ext cx="8034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Treble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1D99077-6A73-43B3-A563-040CFF2D6DEF}"/>
              </a:ext>
            </a:extLst>
          </p:cNvPr>
          <p:cNvSpPr txBox="1">
            <a:spLocks/>
          </p:cNvSpPr>
          <p:nvPr/>
        </p:nvSpPr>
        <p:spPr>
          <a:xfrm>
            <a:off x="4943872" y="4813673"/>
            <a:ext cx="105830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Treasure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4AC6685-0E11-413A-BE1D-50F4FD70AC60}"/>
              </a:ext>
            </a:extLst>
          </p:cNvPr>
          <p:cNvSpPr txBox="1"/>
          <p:nvPr/>
        </p:nvSpPr>
        <p:spPr>
          <a:xfrm>
            <a:off x="2639616" y="3605550"/>
            <a:ext cx="8883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/</a:t>
            </a:r>
            <a:r>
              <a:rPr lang="fr-BE" dirty="0" err="1"/>
              <a:t>tRE</a:t>
            </a:r>
            <a:r>
              <a:rPr lang="fr-BE" dirty="0"/>
              <a:t>/…</a:t>
            </a:r>
            <a:endParaRPr lang="de-CH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0978CC6-5CC2-454D-97FB-E90FE7B1B3AC}"/>
              </a:ext>
            </a:extLst>
          </p:cNvPr>
          <p:cNvSpPr txBox="1">
            <a:spLocks/>
          </p:cNvSpPr>
          <p:nvPr/>
        </p:nvSpPr>
        <p:spPr>
          <a:xfrm>
            <a:off x="4943872" y="6021795"/>
            <a:ext cx="40267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…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C0205F7-3A25-40BE-825E-D87DA3B531F5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 bwMode="auto">
          <a:xfrm flipV="1">
            <a:off x="3528001" y="1366279"/>
            <a:ext cx="1415871" cy="24162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FF284B3-DFC4-4375-BC0F-ABEFD10F6263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 bwMode="auto">
          <a:xfrm flipV="1">
            <a:off x="3528001" y="1970340"/>
            <a:ext cx="1415871" cy="1812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CA772A9-4A66-4736-8940-9C2AC79D1BB2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 bwMode="auto">
          <a:xfrm flipV="1">
            <a:off x="3528001" y="2574401"/>
            <a:ext cx="1415871" cy="12081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F9E96D8-7673-46C0-9819-0E1857EC6011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 bwMode="auto">
          <a:xfrm flipV="1">
            <a:off x="3528001" y="3178462"/>
            <a:ext cx="1415871" cy="604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E38D1C3-1188-405C-9599-2684ADA71F44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 bwMode="auto">
          <a:xfrm>
            <a:off x="3528001" y="3782522"/>
            <a:ext cx="1415871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C0D2D95-FA3D-4F38-BCDB-88C5B11AB34C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 bwMode="auto">
          <a:xfrm>
            <a:off x="3528001" y="3782522"/>
            <a:ext cx="1415871" cy="6040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8C3992AC-5D3D-4F82-9F62-8E4B0F54BBA1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 bwMode="auto">
          <a:xfrm>
            <a:off x="3528001" y="3782522"/>
            <a:ext cx="1415871" cy="12081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D774C48-9F14-4F0A-B19D-5628FD830FA9}"/>
              </a:ext>
            </a:extLst>
          </p:cNvPr>
          <p:cNvCxnSpPr>
            <a:cxnSpLocks/>
            <a:stCxn id="18" idx="3"/>
            <a:endCxn id="3" idx="1"/>
          </p:cNvCxnSpPr>
          <p:nvPr/>
        </p:nvCxnSpPr>
        <p:spPr bwMode="auto">
          <a:xfrm>
            <a:off x="3528001" y="3782522"/>
            <a:ext cx="1415871" cy="18121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9C7F0C74-8729-463B-917A-68DEF053074B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 bwMode="auto">
          <a:xfrm>
            <a:off x="3528001" y="3782522"/>
            <a:ext cx="1415871" cy="24162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3B5972D9-E7EB-4F90-9EEC-1291750B179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1366279"/>
            <a:ext cx="1080120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31F3FC0B-351B-447F-AF6A-3384D3206982}"/>
              </a:ext>
            </a:extLst>
          </p:cNvPr>
          <p:cNvCxnSpPr>
            <a:cxnSpLocks/>
          </p:cNvCxnSpPr>
          <p:nvPr/>
        </p:nvCxnSpPr>
        <p:spPr bwMode="auto">
          <a:xfrm>
            <a:off x="6874283" y="1970339"/>
            <a:ext cx="842555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B7E0D8B2-D275-4C7D-9DEF-6BA7BB40D19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2574401"/>
            <a:ext cx="1398115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52E6992C-4A9A-4954-B712-D8D05CF108D1}"/>
              </a:ext>
            </a:extLst>
          </p:cNvPr>
          <p:cNvCxnSpPr>
            <a:cxnSpLocks/>
          </p:cNvCxnSpPr>
          <p:nvPr/>
        </p:nvCxnSpPr>
        <p:spPr bwMode="auto">
          <a:xfrm>
            <a:off x="6888088" y="3178462"/>
            <a:ext cx="504056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1A52F3A4-644F-4B86-ABCB-3AEF0E1226C0}"/>
              </a:ext>
            </a:extLst>
          </p:cNvPr>
          <p:cNvCxnSpPr>
            <a:cxnSpLocks/>
          </p:cNvCxnSpPr>
          <p:nvPr/>
        </p:nvCxnSpPr>
        <p:spPr bwMode="auto">
          <a:xfrm>
            <a:off x="6888088" y="3808210"/>
            <a:ext cx="1224136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10EB50E4-5336-4C4D-90BC-19472E4DFA5A}"/>
              </a:ext>
            </a:extLst>
          </p:cNvPr>
          <p:cNvCxnSpPr>
            <a:cxnSpLocks/>
          </p:cNvCxnSpPr>
          <p:nvPr/>
        </p:nvCxnSpPr>
        <p:spPr bwMode="auto">
          <a:xfrm>
            <a:off x="6888088" y="4386584"/>
            <a:ext cx="1800200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7B39539A-08C5-44AD-8F53-08AEC5C23E2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4990645"/>
            <a:ext cx="828750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4BB63BA4-6D30-4A00-831A-5672CF20CB0B}"/>
              </a:ext>
            </a:extLst>
          </p:cNvPr>
          <p:cNvCxnSpPr>
            <a:cxnSpLocks/>
          </p:cNvCxnSpPr>
          <p:nvPr/>
        </p:nvCxnSpPr>
        <p:spPr bwMode="auto">
          <a:xfrm>
            <a:off x="6888088" y="5594706"/>
            <a:ext cx="699057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85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48099FB-3471-408E-BF3F-2FD8A7738478}"/>
              </a:ext>
            </a:extLst>
          </p:cNvPr>
          <p:cNvSpPr txBox="1">
            <a:spLocks/>
          </p:cNvSpPr>
          <p:nvPr/>
        </p:nvSpPr>
        <p:spPr>
          <a:xfrm>
            <a:off x="4943872" y="5417734"/>
            <a:ext cx="104547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>
                <a:solidFill>
                  <a:schemeClr val="tx2"/>
                </a:solidFill>
              </a:rPr>
              <a:t>Treasury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C039EB-47A1-42D6-9A77-7361DAFD1815}"/>
              </a:ext>
            </a:extLst>
          </p:cNvPr>
          <p:cNvSpPr txBox="1">
            <a:spLocks/>
          </p:cNvSpPr>
          <p:nvPr/>
        </p:nvSpPr>
        <p:spPr>
          <a:xfrm>
            <a:off x="4943872" y="3001490"/>
            <a:ext cx="141096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>
                <a:solidFill>
                  <a:schemeClr val="tx2"/>
                </a:solidFill>
              </a:rPr>
              <a:t>Treacherous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5DE606-273C-43E4-BB42-ED7CB3E1A65C}"/>
              </a:ext>
            </a:extLst>
          </p:cNvPr>
          <p:cNvSpPr txBox="1">
            <a:spLocks/>
          </p:cNvSpPr>
          <p:nvPr/>
        </p:nvSpPr>
        <p:spPr>
          <a:xfrm>
            <a:off x="4943872" y="3605551"/>
            <a:ext cx="116730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>
                <a:solidFill>
                  <a:schemeClr val="tx2"/>
                </a:solidFill>
              </a:rPr>
              <a:t>Treachery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E78E02-DB78-4837-A2F4-A157013C4C9D}"/>
              </a:ext>
            </a:extLst>
          </p:cNvPr>
          <p:cNvSpPr txBox="1">
            <a:spLocks/>
          </p:cNvSpPr>
          <p:nvPr/>
        </p:nvSpPr>
        <p:spPr>
          <a:xfrm>
            <a:off x="4943872" y="2397429"/>
            <a:ext cx="75533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C29875-FBB3-4FBC-8606-659185338B6C}"/>
              </a:ext>
            </a:extLst>
          </p:cNvPr>
          <p:cNvSpPr txBox="1">
            <a:spLocks/>
          </p:cNvSpPr>
          <p:nvPr/>
        </p:nvSpPr>
        <p:spPr>
          <a:xfrm>
            <a:off x="4943872" y="1793368"/>
            <a:ext cx="92525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60084D1-1B63-4759-A571-58C33DA81B43}"/>
              </a:ext>
            </a:extLst>
          </p:cNvPr>
          <p:cNvSpPr txBox="1">
            <a:spLocks/>
          </p:cNvSpPr>
          <p:nvPr/>
        </p:nvSpPr>
        <p:spPr>
          <a:xfrm>
            <a:off x="4943872" y="4209612"/>
            <a:ext cx="108074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Treadmill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8AC353-C009-4555-A44B-7852B4ED86D8}"/>
              </a:ext>
            </a:extLst>
          </p:cNvPr>
          <p:cNvSpPr txBox="1">
            <a:spLocks/>
          </p:cNvSpPr>
          <p:nvPr/>
        </p:nvSpPr>
        <p:spPr>
          <a:xfrm>
            <a:off x="4943872" y="1189307"/>
            <a:ext cx="8034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>
                <a:solidFill>
                  <a:schemeClr val="tx2"/>
                </a:solidFill>
              </a:rPr>
              <a:t>Treble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1D99077-6A73-43B3-A563-040CFF2D6DEF}"/>
              </a:ext>
            </a:extLst>
          </p:cNvPr>
          <p:cNvSpPr txBox="1">
            <a:spLocks/>
          </p:cNvSpPr>
          <p:nvPr/>
        </p:nvSpPr>
        <p:spPr>
          <a:xfrm>
            <a:off x="4943872" y="4813673"/>
            <a:ext cx="105830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>
                <a:solidFill>
                  <a:schemeClr val="tx2"/>
                </a:solidFill>
              </a:rPr>
              <a:t>Treasure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4AC6685-0E11-413A-BE1D-50F4FD70AC60}"/>
              </a:ext>
            </a:extLst>
          </p:cNvPr>
          <p:cNvSpPr txBox="1"/>
          <p:nvPr/>
        </p:nvSpPr>
        <p:spPr>
          <a:xfrm>
            <a:off x="2639616" y="3605550"/>
            <a:ext cx="10102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/</a:t>
            </a:r>
            <a:r>
              <a:rPr lang="fr-BE" dirty="0" err="1"/>
              <a:t>tREd</a:t>
            </a:r>
            <a:r>
              <a:rPr lang="fr-BE" dirty="0"/>
              <a:t>/…</a:t>
            </a:r>
            <a:endParaRPr lang="de-CH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0978CC6-5CC2-454D-97FB-E90FE7B1B3AC}"/>
              </a:ext>
            </a:extLst>
          </p:cNvPr>
          <p:cNvSpPr txBox="1">
            <a:spLocks/>
          </p:cNvSpPr>
          <p:nvPr/>
        </p:nvSpPr>
        <p:spPr>
          <a:xfrm>
            <a:off x="4943872" y="6021795"/>
            <a:ext cx="40267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…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C0205F7-3A25-40BE-825E-D87DA3B531F5}"/>
              </a:ext>
            </a:extLst>
          </p:cNvPr>
          <p:cNvCxnSpPr>
            <a:cxnSpLocks/>
            <a:stCxn id="18" idx="3"/>
            <a:endCxn id="15" idx="1"/>
          </p:cNvCxnSpPr>
          <p:nvPr/>
        </p:nvCxnSpPr>
        <p:spPr bwMode="auto">
          <a:xfrm flipV="1">
            <a:off x="3649829" y="1366279"/>
            <a:ext cx="1294043" cy="24162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FF284B3-DFC4-4375-BC0F-ABEFD10F6263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 bwMode="auto">
          <a:xfrm flipV="1">
            <a:off x="3649829" y="1970340"/>
            <a:ext cx="1294043" cy="18121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CA772A9-4A66-4736-8940-9C2AC79D1BB2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 bwMode="auto">
          <a:xfrm flipV="1">
            <a:off x="3649829" y="2574401"/>
            <a:ext cx="1294043" cy="12081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8F9E96D8-7673-46C0-9819-0E1857EC6011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 bwMode="auto">
          <a:xfrm flipV="1">
            <a:off x="3649829" y="3178462"/>
            <a:ext cx="1294043" cy="6040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E38D1C3-1188-405C-9599-2684ADA71F44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 bwMode="auto">
          <a:xfrm>
            <a:off x="3649829" y="3782522"/>
            <a:ext cx="129404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C0D2D95-FA3D-4F38-BCDB-88C5B11AB34C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 bwMode="auto">
          <a:xfrm>
            <a:off x="3649829" y="3782522"/>
            <a:ext cx="1294043" cy="6040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8C3992AC-5D3D-4F82-9F62-8E4B0F54BBA1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 bwMode="auto">
          <a:xfrm>
            <a:off x="3649829" y="3782522"/>
            <a:ext cx="1294043" cy="12081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D774C48-9F14-4F0A-B19D-5628FD830FA9}"/>
              </a:ext>
            </a:extLst>
          </p:cNvPr>
          <p:cNvCxnSpPr>
            <a:cxnSpLocks/>
            <a:stCxn id="18" idx="3"/>
            <a:endCxn id="3" idx="1"/>
          </p:cNvCxnSpPr>
          <p:nvPr/>
        </p:nvCxnSpPr>
        <p:spPr bwMode="auto">
          <a:xfrm>
            <a:off x="3649829" y="3782522"/>
            <a:ext cx="1294043" cy="18121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9C7F0C74-8729-463B-917A-68DEF053074B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 bwMode="auto">
          <a:xfrm>
            <a:off x="3649829" y="3782522"/>
            <a:ext cx="1294043" cy="24162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3B5972D9-E7EB-4F90-9EEC-1291750B179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1366279"/>
            <a:ext cx="1080120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31F3FC0B-351B-447F-AF6A-3384D3206982}"/>
              </a:ext>
            </a:extLst>
          </p:cNvPr>
          <p:cNvCxnSpPr>
            <a:cxnSpLocks/>
          </p:cNvCxnSpPr>
          <p:nvPr/>
        </p:nvCxnSpPr>
        <p:spPr bwMode="auto">
          <a:xfrm>
            <a:off x="6874283" y="1970339"/>
            <a:ext cx="1741997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B7E0D8B2-D275-4C7D-9DEF-6BA7BB40D19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2574401"/>
            <a:ext cx="2016224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52E6992C-4A9A-4954-B712-D8D05CF108D1}"/>
              </a:ext>
            </a:extLst>
          </p:cNvPr>
          <p:cNvCxnSpPr>
            <a:cxnSpLocks/>
          </p:cNvCxnSpPr>
          <p:nvPr/>
        </p:nvCxnSpPr>
        <p:spPr bwMode="auto">
          <a:xfrm>
            <a:off x="6888088" y="3178462"/>
            <a:ext cx="504056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1A52F3A4-644F-4B86-ABCB-3AEF0E1226C0}"/>
              </a:ext>
            </a:extLst>
          </p:cNvPr>
          <p:cNvCxnSpPr>
            <a:cxnSpLocks/>
          </p:cNvCxnSpPr>
          <p:nvPr/>
        </p:nvCxnSpPr>
        <p:spPr bwMode="auto">
          <a:xfrm>
            <a:off x="6888088" y="3808210"/>
            <a:ext cx="1224136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10EB50E4-5336-4C4D-90BC-19472E4DFA5A}"/>
              </a:ext>
            </a:extLst>
          </p:cNvPr>
          <p:cNvCxnSpPr>
            <a:cxnSpLocks/>
          </p:cNvCxnSpPr>
          <p:nvPr/>
        </p:nvCxnSpPr>
        <p:spPr bwMode="auto">
          <a:xfrm>
            <a:off x="6888088" y="4386584"/>
            <a:ext cx="2448272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7B39539A-08C5-44AD-8F53-08AEC5C23E28}"/>
              </a:ext>
            </a:extLst>
          </p:cNvPr>
          <p:cNvCxnSpPr>
            <a:cxnSpLocks/>
          </p:cNvCxnSpPr>
          <p:nvPr/>
        </p:nvCxnSpPr>
        <p:spPr bwMode="auto">
          <a:xfrm>
            <a:off x="6888088" y="4990645"/>
            <a:ext cx="828750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4BB63BA4-6D30-4A00-831A-5672CF20CB0B}"/>
              </a:ext>
            </a:extLst>
          </p:cNvPr>
          <p:cNvCxnSpPr>
            <a:cxnSpLocks/>
          </p:cNvCxnSpPr>
          <p:nvPr/>
        </p:nvCxnSpPr>
        <p:spPr bwMode="auto">
          <a:xfrm>
            <a:off x="6888088" y="5594706"/>
            <a:ext cx="699057" cy="0"/>
          </a:xfrm>
          <a:prstGeom prst="line">
            <a:avLst/>
          </a:prstGeom>
          <a:ln w="76200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2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71A196E-6BCB-41E5-A1B2-4224BBF28991}"/>
              </a:ext>
            </a:extLst>
          </p:cNvPr>
          <p:cNvSpPr txBox="1"/>
          <p:nvPr/>
        </p:nvSpPr>
        <p:spPr>
          <a:xfrm>
            <a:off x="4677984" y="3252029"/>
            <a:ext cx="28360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Thank</a:t>
            </a:r>
            <a:r>
              <a:rPr lang="fr-BE" dirty="0"/>
              <a:t> </a:t>
            </a:r>
            <a:r>
              <a:rPr lang="fr-BE" dirty="0" err="1"/>
              <a:t>you</a:t>
            </a:r>
            <a:r>
              <a:rPr lang="fr-BE" dirty="0"/>
              <a:t> for </a:t>
            </a:r>
            <a:r>
              <a:rPr lang="fr-BE" dirty="0" err="1"/>
              <a:t>you</a:t>
            </a:r>
            <a:r>
              <a:rPr lang="fr-BE" dirty="0"/>
              <a:t> attention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304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ZH">
  <a:themeElements>
    <a:clrScheme name="UZH">
      <a:dk1>
        <a:srgbClr val="000000"/>
      </a:dk1>
      <a:lt1>
        <a:srgbClr val="FFFFFF"/>
      </a:lt1>
      <a:dk2>
        <a:srgbClr val="DADEE2"/>
      </a:dk2>
      <a:lt2>
        <a:srgbClr val="FEDC00"/>
      </a:lt2>
      <a:accent1>
        <a:srgbClr val="0028A5"/>
      </a:accent1>
      <a:accent2>
        <a:srgbClr val="A3ADB7"/>
      </a:accent2>
      <a:accent3>
        <a:srgbClr val="DC6027"/>
      </a:accent3>
      <a:accent4>
        <a:srgbClr val="0B82A0"/>
      </a:accent4>
      <a:accent5>
        <a:srgbClr val="2A7F60"/>
      </a:accent5>
      <a:accent6>
        <a:srgbClr val="91C34A"/>
      </a:accent6>
      <a:hlink>
        <a:srgbClr val="DC6027"/>
      </a:hlink>
      <a:folHlink>
        <a:srgbClr val="000000"/>
      </a:folHlink>
    </a:clrScheme>
    <a:fontScheme name="Office-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UZH">
        <a:dk1>
          <a:srgbClr val="000000"/>
        </a:dk1>
        <a:lt1>
          <a:srgbClr val="FFFFFF"/>
        </a:lt1>
        <a:dk2>
          <a:srgbClr val="DADEE2"/>
        </a:dk2>
        <a:lt2>
          <a:srgbClr val="FEDC00"/>
        </a:lt2>
        <a:accent1>
          <a:srgbClr val="0028A5"/>
        </a:accent1>
        <a:accent2>
          <a:srgbClr val="A3ADB7"/>
        </a:accent2>
        <a:accent3>
          <a:srgbClr val="DC6027"/>
        </a:accent3>
        <a:accent4>
          <a:srgbClr val="0B82A0"/>
        </a:accent4>
        <a:accent5>
          <a:srgbClr val="2A7F60"/>
        </a:accent5>
        <a:accent6>
          <a:srgbClr val="91C34A"/>
        </a:accent6>
        <a:hlink>
          <a:srgbClr val="DC6027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lau 100%">
      <a:srgbClr val="0028A5"/>
    </a:custClr>
    <a:custClr name="Grau 100%">
      <a:srgbClr val="A3ADB7"/>
    </a:custClr>
    <a:custClr name="Ockerrot 100%">
      <a:srgbClr val="DC6027"/>
    </a:custClr>
    <a:custClr name="Türkis 100%">
      <a:srgbClr val="0B82A0"/>
    </a:custClr>
    <a:custClr name="Flaschengrün 100%">
      <a:srgbClr val="2A7F62"/>
    </a:custClr>
    <a:custClr name="Lindengrün 100%">
      <a:srgbClr val="91C34A"/>
    </a:custClr>
    <a:custClr name="Warmgelb 100%">
      <a:srgbClr val="FEDE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80%">
      <a:srgbClr val="3353B7"/>
    </a:custClr>
    <a:custClr name="Grau 80%">
      <a:srgbClr val="B5BDC5"/>
    </a:custClr>
    <a:custClr name="Ockerrot 80%">
      <a:srgbClr val="E38052"/>
    </a:custClr>
    <a:custClr name="Türkis 80%">
      <a:srgbClr val="3C9FB6"/>
    </a:custClr>
    <a:custClr name="Flaschengrün 80%">
      <a:srgbClr val="569D85"/>
    </a:custClr>
    <a:custClr name="Lindengrün 80%">
      <a:srgbClr val="AAD470"/>
    </a:custClr>
    <a:custClr name="Warmgelb 80%">
      <a:srgbClr val="FBE65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60%">
      <a:srgbClr val="667EC9"/>
    </a:custClr>
    <a:custClr name="Grau 60%">
      <a:srgbClr val="C8CED4"/>
    </a:custClr>
    <a:custClr name="Ockerrot 60%">
      <a:srgbClr val="EAA07D"/>
    </a:custClr>
    <a:custClr name="Türkis 60%">
      <a:srgbClr val="6BB7C7"/>
    </a:custClr>
    <a:custClr name="Flaschengrün 60%">
      <a:srgbClr val="80B6A4"/>
    </a:custClr>
    <a:custClr name="Lindengrün 60%">
      <a:srgbClr val="BFDF94"/>
    </a:custClr>
    <a:custClr name="Warmgelb 60%">
      <a:srgbClr val="FCEC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40%">
      <a:srgbClr val="99A9DB"/>
    </a:custClr>
    <a:custClr name="Grau 40%">
      <a:srgbClr val="DADEE2"/>
    </a:custClr>
    <a:custClr name="Ockerrot 40%">
      <a:srgbClr val="F1BFA9"/>
    </a:custClr>
    <a:custClr name="Türkis 40%">
      <a:srgbClr val="ABCEC2"/>
    </a:custClr>
    <a:custClr name="Flaschengrün 40%">
      <a:srgbClr val="ABCEC2"/>
    </a:custClr>
    <a:custClr name="Lindengrün 40%">
      <a:srgbClr val="D5E9B7"/>
    </a:custClr>
    <a:custClr name="Warmgelb 40%">
      <a:srgbClr val="FDF3A8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20%">
      <a:srgbClr val="CCD4ED"/>
    </a:custClr>
    <a:custClr name="Grau 20%">
      <a:srgbClr val="EDEFF1"/>
    </a:custClr>
    <a:custClr name="Ockerrot 20%">
      <a:srgbClr val="F8DFD4"/>
    </a:custClr>
    <a:custClr name="Türkis 20%">
      <a:srgbClr val="CFE8EC"/>
    </a:custClr>
    <a:custClr name="Flaschengrün 20%">
      <a:srgbClr val="D5E7E1"/>
    </a:custClr>
    <a:custClr name="Lindengrün 20%">
      <a:srgbClr val="EAF4DB"/>
    </a:custClr>
    <a:custClr name="Warmgelb 20%">
      <a:srgbClr val="FEF9D3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uzh_praesentation_e.potx" id="{749176B2-8F2A-4342-A048-60BED46E758F}" vid="{432F7B11-0F4C-4FE0-A45B-1D1A5AE252E3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LexicalCohort</Template>
  <TotalTime>0</TotalTime>
  <Words>1129</Words>
  <Application>Microsoft Office PowerPoint</Application>
  <PresentationFormat>Grand écran</PresentationFormat>
  <Paragraphs>213</Paragraphs>
  <Slides>29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2" baseType="lpstr">
      <vt:lpstr>Arial</vt:lpstr>
      <vt:lpstr>Wingdings</vt:lpstr>
      <vt:lpstr>UZH</vt:lpstr>
      <vt:lpstr>The psychology of language – E578</vt:lpstr>
      <vt:lpstr>Table of Contents </vt:lpstr>
      <vt:lpstr>Présentation PowerPoint</vt:lpstr>
      <vt:lpstr>Lexical decision time and nonword point</vt:lpstr>
      <vt:lpstr>Lexical decision time and nonword point</vt:lpstr>
      <vt:lpstr>Présentation PowerPoint</vt:lpstr>
      <vt:lpstr>Présentation PowerPoint</vt:lpstr>
      <vt:lpstr>Lexical decision time and nonword point</vt:lpstr>
      <vt:lpstr>Présentation PowerPoint</vt:lpstr>
      <vt:lpstr>Phoneme monitoring</vt:lpstr>
      <vt:lpstr>Présentation PowerPoint</vt:lpstr>
      <vt:lpstr>Présentation PowerPoint</vt:lpstr>
      <vt:lpstr>Présentation PowerPoint</vt:lpstr>
      <vt:lpstr>The cohort effect</vt:lpstr>
      <vt:lpstr>The cohort effect</vt:lpstr>
      <vt:lpstr>Présentation PowerPoint</vt:lpstr>
      <vt:lpstr>Neuroimaging evidence</vt:lpstr>
      <vt:lpstr>Neuroimaging evidence</vt:lpstr>
      <vt:lpstr>Neuroimaging evidence</vt:lpstr>
      <vt:lpstr>Neuroimaging evidence</vt:lpstr>
      <vt:lpstr>Top-down influence of spoken word recognition</vt:lpstr>
      <vt:lpstr>Top-down influence of spoken word recognition</vt:lpstr>
      <vt:lpstr>Top-down influence of spoken word recognition</vt:lpstr>
      <vt:lpstr>Top-down influence of spoken word recognition</vt:lpstr>
      <vt:lpstr>Top-down influence of spoken word recognition</vt:lpstr>
      <vt:lpstr>Top-down influence of spoken word recognition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psychology of language – E578</dc:title>
  <dc:subject/>
  <dc:creator>Benjamin Kowialiewski</dc:creator>
  <cp:keywords/>
  <dc:description>Vorlage uzh_praesentationen_16:9_e MSO2016 v3 11.02.2016</dc:description>
  <cp:lastModifiedBy>Benjamin Kowialiewski</cp:lastModifiedBy>
  <cp:revision>211</cp:revision>
  <dcterms:created xsi:type="dcterms:W3CDTF">2022-08-10T08:27:30Z</dcterms:created>
  <dcterms:modified xsi:type="dcterms:W3CDTF">2023-02-27T09:48:50Z</dcterms:modified>
  <cp:category/>
</cp:coreProperties>
</file>